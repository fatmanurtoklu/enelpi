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992" y="-6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800" b="0" i="0">
                <a:solidFill>
                  <a:schemeClr val="bg1"/>
                </a:solidFill>
                <a:latin typeface="Arial Black"/>
                <a:cs typeface="Arial Black"/>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Black"/>
                <a:cs typeface="Arial Black"/>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7758429" cy="10058393"/>
          </a:xfrm>
          <a:prstGeom prst="rect">
            <a:avLst/>
          </a:prstGeom>
        </p:spPr>
      </p:pic>
      <p:sp>
        <p:nvSpPr>
          <p:cNvPr id="2" name="Holder 2"/>
          <p:cNvSpPr>
            <a:spLocks noGrp="1"/>
          </p:cNvSpPr>
          <p:nvPr>
            <p:ph type="title"/>
          </p:nvPr>
        </p:nvSpPr>
        <p:spPr/>
        <p:txBody>
          <a:bodyPr lIns="0" tIns="0" rIns="0" bIns="0"/>
          <a:lstStyle>
            <a:lvl1pPr>
              <a:defRPr sz="2800" b="0" i="0">
                <a:solidFill>
                  <a:schemeClr val="bg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26032" y="1171092"/>
            <a:ext cx="5139690" cy="2324100"/>
          </a:xfrm>
          <a:prstGeom prst="rect">
            <a:avLst/>
          </a:prstGeom>
        </p:spPr>
        <p:txBody>
          <a:bodyPr wrap="square" lIns="0" tIns="0" rIns="0" bIns="0">
            <a:spAutoFit/>
          </a:bodyPr>
          <a:lstStyle>
            <a:lvl1pPr>
              <a:defRPr sz="2800" b="0" i="0">
                <a:solidFill>
                  <a:schemeClr val="bg1"/>
                </a:solidFill>
                <a:latin typeface="Arial Black"/>
                <a:cs typeface="Arial Black"/>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hyperlink" Target="#_Toc234705827"/><Relationship Id="rId13" Type="http://schemas.openxmlformats.org/officeDocument/2006/relationships/hyperlink" Target="#_Toc234705832"/><Relationship Id="rId3" Type="http://schemas.openxmlformats.org/officeDocument/2006/relationships/hyperlink" Target="#_Toc234705822"/><Relationship Id="rId7" Type="http://schemas.openxmlformats.org/officeDocument/2006/relationships/hyperlink" Target="#_Toc234705826"/><Relationship Id="rId12" Type="http://schemas.openxmlformats.org/officeDocument/2006/relationships/hyperlink" Target="#_Toc234705831"/><Relationship Id="rId2" Type="http://schemas.openxmlformats.org/officeDocument/2006/relationships/hyperlink" Target="#_Toc234705821"/><Relationship Id="rId1" Type="http://schemas.openxmlformats.org/officeDocument/2006/relationships/slideLayout" Target="../slideLayouts/slideLayout5.xml"/><Relationship Id="rId6" Type="http://schemas.openxmlformats.org/officeDocument/2006/relationships/hyperlink" Target="#_Toc234705825"/><Relationship Id="rId11" Type="http://schemas.openxmlformats.org/officeDocument/2006/relationships/hyperlink" Target="#_Toc234705830"/><Relationship Id="rId5" Type="http://schemas.openxmlformats.org/officeDocument/2006/relationships/hyperlink" Target="#_Toc234705824"/><Relationship Id="rId15" Type="http://schemas.openxmlformats.org/officeDocument/2006/relationships/hyperlink" Target="#_Toc234705834"/><Relationship Id="rId10" Type="http://schemas.openxmlformats.org/officeDocument/2006/relationships/hyperlink" Target="#_Toc234705829"/><Relationship Id="rId4" Type="http://schemas.openxmlformats.org/officeDocument/2006/relationships/hyperlink" Target="#_Toc234705823"/><Relationship Id="rId9" Type="http://schemas.openxmlformats.org/officeDocument/2006/relationships/hyperlink" Target="#_Toc234705828"/><Relationship Id="rId14" Type="http://schemas.openxmlformats.org/officeDocument/2006/relationships/hyperlink" Target="#_Toc234705833"/></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langchain-ai/langgraph" TargetMode="Externa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065" marR="5080" algn="ctr">
              <a:lnSpc>
                <a:spcPct val="134600"/>
              </a:lnSpc>
              <a:spcBef>
                <a:spcPts val="100"/>
              </a:spcBef>
            </a:pPr>
            <a:r>
              <a:t>TÜRKÇE</a:t>
            </a:r>
            <a:r>
              <a:rPr spc="-110"/>
              <a:t> </a:t>
            </a:r>
            <a:r>
              <a:t>YAPAY</a:t>
            </a:r>
            <a:r>
              <a:rPr spc="-114"/>
              <a:t> </a:t>
            </a:r>
            <a:r>
              <a:t>ZEKA</a:t>
            </a:r>
            <a:r>
              <a:rPr spc="-95"/>
              <a:t> </a:t>
            </a:r>
            <a:r>
              <a:rPr spc="-25"/>
              <a:t>DİL </a:t>
            </a:r>
            <a:r>
              <a:t>AJANLARI</a:t>
            </a:r>
            <a:r>
              <a:rPr spc="-100"/>
              <a:t> </a:t>
            </a:r>
            <a:r>
              <a:rPr spc="-10"/>
              <a:t>YARIŞMASI</a:t>
            </a:r>
          </a:p>
          <a:p>
            <a:pPr marL="594360" marR="588010" algn="ctr">
              <a:lnSpc>
                <a:spcPts val="4530"/>
              </a:lnSpc>
              <a:spcBef>
                <a:spcPts val="140"/>
              </a:spcBef>
            </a:pPr>
            <a:r>
              <a:t>PROJESİ</a:t>
            </a:r>
            <a:r>
              <a:rPr spc="-95"/>
              <a:t> </a:t>
            </a:r>
            <a:r>
              <a:t>ÖN</a:t>
            </a:r>
            <a:r>
              <a:rPr spc="-90"/>
              <a:t> </a:t>
            </a:r>
            <a:r>
              <a:rPr spc="-10"/>
              <a:t>SUNUŞ RAPORU</a:t>
            </a:r>
          </a:p>
        </p:txBody>
      </p:sp>
      <p:grpSp>
        <p:nvGrpSpPr>
          <p:cNvPr id="3" name="object 3"/>
          <p:cNvGrpSpPr/>
          <p:nvPr/>
        </p:nvGrpSpPr>
        <p:grpSpPr>
          <a:xfrm>
            <a:off x="1258824" y="4008132"/>
            <a:ext cx="2372360" cy="1822450"/>
            <a:chOff x="1258824" y="4008132"/>
            <a:chExt cx="2372360" cy="1822450"/>
          </a:xfrm>
        </p:grpSpPr>
        <p:pic>
          <p:nvPicPr>
            <p:cNvPr id="4" name="object 4"/>
            <p:cNvPicPr/>
            <p:nvPr/>
          </p:nvPicPr>
          <p:blipFill>
            <a:blip r:embed="rId2" cstate="print"/>
            <a:stretch>
              <a:fillRect/>
            </a:stretch>
          </p:blipFill>
          <p:spPr>
            <a:xfrm>
              <a:off x="1263396" y="4047731"/>
              <a:ext cx="741426" cy="206514"/>
            </a:xfrm>
            <a:prstGeom prst="rect">
              <a:avLst/>
            </a:prstGeom>
          </p:spPr>
        </p:pic>
        <p:sp>
          <p:nvSpPr>
            <p:cNvPr id="5" name="object 5"/>
            <p:cNvSpPr/>
            <p:nvPr/>
          </p:nvSpPr>
          <p:spPr>
            <a:xfrm>
              <a:off x="1300099" y="4077970"/>
              <a:ext cx="671195" cy="147955"/>
            </a:xfrm>
            <a:custGeom>
              <a:avLst/>
              <a:gdLst/>
              <a:ahLst/>
              <a:cxnLst/>
              <a:rect l="l" t="t" r="r" b="b"/>
              <a:pathLst>
                <a:path w="671194" h="147954">
                  <a:moveTo>
                    <a:pt x="262139" y="61467"/>
                  </a:moveTo>
                  <a:lnTo>
                    <a:pt x="216662" y="61467"/>
                  </a:lnTo>
                  <a:lnTo>
                    <a:pt x="220805" y="62610"/>
                  </a:lnTo>
                  <a:lnTo>
                    <a:pt x="220471" y="62610"/>
                  </a:lnTo>
                  <a:lnTo>
                    <a:pt x="222512" y="64642"/>
                  </a:lnTo>
                  <a:lnTo>
                    <a:pt x="224409" y="66420"/>
                  </a:lnTo>
                  <a:lnTo>
                    <a:pt x="225425" y="69976"/>
                  </a:lnTo>
                  <a:lnTo>
                    <a:pt x="225425" y="74802"/>
                  </a:lnTo>
                  <a:lnTo>
                    <a:pt x="220472" y="76834"/>
                  </a:lnTo>
                  <a:lnTo>
                    <a:pt x="215645" y="78485"/>
                  </a:lnTo>
                  <a:lnTo>
                    <a:pt x="206847" y="80748"/>
                  </a:lnTo>
                  <a:lnTo>
                    <a:pt x="200469" y="82200"/>
                  </a:lnTo>
                  <a:lnTo>
                    <a:pt x="181737" y="86105"/>
                  </a:lnTo>
                  <a:lnTo>
                    <a:pt x="173045" y="88177"/>
                  </a:lnTo>
                  <a:lnTo>
                    <a:pt x="148844" y="125729"/>
                  </a:lnTo>
                  <a:lnTo>
                    <a:pt x="152019" y="132841"/>
                  </a:lnTo>
                  <a:lnTo>
                    <a:pt x="187070" y="147446"/>
                  </a:lnTo>
                  <a:lnTo>
                    <a:pt x="196595" y="147446"/>
                  </a:lnTo>
                  <a:lnTo>
                    <a:pt x="227710" y="132206"/>
                  </a:lnTo>
                  <a:lnTo>
                    <a:pt x="265349" y="132206"/>
                  </a:lnTo>
                  <a:lnTo>
                    <a:pt x="265175" y="131444"/>
                  </a:lnTo>
                  <a:lnTo>
                    <a:pt x="264794" y="127634"/>
                  </a:lnTo>
                  <a:lnTo>
                    <a:pt x="264794" y="125094"/>
                  </a:lnTo>
                  <a:lnTo>
                    <a:pt x="197992" y="125094"/>
                  </a:lnTo>
                  <a:lnTo>
                    <a:pt x="194690" y="124078"/>
                  </a:lnTo>
                  <a:lnTo>
                    <a:pt x="190372" y="120014"/>
                  </a:lnTo>
                  <a:lnTo>
                    <a:pt x="189229" y="117475"/>
                  </a:lnTo>
                  <a:lnTo>
                    <a:pt x="189229" y="111505"/>
                  </a:lnTo>
                  <a:lnTo>
                    <a:pt x="190258" y="109219"/>
                  </a:lnTo>
                  <a:lnTo>
                    <a:pt x="190372" y="108965"/>
                  </a:lnTo>
                  <a:lnTo>
                    <a:pt x="192531" y="106806"/>
                  </a:lnTo>
                  <a:lnTo>
                    <a:pt x="194690" y="104775"/>
                  </a:lnTo>
                  <a:lnTo>
                    <a:pt x="199897" y="102615"/>
                  </a:lnTo>
                  <a:lnTo>
                    <a:pt x="214122" y="98932"/>
                  </a:lnTo>
                  <a:lnTo>
                    <a:pt x="219837" y="97154"/>
                  </a:lnTo>
                  <a:lnTo>
                    <a:pt x="225425" y="95122"/>
                  </a:lnTo>
                  <a:lnTo>
                    <a:pt x="264794" y="95122"/>
                  </a:lnTo>
                  <a:lnTo>
                    <a:pt x="264794" y="71246"/>
                  </a:lnTo>
                  <a:lnTo>
                    <a:pt x="263829" y="66420"/>
                  </a:lnTo>
                  <a:lnTo>
                    <a:pt x="263247" y="64642"/>
                  </a:lnTo>
                  <a:lnTo>
                    <a:pt x="262139" y="61467"/>
                  </a:lnTo>
                  <a:close/>
                </a:path>
                <a:path w="671194" h="147954">
                  <a:moveTo>
                    <a:pt x="265349" y="132206"/>
                  </a:moveTo>
                  <a:lnTo>
                    <a:pt x="227710" y="132206"/>
                  </a:lnTo>
                  <a:lnTo>
                    <a:pt x="228556" y="137159"/>
                  </a:lnTo>
                  <a:lnTo>
                    <a:pt x="228600" y="137413"/>
                  </a:lnTo>
                  <a:lnTo>
                    <a:pt x="229615" y="140207"/>
                  </a:lnTo>
                  <a:lnTo>
                    <a:pt x="230504" y="142366"/>
                  </a:lnTo>
                  <a:lnTo>
                    <a:pt x="232028" y="145033"/>
                  </a:lnTo>
                  <a:lnTo>
                    <a:pt x="269875" y="145033"/>
                  </a:lnTo>
                  <a:lnTo>
                    <a:pt x="267779" y="140842"/>
                  </a:lnTo>
                  <a:lnTo>
                    <a:pt x="267534" y="140207"/>
                  </a:lnTo>
                  <a:lnTo>
                    <a:pt x="266536" y="137413"/>
                  </a:lnTo>
                  <a:lnTo>
                    <a:pt x="266445" y="137159"/>
                  </a:lnTo>
                  <a:lnTo>
                    <a:pt x="265349" y="132206"/>
                  </a:lnTo>
                  <a:close/>
                </a:path>
                <a:path w="671194" h="147954">
                  <a:moveTo>
                    <a:pt x="264794" y="95122"/>
                  </a:moveTo>
                  <a:lnTo>
                    <a:pt x="225425" y="95122"/>
                  </a:lnTo>
                  <a:lnTo>
                    <a:pt x="225377" y="106806"/>
                  </a:lnTo>
                  <a:lnTo>
                    <a:pt x="224662" y="110616"/>
                  </a:lnTo>
                  <a:lnTo>
                    <a:pt x="221360" y="116966"/>
                  </a:lnTo>
                  <a:lnTo>
                    <a:pt x="218694" y="119633"/>
                  </a:lnTo>
                  <a:lnTo>
                    <a:pt x="214756" y="121792"/>
                  </a:lnTo>
                  <a:lnTo>
                    <a:pt x="210722" y="124078"/>
                  </a:lnTo>
                  <a:lnTo>
                    <a:pt x="210481" y="124078"/>
                  </a:lnTo>
                  <a:lnTo>
                    <a:pt x="206756" y="125094"/>
                  </a:lnTo>
                  <a:lnTo>
                    <a:pt x="264794" y="125094"/>
                  </a:lnTo>
                  <a:lnTo>
                    <a:pt x="264794" y="95122"/>
                  </a:lnTo>
                  <a:close/>
                </a:path>
                <a:path w="671194" h="147954">
                  <a:moveTo>
                    <a:pt x="214973" y="37713"/>
                  </a:moveTo>
                  <a:lnTo>
                    <a:pt x="197090" y="37713"/>
                  </a:lnTo>
                  <a:lnTo>
                    <a:pt x="191769" y="38100"/>
                  </a:lnTo>
                  <a:lnTo>
                    <a:pt x="155575" y="57912"/>
                  </a:lnTo>
                  <a:lnTo>
                    <a:pt x="152019" y="69976"/>
                  </a:lnTo>
                  <a:lnTo>
                    <a:pt x="190500" y="73913"/>
                  </a:lnTo>
                  <a:lnTo>
                    <a:pt x="192023" y="69468"/>
                  </a:lnTo>
                  <a:lnTo>
                    <a:pt x="194096" y="66420"/>
                  </a:lnTo>
                  <a:lnTo>
                    <a:pt x="196722" y="64642"/>
                  </a:lnTo>
                  <a:lnTo>
                    <a:pt x="200025" y="62610"/>
                  </a:lnTo>
                  <a:lnTo>
                    <a:pt x="204978" y="61467"/>
                  </a:lnTo>
                  <a:lnTo>
                    <a:pt x="262139" y="61467"/>
                  </a:lnTo>
                  <a:lnTo>
                    <a:pt x="261873" y="60705"/>
                  </a:lnTo>
                  <a:lnTo>
                    <a:pt x="229502" y="38717"/>
                  </a:lnTo>
                  <a:lnTo>
                    <a:pt x="222849" y="38100"/>
                  </a:lnTo>
                  <a:lnTo>
                    <a:pt x="223008" y="38100"/>
                  </a:lnTo>
                  <a:lnTo>
                    <a:pt x="214973" y="37713"/>
                  </a:lnTo>
                  <a:close/>
                </a:path>
                <a:path w="671194" h="147954">
                  <a:moveTo>
                    <a:pt x="466851" y="39877"/>
                  </a:moveTo>
                  <a:lnTo>
                    <a:pt x="426593" y="39877"/>
                  </a:lnTo>
                  <a:lnTo>
                    <a:pt x="426593" y="145033"/>
                  </a:lnTo>
                  <a:lnTo>
                    <a:pt x="466851" y="145033"/>
                  </a:lnTo>
                  <a:lnTo>
                    <a:pt x="466851" y="39877"/>
                  </a:lnTo>
                  <a:close/>
                </a:path>
                <a:path w="671194" h="147954">
                  <a:moveTo>
                    <a:pt x="529970" y="39877"/>
                  </a:moveTo>
                  <a:lnTo>
                    <a:pt x="492378" y="39877"/>
                  </a:lnTo>
                  <a:lnTo>
                    <a:pt x="492378" y="145033"/>
                  </a:lnTo>
                  <a:lnTo>
                    <a:pt x="532764" y="145033"/>
                  </a:lnTo>
                  <a:lnTo>
                    <a:pt x="532832" y="83184"/>
                  </a:lnTo>
                  <a:lnTo>
                    <a:pt x="534288" y="77724"/>
                  </a:lnTo>
                  <a:lnTo>
                    <a:pt x="537105" y="74294"/>
                  </a:lnTo>
                  <a:lnTo>
                    <a:pt x="540257" y="70612"/>
                  </a:lnTo>
                  <a:lnTo>
                    <a:pt x="543774" y="69087"/>
                  </a:lnTo>
                  <a:lnTo>
                    <a:pt x="670121" y="69087"/>
                  </a:lnTo>
                  <a:lnTo>
                    <a:pt x="668369" y="60499"/>
                  </a:lnTo>
                  <a:lnTo>
                    <a:pt x="666208" y="55244"/>
                  </a:lnTo>
                  <a:lnTo>
                    <a:pt x="529970" y="55244"/>
                  </a:lnTo>
                  <a:lnTo>
                    <a:pt x="529970" y="39877"/>
                  </a:lnTo>
                  <a:close/>
                </a:path>
                <a:path w="671194" h="147954">
                  <a:moveTo>
                    <a:pt x="612775" y="69087"/>
                  </a:moveTo>
                  <a:lnTo>
                    <a:pt x="551963" y="69087"/>
                  </a:lnTo>
                  <a:lnTo>
                    <a:pt x="553974" y="69722"/>
                  </a:lnTo>
                  <a:lnTo>
                    <a:pt x="558292" y="73025"/>
                  </a:lnTo>
                  <a:lnTo>
                    <a:pt x="561339" y="82550"/>
                  </a:lnTo>
                  <a:lnTo>
                    <a:pt x="561339" y="145033"/>
                  </a:lnTo>
                  <a:lnTo>
                    <a:pt x="601726" y="145033"/>
                  </a:lnTo>
                  <a:lnTo>
                    <a:pt x="601726" y="83184"/>
                  </a:lnTo>
                  <a:lnTo>
                    <a:pt x="603250" y="77724"/>
                  </a:lnTo>
                  <a:lnTo>
                    <a:pt x="606044" y="74294"/>
                  </a:lnTo>
                  <a:lnTo>
                    <a:pt x="608856" y="70992"/>
                  </a:lnTo>
                  <a:lnTo>
                    <a:pt x="608692" y="70992"/>
                  </a:lnTo>
                  <a:lnTo>
                    <a:pt x="612775" y="69087"/>
                  </a:lnTo>
                  <a:close/>
                </a:path>
                <a:path w="671194" h="147954">
                  <a:moveTo>
                    <a:pt x="670114" y="69087"/>
                  </a:moveTo>
                  <a:lnTo>
                    <a:pt x="621538" y="69087"/>
                  </a:lnTo>
                  <a:lnTo>
                    <a:pt x="624967" y="70992"/>
                  </a:lnTo>
                  <a:lnTo>
                    <a:pt x="627633" y="74549"/>
                  </a:lnTo>
                  <a:lnTo>
                    <a:pt x="629412" y="76834"/>
                  </a:lnTo>
                  <a:lnTo>
                    <a:pt x="630427" y="80390"/>
                  </a:lnTo>
                  <a:lnTo>
                    <a:pt x="630427" y="145033"/>
                  </a:lnTo>
                  <a:lnTo>
                    <a:pt x="670687" y="145033"/>
                  </a:lnTo>
                  <a:lnTo>
                    <a:pt x="670562" y="76834"/>
                  </a:lnTo>
                  <a:lnTo>
                    <a:pt x="670459" y="75056"/>
                  </a:lnTo>
                  <a:lnTo>
                    <a:pt x="670341" y="73025"/>
                  </a:lnTo>
                  <a:lnTo>
                    <a:pt x="670224" y="70992"/>
                  </a:lnTo>
                  <a:lnTo>
                    <a:pt x="670114" y="69087"/>
                  </a:lnTo>
                  <a:close/>
                </a:path>
                <a:path w="671194" h="147954">
                  <a:moveTo>
                    <a:pt x="574801" y="37591"/>
                  </a:moveTo>
                  <a:lnTo>
                    <a:pt x="558545" y="37591"/>
                  </a:lnTo>
                  <a:lnTo>
                    <a:pt x="551281" y="38988"/>
                  </a:lnTo>
                  <a:lnTo>
                    <a:pt x="551688" y="38988"/>
                  </a:lnTo>
                  <a:lnTo>
                    <a:pt x="546353" y="41655"/>
                  </a:lnTo>
                  <a:lnTo>
                    <a:pt x="540893" y="44322"/>
                  </a:lnTo>
                  <a:lnTo>
                    <a:pt x="535432" y="48894"/>
                  </a:lnTo>
                  <a:lnTo>
                    <a:pt x="529970" y="55244"/>
                  </a:lnTo>
                  <a:lnTo>
                    <a:pt x="598296" y="55244"/>
                  </a:lnTo>
                  <a:lnTo>
                    <a:pt x="595249" y="49402"/>
                  </a:lnTo>
                  <a:lnTo>
                    <a:pt x="591184" y="44957"/>
                  </a:lnTo>
                  <a:lnTo>
                    <a:pt x="586358" y="42037"/>
                  </a:lnTo>
                  <a:lnTo>
                    <a:pt x="581406" y="38988"/>
                  </a:lnTo>
                  <a:lnTo>
                    <a:pt x="574801" y="37591"/>
                  </a:lnTo>
                  <a:close/>
                </a:path>
                <a:path w="671194" h="147954">
                  <a:moveTo>
                    <a:pt x="634873" y="37591"/>
                  </a:moveTo>
                  <a:lnTo>
                    <a:pt x="627252" y="37591"/>
                  </a:lnTo>
                  <a:lnTo>
                    <a:pt x="620776" y="38734"/>
                  </a:lnTo>
                  <a:lnTo>
                    <a:pt x="615569" y="41275"/>
                  </a:lnTo>
                  <a:lnTo>
                    <a:pt x="610362" y="43687"/>
                  </a:lnTo>
                  <a:lnTo>
                    <a:pt x="604646" y="48387"/>
                  </a:lnTo>
                  <a:lnTo>
                    <a:pt x="598296" y="55244"/>
                  </a:lnTo>
                  <a:lnTo>
                    <a:pt x="666208" y="55244"/>
                  </a:lnTo>
                  <a:lnTo>
                    <a:pt x="642875" y="38213"/>
                  </a:lnTo>
                  <a:lnTo>
                    <a:pt x="634873" y="37591"/>
                  </a:lnTo>
                  <a:close/>
                </a:path>
                <a:path w="671194" h="147954">
                  <a:moveTo>
                    <a:pt x="330581" y="0"/>
                  </a:moveTo>
                  <a:lnTo>
                    <a:pt x="289432" y="0"/>
                  </a:lnTo>
                  <a:lnTo>
                    <a:pt x="289432" y="145033"/>
                  </a:lnTo>
                  <a:lnTo>
                    <a:pt x="330581" y="145033"/>
                  </a:lnTo>
                  <a:lnTo>
                    <a:pt x="330581" y="117728"/>
                  </a:lnTo>
                  <a:lnTo>
                    <a:pt x="345820" y="102869"/>
                  </a:lnTo>
                  <a:lnTo>
                    <a:pt x="387808" y="102869"/>
                  </a:lnTo>
                  <a:lnTo>
                    <a:pt x="372490" y="76707"/>
                  </a:lnTo>
                  <a:lnTo>
                    <a:pt x="374441" y="74802"/>
                  </a:lnTo>
                  <a:lnTo>
                    <a:pt x="330581" y="74802"/>
                  </a:lnTo>
                  <a:lnTo>
                    <a:pt x="330581" y="0"/>
                  </a:lnTo>
                  <a:close/>
                </a:path>
                <a:path w="671194" h="147954">
                  <a:moveTo>
                    <a:pt x="387808" y="102869"/>
                  </a:moveTo>
                  <a:lnTo>
                    <a:pt x="345820" y="102869"/>
                  </a:lnTo>
                  <a:lnTo>
                    <a:pt x="367030" y="145033"/>
                  </a:lnTo>
                  <a:lnTo>
                    <a:pt x="412495" y="145033"/>
                  </a:lnTo>
                  <a:lnTo>
                    <a:pt x="387808" y="102869"/>
                  </a:lnTo>
                  <a:close/>
                </a:path>
                <a:path w="671194" h="147954">
                  <a:moveTo>
                    <a:pt x="410209" y="39877"/>
                  </a:moveTo>
                  <a:lnTo>
                    <a:pt x="360680" y="39877"/>
                  </a:lnTo>
                  <a:lnTo>
                    <a:pt x="330581" y="74802"/>
                  </a:lnTo>
                  <a:lnTo>
                    <a:pt x="374441" y="74802"/>
                  </a:lnTo>
                  <a:lnTo>
                    <a:pt x="410209" y="39877"/>
                  </a:lnTo>
                  <a:close/>
                </a:path>
                <a:path w="671194" h="147954">
                  <a:moveTo>
                    <a:pt x="90550" y="35813"/>
                  </a:moveTo>
                  <a:lnTo>
                    <a:pt x="45719" y="35813"/>
                  </a:lnTo>
                  <a:lnTo>
                    <a:pt x="45719" y="145033"/>
                  </a:lnTo>
                  <a:lnTo>
                    <a:pt x="90550" y="145033"/>
                  </a:lnTo>
                  <a:lnTo>
                    <a:pt x="90550" y="35813"/>
                  </a:lnTo>
                  <a:close/>
                </a:path>
                <a:path w="671194" h="147954">
                  <a:moveTo>
                    <a:pt x="136270" y="0"/>
                  </a:moveTo>
                  <a:lnTo>
                    <a:pt x="0" y="0"/>
                  </a:lnTo>
                  <a:lnTo>
                    <a:pt x="0" y="35813"/>
                  </a:lnTo>
                  <a:lnTo>
                    <a:pt x="136270" y="35813"/>
                  </a:lnTo>
                  <a:lnTo>
                    <a:pt x="136270" y="0"/>
                  </a:lnTo>
                  <a:close/>
                </a:path>
              </a:pathLst>
            </a:custGeom>
            <a:solidFill>
              <a:srgbClr val="FFFFFF"/>
            </a:solidFill>
          </p:spPr>
          <p:txBody>
            <a:bodyPr wrap="square" lIns="0" tIns="0" rIns="0" bIns="0" rtlCol="0"/>
            <a:lstStyle/>
            <a:p>
              <a:endParaRPr/>
            </a:p>
          </p:txBody>
        </p:sp>
        <p:sp>
          <p:nvSpPr>
            <p:cNvPr id="6" name="object 6"/>
            <p:cNvSpPr/>
            <p:nvPr/>
          </p:nvSpPr>
          <p:spPr>
            <a:xfrm>
              <a:off x="1300099" y="4077970"/>
              <a:ext cx="671195" cy="147955"/>
            </a:xfrm>
            <a:custGeom>
              <a:avLst/>
              <a:gdLst/>
              <a:ahLst/>
              <a:cxnLst/>
              <a:rect l="l" t="t" r="r" b="b"/>
              <a:pathLst>
                <a:path w="671194" h="147954">
                  <a:moveTo>
                    <a:pt x="225425" y="95122"/>
                  </a:moveTo>
                  <a:lnTo>
                    <a:pt x="219837" y="97154"/>
                  </a:lnTo>
                  <a:lnTo>
                    <a:pt x="214122" y="98932"/>
                  </a:lnTo>
                  <a:lnTo>
                    <a:pt x="208153" y="100456"/>
                  </a:lnTo>
                  <a:lnTo>
                    <a:pt x="199897" y="102615"/>
                  </a:lnTo>
                  <a:lnTo>
                    <a:pt x="194690" y="104775"/>
                  </a:lnTo>
                  <a:lnTo>
                    <a:pt x="192531" y="106806"/>
                  </a:lnTo>
                  <a:lnTo>
                    <a:pt x="190372" y="108965"/>
                  </a:lnTo>
                  <a:lnTo>
                    <a:pt x="189229" y="111505"/>
                  </a:lnTo>
                  <a:lnTo>
                    <a:pt x="189229" y="114300"/>
                  </a:lnTo>
                  <a:lnTo>
                    <a:pt x="189229" y="117475"/>
                  </a:lnTo>
                  <a:lnTo>
                    <a:pt x="190372" y="120014"/>
                  </a:lnTo>
                  <a:lnTo>
                    <a:pt x="192531" y="122046"/>
                  </a:lnTo>
                  <a:lnTo>
                    <a:pt x="194690" y="124078"/>
                  </a:lnTo>
                  <a:lnTo>
                    <a:pt x="197992" y="125094"/>
                  </a:lnTo>
                  <a:lnTo>
                    <a:pt x="202310" y="125094"/>
                  </a:lnTo>
                  <a:lnTo>
                    <a:pt x="206756" y="125094"/>
                  </a:lnTo>
                  <a:lnTo>
                    <a:pt x="210947" y="123951"/>
                  </a:lnTo>
                  <a:lnTo>
                    <a:pt x="214756" y="121792"/>
                  </a:lnTo>
                  <a:lnTo>
                    <a:pt x="218694" y="119633"/>
                  </a:lnTo>
                  <a:lnTo>
                    <a:pt x="221360" y="116966"/>
                  </a:lnTo>
                  <a:lnTo>
                    <a:pt x="223012" y="113791"/>
                  </a:lnTo>
                  <a:lnTo>
                    <a:pt x="224662" y="110616"/>
                  </a:lnTo>
                  <a:lnTo>
                    <a:pt x="225425" y="106552"/>
                  </a:lnTo>
                  <a:lnTo>
                    <a:pt x="225425" y="101600"/>
                  </a:lnTo>
                  <a:lnTo>
                    <a:pt x="225425" y="95122"/>
                  </a:lnTo>
                  <a:close/>
                </a:path>
                <a:path w="671194" h="147954">
                  <a:moveTo>
                    <a:pt x="426593" y="39877"/>
                  </a:moveTo>
                  <a:lnTo>
                    <a:pt x="466851" y="39877"/>
                  </a:lnTo>
                  <a:lnTo>
                    <a:pt x="466851" y="145033"/>
                  </a:lnTo>
                  <a:lnTo>
                    <a:pt x="426593" y="145033"/>
                  </a:lnTo>
                  <a:lnTo>
                    <a:pt x="426593" y="39877"/>
                  </a:lnTo>
                  <a:close/>
                </a:path>
                <a:path w="671194" h="147954">
                  <a:moveTo>
                    <a:pt x="566419" y="37591"/>
                  </a:moveTo>
                  <a:lnTo>
                    <a:pt x="574801" y="37591"/>
                  </a:lnTo>
                  <a:lnTo>
                    <a:pt x="581406" y="38988"/>
                  </a:lnTo>
                  <a:lnTo>
                    <a:pt x="586358" y="42037"/>
                  </a:lnTo>
                  <a:lnTo>
                    <a:pt x="591184" y="44957"/>
                  </a:lnTo>
                  <a:lnTo>
                    <a:pt x="595249" y="49402"/>
                  </a:lnTo>
                  <a:lnTo>
                    <a:pt x="598296" y="55244"/>
                  </a:lnTo>
                  <a:lnTo>
                    <a:pt x="604646" y="48387"/>
                  </a:lnTo>
                  <a:lnTo>
                    <a:pt x="610362" y="43687"/>
                  </a:lnTo>
                  <a:lnTo>
                    <a:pt x="615569" y="41275"/>
                  </a:lnTo>
                  <a:lnTo>
                    <a:pt x="620776" y="38734"/>
                  </a:lnTo>
                  <a:lnTo>
                    <a:pt x="627252" y="37591"/>
                  </a:lnTo>
                  <a:lnTo>
                    <a:pt x="634873" y="37591"/>
                  </a:lnTo>
                  <a:lnTo>
                    <a:pt x="668369" y="60499"/>
                  </a:lnTo>
                  <a:lnTo>
                    <a:pt x="670687" y="78993"/>
                  </a:lnTo>
                  <a:lnTo>
                    <a:pt x="670687" y="145033"/>
                  </a:lnTo>
                  <a:lnTo>
                    <a:pt x="630427" y="145033"/>
                  </a:lnTo>
                  <a:lnTo>
                    <a:pt x="630427" y="85216"/>
                  </a:lnTo>
                  <a:lnTo>
                    <a:pt x="630427" y="80390"/>
                  </a:lnTo>
                  <a:lnTo>
                    <a:pt x="629412" y="76834"/>
                  </a:lnTo>
                  <a:lnTo>
                    <a:pt x="627633" y="74549"/>
                  </a:lnTo>
                  <a:lnTo>
                    <a:pt x="624967" y="70992"/>
                  </a:lnTo>
                  <a:lnTo>
                    <a:pt x="621538" y="69087"/>
                  </a:lnTo>
                  <a:lnTo>
                    <a:pt x="617601" y="69087"/>
                  </a:lnTo>
                  <a:lnTo>
                    <a:pt x="612775" y="69087"/>
                  </a:lnTo>
                  <a:lnTo>
                    <a:pt x="608964" y="70865"/>
                  </a:lnTo>
                  <a:lnTo>
                    <a:pt x="606044" y="74294"/>
                  </a:lnTo>
                  <a:lnTo>
                    <a:pt x="603250" y="77724"/>
                  </a:lnTo>
                  <a:lnTo>
                    <a:pt x="601726" y="83184"/>
                  </a:lnTo>
                  <a:lnTo>
                    <a:pt x="601726" y="90804"/>
                  </a:lnTo>
                  <a:lnTo>
                    <a:pt x="601726" y="145033"/>
                  </a:lnTo>
                  <a:lnTo>
                    <a:pt x="561339" y="145033"/>
                  </a:lnTo>
                  <a:lnTo>
                    <a:pt x="561339" y="87121"/>
                  </a:lnTo>
                  <a:lnTo>
                    <a:pt x="561339" y="82550"/>
                  </a:lnTo>
                  <a:lnTo>
                    <a:pt x="556132" y="71374"/>
                  </a:lnTo>
                  <a:lnTo>
                    <a:pt x="553974" y="69722"/>
                  </a:lnTo>
                  <a:lnTo>
                    <a:pt x="551561" y="68960"/>
                  </a:lnTo>
                  <a:lnTo>
                    <a:pt x="548639" y="68960"/>
                  </a:lnTo>
                  <a:lnTo>
                    <a:pt x="544068" y="68960"/>
                  </a:lnTo>
                  <a:lnTo>
                    <a:pt x="540257" y="70612"/>
                  </a:lnTo>
                  <a:lnTo>
                    <a:pt x="537209" y="74167"/>
                  </a:lnTo>
                  <a:lnTo>
                    <a:pt x="534288" y="77724"/>
                  </a:lnTo>
                  <a:lnTo>
                    <a:pt x="532764" y="83438"/>
                  </a:lnTo>
                  <a:lnTo>
                    <a:pt x="532764" y="91439"/>
                  </a:lnTo>
                  <a:lnTo>
                    <a:pt x="532764" y="145033"/>
                  </a:lnTo>
                  <a:lnTo>
                    <a:pt x="492378" y="145033"/>
                  </a:lnTo>
                  <a:lnTo>
                    <a:pt x="492378" y="39877"/>
                  </a:lnTo>
                  <a:lnTo>
                    <a:pt x="529970" y="39877"/>
                  </a:lnTo>
                  <a:lnTo>
                    <a:pt x="529970" y="55244"/>
                  </a:lnTo>
                  <a:lnTo>
                    <a:pt x="535432" y="48894"/>
                  </a:lnTo>
                  <a:lnTo>
                    <a:pt x="540893" y="44322"/>
                  </a:lnTo>
                  <a:lnTo>
                    <a:pt x="546353" y="41655"/>
                  </a:lnTo>
                  <a:lnTo>
                    <a:pt x="551942" y="38862"/>
                  </a:lnTo>
                  <a:lnTo>
                    <a:pt x="558545" y="37591"/>
                  </a:lnTo>
                  <a:lnTo>
                    <a:pt x="566419" y="37591"/>
                  </a:lnTo>
                  <a:close/>
                </a:path>
                <a:path w="671194" h="147954">
                  <a:moveTo>
                    <a:pt x="206375" y="37591"/>
                  </a:moveTo>
                  <a:lnTo>
                    <a:pt x="248792" y="43814"/>
                  </a:lnTo>
                  <a:lnTo>
                    <a:pt x="264794" y="71246"/>
                  </a:lnTo>
                  <a:lnTo>
                    <a:pt x="264794" y="76200"/>
                  </a:lnTo>
                  <a:lnTo>
                    <a:pt x="264794" y="122681"/>
                  </a:lnTo>
                  <a:lnTo>
                    <a:pt x="264794" y="127634"/>
                  </a:lnTo>
                  <a:lnTo>
                    <a:pt x="265175" y="131444"/>
                  </a:lnTo>
                  <a:lnTo>
                    <a:pt x="265810" y="134238"/>
                  </a:lnTo>
                  <a:lnTo>
                    <a:pt x="266445" y="137159"/>
                  </a:lnTo>
                  <a:lnTo>
                    <a:pt x="267716" y="140715"/>
                  </a:lnTo>
                  <a:lnTo>
                    <a:pt x="269875" y="145033"/>
                  </a:lnTo>
                  <a:lnTo>
                    <a:pt x="232028" y="145033"/>
                  </a:lnTo>
                  <a:lnTo>
                    <a:pt x="230504" y="142366"/>
                  </a:lnTo>
                  <a:lnTo>
                    <a:pt x="229615" y="140207"/>
                  </a:lnTo>
                  <a:lnTo>
                    <a:pt x="229107" y="138810"/>
                  </a:lnTo>
                  <a:lnTo>
                    <a:pt x="228600" y="137413"/>
                  </a:lnTo>
                  <a:lnTo>
                    <a:pt x="228219" y="135254"/>
                  </a:lnTo>
                  <a:lnTo>
                    <a:pt x="227710" y="132206"/>
                  </a:lnTo>
                  <a:lnTo>
                    <a:pt x="222376" y="137287"/>
                  </a:lnTo>
                  <a:lnTo>
                    <a:pt x="217169" y="140842"/>
                  </a:lnTo>
                  <a:lnTo>
                    <a:pt x="211962" y="143001"/>
                  </a:lnTo>
                  <a:lnTo>
                    <a:pt x="204850" y="145922"/>
                  </a:lnTo>
                  <a:lnTo>
                    <a:pt x="196595" y="147446"/>
                  </a:lnTo>
                  <a:lnTo>
                    <a:pt x="187070" y="147446"/>
                  </a:lnTo>
                  <a:lnTo>
                    <a:pt x="148844" y="125729"/>
                  </a:lnTo>
                  <a:lnTo>
                    <a:pt x="148844" y="117220"/>
                  </a:lnTo>
                  <a:lnTo>
                    <a:pt x="148844" y="109219"/>
                  </a:lnTo>
                  <a:lnTo>
                    <a:pt x="181737" y="86105"/>
                  </a:lnTo>
                  <a:lnTo>
                    <a:pt x="192091" y="83986"/>
                  </a:lnTo>
                  <a:lnTo>
                    <a:pt x="200469" y="82200"/>
                  </a:lnTo>
                  <a:lnTo>
                    <a:pt x="225425" y="74802"/>
                  </a:lnTo>
                  <a:lnTo>
                    <a:pt x="225425" y="69976"/>
                  </a:lnTo>
                  <a:lnTo>
                    <a:pt x="224409" y="66420"/>
                  </a:lnTo>
                  <a:lnTo>
                    <a:pt x="222376" y="64515"/>
                  </a:lnTo>
                  <a:lnTo>
                    <a:pt x="220344" y="62483"/>
                  </a:lnTo>
                  <a:lnTo>
                    <a:pt x="216662" y="61467"/>
                  </a:lnTo>
                  <a:lnTo>
                    <a:pt x="211581" y="61467"/>
                  </a:lnTo>
                  <a:lnTo>
                    <a:pt x="204978" y="61467"/>
                  </a:lnTo>
                  <a:lnTo>
                    <a:pt x="190500" y="73913"/>
                  </a:lnTo>
                  <a:lnTo>
                    <a:pt x="152019" y="69976"/>
                  </a:lnTo>
                  <a:lnTo>
                    <a:pt x="178942" y="40385"/>
                  </a:lnTo>
                  <a:lnTo>
                    <a:pt x="198754" y="37591"/>
                  </a:lnTo>
                  <a:lnTo>
                    <a:pt x="206375" y="37591"/>
                  </a:lnTo>
                  <a:close/>
                </a:path>
                <a:path w="671194" h="147954">
                  <a:moveTo>
                    <a:pt x="289432" y="0"/>
                  </a:moveTo>
                  <a:lnTo>
                    <a:pt x="330581" y="0"/>
                  </a:lnTo>
                  <a:lnTo>
                    <a:pt x="330581" y="74802"/>
                  </a:lnTo>
                  <a:lnTo>
                    <a:pt x="360680" y="39877"/>
                  </a:lnTo>
                  <a:lnTo>
                    <a:pt x="410209" y="39877"/>
                  </a:lnTo>
                  <a:lnTo>
                    <a:pt x="372490" y="76707"/>
                  </a:lnTo>
                  <a:lnTo>
                    <a:pt x="412495" y="145033"/>
                  </a:lnTo>
                  <a:lnTo>
                    <a:pt x="367030" y="145033"/>
                  </a:lnTo>
                  <a:lnTo>
                    <a:pt x="345820" y="102869"/>
                  </a:lnTo>
                  <a:lnTo>
                    <a:pt x="330581" y="117728"/>
                  </a:lnTo>
                  <a:lnTo>
                    <a:pt x="330581" y="145033"/>
                  </a:lnTo>
                  <a:lnTo>
                    <a:pt x="289432" y="145033"/>
                  </a:lnTo>
                  <a:lnTo>
                    <a:pt x="289432" y="0"/>
                  </a:lnTo>
                  <a:close/>
                </a:path>
                <a:path w="671194" h="147954">
                  <a:moveTo>
                    <a:pt x="0" y="0"/>
                  </a:moveTo>
                  <a:lnTo>
                    <a:pt x="136270" y="0"/>
                  </a:lnTo>
                  <a:lnTo>
                    <a:pt x="136270" y="35813"/>
                  </a:lnTo>
                  <a:lnTo>
                    <a:pt x="90550" y="35813"/>
                  </a:lnTo>
                  <a:lnTo>
                    <a:pt x="90550" y="145033"/>
                  </a:lnTo>
                  <a:lnTo>
                    <a:pt x="45719" y="145033"/>
                  </a:lnTo>
                  <a:lnTo>
                    <a:pt x="45719" y="35813"/>
                  </a:lnTo>
                  <a:lnTo>
                    <a:pt x="0" y="35813"/>
                  </a:lnTo>
                  <a:lnTo>
                    <a:pt x="0" y="0"/>
                  </a:lnTo>
                  <a:close/>
                </a:path>
              </a:pathLst>
            </a:custGeom>
            <a:ln w="10160">
              <a:solidFill>
                <a:srgbClr val="23406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997964" y="4008132"/>
              <a:ext cx="1384553" cy="246113"/>
            </a:xfrm>
            <a:prstGeom prst="rect">
              <a:avLst/>
            </a:prstGeom>
          </p:spPr>
        </p:pic>
        <p:sp>
          <p:nvSpPr>
            <p:cNvPr id="8" name="object 8"/>
            <p:cNvSpPr/>
            <p:nvPr/>
          </p:nvSpPr>
          <p:spPr>
            <a:xfrm>
              <a:off x="2040890" y="4039362"/>
              <a:ext cx="1302385" cy="186055"/>
            </a:xfrm>
            <a:custGeom>
              <a:avLst/>
              <a:gdLst/>
              <a:ahLst/>
              <a:cxnLst/>
              <a:rect l="l" t="t" r="r" b="b"/>
              <a:pathLst>
                <a:path w="1302385" h="186054">
                  <a:moveTo>
                    <a:pt x="414782" y="143255"/>
                  </a:moveTo>
                  <a:lnTo>
                    <a:pt x="371729" y="143255"/>
                  </a:lnTo>
                  <a:lnTo>
                    <a:pt x="371729" y="183641"/>
                  </a:lnTo>
                  <a:lnTo>
                    <a:pt x="414782" y="183641"/>
                  </a:lnTo>
                  <a:lnTo>
                    <a:pt x="414782" y="143255"/>
                  </a:lnTo>
                  <a:close/>
                </a:path>
                <a:path w="1302385" h="186054">
                  <a:moveTo>
                    <a:pt x="214503" y="76200"/>
                  </a:moveTo>
                  <a:lnTo>
                    <a:pt x="208153" y="76200"/>
                  </a:lnTo>
                  <a:lnTo>
                    <a:pt x="198941" y="77059"/>
                  </a:lnTo>
                  <a:lnTo>
                    <a:pt x="166973" y="106949"/>
                  </a:lnTo>
                  <a:lnTo>
                    <a:pt x="163830" y="130048"/>
                  </a:lnTo>
                  <a:lnTo>
                    <a:pt x="164460" y="139953"/>
                  </a:lnTo>
                  <a:lnTo>
                    <a:pt x="164542" y="141239"/>
                  </a:lnTo>
                  <a:lnTo>
                    <a:pt x="181469" y="176839"/>
                  </a:lnTo>
                  <a:lnTo>
                    <a:pt x="208026" y="186054"/>
                  </a:lnTo>
                  <a:lnTo>
                    <a:pt x="215137" y="186054"/>
                  </a:lnTo>
                  <a:lnTo>
                    <a:pt x="221615" y="184530"/>
                  </a:lnTo>
                  <a:lnTo>
                    <a:pt x="227330" y="181483"/>
                  </a:lnTo>
                  <a:lnTo>
                    <a:pt x="231775" y="179197"/>
                  </a:lnTo>
                  <a:lnTo>
                    <a:pt x="236601" y="174751"/>
                  </a:lnTo>
                  <a:lnTo>
                    <a:pt x="241808" y="168148"/>
                  </a:lnTo>
                  <a:lnTo>
                    <a:pt x="279527" y="168148"/>
                  </a:lnTo>
                  <a:lnTo>
                    <a:pt x="279527" y="156463"/>
                  </a:lnTo>
                  <a:lnTo>
                    <a:pt x="216281" y="156463"/>
                  </a:lnTo>
                  <a:lnTo>
                    <a:pt x="212344" y="154559"/>
                  </a:lnTo>
                  <a:lnTo>
                    <a:pt x="209042" y="150495"/>
                  </a:lnTo>
                  <a:lnTo>
                    <a:pt x="205740" y="146558"/>
                  </a:lnTo>
                  <a:lnTo>
                    <a:pt x="204089" y="140208"/>
                  </a:lnTo>
                  <a:lnTo>
                    <a:pt x="204089" y="122554"/>
                  </a:lnTo>
                  <a:lnTo>
                    <a:pt x="205644" y="116332"/>
                  </a:lnTo>
                  <a:lnTo>
                    <a:pt x="205740" y="115950"/>
                  </a:lnTo>
                  <a:lnTo>
                    <a:pt x="208915" y="112140"/>
                  </a:lnTo>
                  <a:lnTo>
                    <a:pt x="211987" y="108330"/>
                  </a:lnTo>
                  <a:lnTo>
                    <a:pt x="211827" y="108330"/>
                  </a:lnTo>
                  <a:lnTo>
                    <a:pt x="216027" y="106299"/>
                  </a:lnTo>
                  <a:lnTo>
                    <a:pt x="279527" y="106299"/>
                  </a:lnTo>
                  <a:lnTo>
                    <a:pt x="279527" y="88773"/>
                  </a:lnTo>
                  <a:lnTo>
                    <a:pt x="238887" y="88773"/>
                  </a:lnTo>
                  <a:lnTo>
                    <a:pt x="234950" y="84582"/>
                  </a:lnTo>
                  <a:lnTo>
                    <a:pt x="230378" y="81407"/>
                  </a:lnTo>
                  <a:lnTo>
                    <a:pt x="225298" y="79375"/>
                  </a:lnTo>
                  <a:lnTo>
                    <a:pt x="220091" y="77215"/>
                  </a:lnTo>
                  <a:lnTo>
                    <a:pt x="214503" y="76200"/>
                  </a:lnTo>
                  <a:close/>
                </a:path>
                <a:path w="1302385" h="186054">
                  <a:moveTo>
                    <a:pt x="279527" y="168148"/>
                  </a:moveTo>
                  <a:lnTo>
                    <a:pt x="241808" y="168148"/>
                  </a:lnTo>
                  <a:lnTo>
                    <a:pt x="241808" y="183641"/>
                  </a:lnTo>
                  <a:lnTo>
                    <a:pt x="279527" y="183641"/>
                  </a:lnTo>
                  <a:lnTo>
                    <a:pt x="279527" y="168148"/>
                  </a:lnTo>
                  <a:close/>
                </a:path>
                <a:path w="1302385" h="186054">
                  <a:moveTo>
                    <a:pt x="279527" y="106299"/>
                  </a:moveTo>
                  <a:lnTo>
                    <a:pt x="226060" y="106299"/>
                  </a:lnTo>
                  <a:lnTo>
                    <a:pt x="230378" y="108330"/>
                  </a:lnTo>
                  <a:lnTo>
                    <a:pt x="237362" y="116332"/>
                  </a:lnTo>
                  <a:lnTo>
                    <a:pt x="239141" y="122554"/>
                  </a:lnTo>
                  <a:lnTo>
                    <a:pt x="239076" y="140208"/>
                  </a:lnTo>
                  <a:lnTo>
                    <a:pt x="237490" y="146430"/>
                  </a:lnTo>
                  <a:lnTo>
                    <a:pt x="230632" y="154559"/>
                  </a:lnTo>
                  <a:lnTo>
                    <a:pt x="226314" y="156463"/>
                  </a:lnTo>
                  <a:lnTo>
                    <a:pt x="279527" y="156463"/>
                  </a:lnTo>
                  <a:lnTo>
                    <a:pt x="279527" y="106299"/>
                  </a:lnTo>
                  <a:close/>
                </a:path>
                <a:path w="1302385" h="186054">
                  <a:moveTo>
                    <a:pt x="279527" y="38608"/>
                  </a:moveTo>
                  <a:lnTo>
                    <a:pt x="238887" y="38608"/>
                  </a:lnTo>
                  <a:lnTo>
                    <a:pt x="238887" y="88773"/>
                  </a:lnTo>
                  <a:lnTo>
                    <a:pt x="279527" y="88773"/>
                  </a:lnTo>
                  <a:lnTo>
                    <a:pt x="279527" y="38608"/>
                  </a:lnTo>
                  <a:close/>
                </a:path>
                <a:path w="1302385" h="186054">
                  <a:moveTo>
                    <a:pt x="414782" y="78486"/>
                  </a:moveTo>
                  <a:lnTo>
                    <a:pt x="371729" y="78486"/>
                  </a:lnTo>
                  <a:lnTo>
                    <a:pt x="371729" y="118872"/>
                  </a:lnTo>
                  <a:lnTo>
                    <a:pt x="414782" y="118872"/>
                  </a:lnTo>
                  <a:lnTo>
                    <a:pt x="414782" y="78486"/>
                  </a:lnTo>
                  <a:close/>
                </a:path>
                <a:path w="1302385" h="186054">
                  <a:moveTo>
                    <a:pt x="346329" y="78486"/>
                  </a:moveTo>
                  <a:lnTo>
                    <a:pt x="306070" y="78486"/>
                  </a:lnTo>
                  <a:lnTo>
                    <a:pt x="306070" y="183641"/>
                  </a:lnTo>
                  <a:lnTo>
                    <a:pt x="346329" y="183641"/>
                  </a:lnTo>
                  <a:lnTo>
                    <a:pt x="346329" y="78486"/>
                  </a:lnTo>
                  <a:close/>
                </a:path>
                <a:path w="1302385" h="186054">
                  <a:moveTo>
                    <a:pt x="103505" y="38608"/>
                  </a:moveTo>
                  <a:lnTo>
                    <a:pt x="54610" y="38608"/>
                  </a:lnTo>
                  <a:lnTo>
                    <a:pt x="0" y="183641"/>
                  </a:lnTo>
                  <a:lnTo>
                    <a:pt x="45847" y="183641"/>
                  </a:lnTo>
                  <a:lnTo>
                    <a:pt x="52832" y="159638"/>
                  </a:lnTo>
                  <a:lnTo>
                    <a:pt x="148971" y="159638"/>
                  </a:lnTo>
                  <a:lnTo>
                    <a:pt x="137187" y="128270"/>
                  </a:lnTo>
                  <a:lnTo>
                    <a:pt x="62611" y="128270"/>
                  </a:lnTo>
                  <a:lnTo>
                    <a:pt x="78486" y="76200"/>
                  </a:lnTo>
                  <a:lnTo>
                    <a:pt x="117626" y="76200"/>
                  </a:lnTo>
                  <a:lnTo>
                    <a:pt x="103505" y="38608"/>
                  </a:lnTo>
                  <a:close/>
                </a:path>
                <a:path w="1302385" h="186054">
                  <a:moveTo>
                    <a:pt x="148971" y="159638"/>
                  </a:moveTo>
                  <a:lnTo>
                    <a:pt x="103759" y="159638"/>
                  </a:lnTo>
                  <a:lnTo>
                    <a:pt x="110998" y="183641"/>
                  </a:lnTo>
                  <a:lnTo>
                    <a:pt x="157987" y="183641"/>
                  </a:lnTo>
                  <a:lnTo>
                    <a:pt x="148971" y="159638"/>
                  </a:lnTo>
                  <a:close/>
                </a:path>
                <a:path w="1302385" h="186054">
                  <a:moveTo>
                    <a:pt x="117626" y="76200"/>
                  </a:moveTo>
                  <a:lnTo>
                    <a:pt x="78486" y="76200"/>
                  </a:lnTo>
                  <a:lnTo>
                    <a:pt x="94487" y="128270"/>
                  </a:lnTo>
                  <a:lnTo>
                    <a:pt x="137187" y="128270"/>
                  </a:lnTo>
                  <a:lnTo>
                    <a:pt x="117626" y="76200"/>
                  </a:lnTo>
                  <a:close/>
                </a:path>
                <a:path w="1302385" h="186054">
                  <a:moveTo>
                    <a:pt x="629920" y="38608"/>
                  </a:moveTo>
                  <a:lnTo>
                    <a:pt x="509778" y="38608"/>
                  </a:lnTo>
                  <a:lnTo>
                    <a:pt x="509778" y="183641"/>
                  </a:lnTo>
                  <a:lnTo>
                    <a:pt x="632079" y="183641"/>
                  </a:lnTo>
                  <a:lnTo>
                    <a:pt x="632079" y="150749"/>
                  </a:lnTo>
                  <a:lnTo>
                    <a:pt x="554736" y="150749"/>
                  </a:lnTo>
                  <a:lnTo>
                    <a:pt x="554736" y="122174"/>
                  </a:lnTo>
                  <a:lnTo>
                    <a:pt x="624459" y="122174"/>
                  </a:lnTo>
                  <a:lnTo>
                    <a:pt x="624459" y="92583"/>
                  </a:lnTo>
                  <a:lnTo>
                    <a:pt x="554736" y="92583"/>
                  </a:lnTo>
                  <a:lnTo>
                    <a:pt x="554736" y="69468"/>
                  </a:lnTo>
                  <a:lnTo>
                    <a:pt x="629920" y="69468"/>
                  </a:lnTo>
                  <a:lnTo>
                    <a:pt x="629920" y="38608"/>
                  </a:lnTo>
                  <a:close/>
                </a:path>
                <a:path w="1302385" h="186054">
                  <a:moveTo>
                    <a:pt x="1183132" y="38608"/>
                  </a:moveTo>
                  <a:lnTo>
                    <a:pt x="1108583" y="38608"/>
                  </a:lnTo>
                  <a:lnTo>
                    <a:pt x="1108583" y="183641"/>
                  </a:lnTo>
                  <a:lnTo>
                    <a:pt x="1153668" y="183641"/>
                  </a:lnTo>
                  <a:lnTo>
                    <a:pt x="1153668" y="129793"/>
                  </a:lnTo>
                  <a:lnTo>
                    <a:pt x="1178179" y="129793"/>
                  </a:lnTo>
                  <a:lnTo>
                    <a:pt x="1218564" y="117475"/>
                  </a:lnTo>
                  <a:lnTo>
                    <a:pt x="1229059" y="100457"/>
                  </a:lnTo>
                  <a:lnTo>
                    <a:pt x="1153668" y="100457"/>
                  </a:lnTo>
                  <a:lnTo>
                    <a:pt x="1153668" y="68072"/>
                  </a:lnTo>
                  <a:lnTo>
                    <a:pt x="1229732" y="68072"/>
                  </a:lnTo>
                  <a:lnTo>
                    <a:pt x="1228725" y="64182"/>
                  </a:lnTo>
                  <a:lnTo>
                    <a:pt x="1194560" y="39324"/>
                  </a:lnTo>
                  <a:lnTo>
                    <a:pt x="1183132" y="38608"/>
                  </a:lnTo>
                  <a:close/>
                </a:path>
                <a:path w="1302385" h="186054">
                  <a:moveTo>
                    <a:pt x="1229732" y="68072"/>
                  </a:moveTo>
                  <a:lnTo>
                    <a:pt x="1174750" y="68072"/>
                  </a:lnTo>
                  <a:lnTo>
                    <a:pt x="1180465" y="69596"/>
                  </a:lnTo>
                  <a:lnTo>
                    <a:pt x="1186561" y="75946"/>
                  </a:lnTo>
                  <a:lnTo>
                    <a:pt x="1188085" y="79883"/>
                  </a:lnTo>
                  <a:lnTo>
                    <a:pt x="1188085" y="89026"/>
                  </a:lnTo>
                  <a:lnTo>
                    <a:pt x="1186307" y="92963"/>
                  </a:lnTo>
                  <a:lnTo>
                    <a:pt x="1179322" y="98933"/>
                  </a:lnTo>
                  <a:lnTo>
                    <a:pt x="1173226" y="100457"/>
                  </a:lnTo>
                  <a:lnTo>
                    <a:pt x="1229059" y="100457"/>
                  </a:lnTo>
                  <a:lnTo>
                    <a:pt x="1230941" y="93489"/>
                  </a:lnTo>
                  <a:lnTo>
                    <a:pt x="1231773" y="83058"/>
                  </a:lnTo>
                  <a:lnTo>
                    <a:pt x="1231011" y="73007"/>
                  </a:lnTo>
                  <a:lnTo>
                    <a:pt x="1229732" y="68072"/>
                  </a:lnTo>
                  <a:close/>
                </a:path>
                <a:path w="1302385" h="186054">
                  <a:moveTo>
                    <a:pt x="1301877" y="38608"/>
                  </a:moveTo>
                  <a:lnTo>
                    <a:pt x="1256919" y="38608"/>
                  </a:lnTo>
                  <a:lnTo>
                    <a:pt x="1256919" y="183641"/>
                  </a:lnTo>
                  <a:lnTo>
                    <a:pt x="1301877" y="183641"/>
                  </a:lnTo>
                  <a:lnTo>
                    <a:pt x="1301877" y="38608"/>
                  </a:lnTo>
                  <a:close/>
                </a:path>
                <a:path w="1302385" h="186054">
                  <a:moveTo>
                    <a:pt x="1018032" y="38608"/>
                  </a:moveTo>
                  <a:lnTo>
                    <a:pt x="973201" y="38608"/>
                  </a:lnTo>
                  <a:lnTo>
                    <a:pt x="973201" y="183641"/>
                  </a:lnTo>
                  <a:lnTo>
                    <a:pt x="1088009" y="183641"/>
                  </a:lnTo>
                  <a:lnTo>
                    <a:pt x="1088009" y="147954"/>
                  </a:lnTo>
                  <a:lnTo>
                    <a:pt x="1018032" y="147954"/>
                  </a:lnTo>
                  <a:lnTo>
                    <a:pt x="1018032" y="38608"/>
                  </a:lnTo>
                  <a:close/>
                </a:path>
                <a:path w="1302385" h="186054">
                  <a:moveTo>
                    <a:pt x="946912" y="38608"/>
                  </a:moveTo>
                  <a:lnTo>
                    <a:pt x="826770" y="38608"/>
                  </a:lnTo>
                  <a:lnTo>
                    <a:pt x="826770" y="183641"/>
                  </a:lnTo>
                  <a:lnTo>
                    <a:pt x="949071" y="183641"/>
                  </a:lnTo>
                  <a:lnTo>
                    <a:pt x="949071" y="150749"/>
                  </a:lnTo>
                  <a:lnTo>
                    <a:pt x="871728" y="150749"/>
                  </a:lnTo>
                  <a:lnTo>
                    <a:pt x="871728" y="122174"/>
                  </a:lnTo>
                  <a:lnTo>
                    <a:pt x="941451" y="122174"/>
                  </a:lnTo>
                  <a:lnTo>
                    <a:pt x="941451" y="92583"/>
                  </a:lnTo>
                  <a:lnTo>
                    <a:pt x="871728" y="92583"/>
                  </a:lnTo>
                  <a:lnTo>
                    <a:pt x="871728" y="69468"/>
                  </a:lnTo>
                  <a:lnTo>
                    <a:pt x="946912" y="69468"/>
                  </a:lnTo>
                  <a:lnTo>
                    <a:pt x="946912" y="38608"/>
                  </a:lnTo>
                  <a:close/>
                </a:path>
                <a:path w="1302385" h="186054">
                  <a:moveTo>
                    <a:pt x="698373" y="38608"/>
                  </a:moveTo>
                  <a:lnTo>
                    <a:pt x="656463" y="38608"/>
                  </a:lnTo>
                  <a:lnTo>
                    <a:pt x="656463" y="183641"/>
                  </a:lnTo>
                  <a:lnTo>
                    <a:pt x="698627" y="183641"/>
                  </a:lnTo>
                  <a:lnTo>
                    <a:pt x="698627" y="104012"/>
                  </a:lnTo>
                  <a:lnTo>
                    <a:pt x="742873" y="104012"/>
                  </a:lnTo>
                  <a:lnTo>
                    <a:pt x="698373" y="38608"/>
                  </a:lnTo>
                  <a:close/>
                </a:path>
                <a:path w="1302385" h="186054">
                  <a:moveTo>
                    <a:pt x="742873" y="104012"/>
                  </a:moveTo>
                  <a:lnTo>
                    <a:pt x="698627" y="104012"/>
                  </a:lnTo>
                  <a:lnTo>
                    <a:pt x="752983" y="183641"/>
                  </a:lnTo>
                  <a:lnTo>
                    <a:pt x="795274" y="183641"/>
                  </a:lnTo>
                  <a:lnTo>
                    <a:pt x="795274" y="118872"/>
                  </a:lnTo>
                  <a:lnTo>
                    <a:pt x="752983" y="118872"/>
                  </a:lnTo>
                  <a:lnTo>
                    <a:pt x="742873" y="104012"/>
                  </a:lnTo>
                  <a:close/>
                </a:path>
                <a:path w="1302385" h="186054">
                  <a:moveTo>
                    <a:pt x="795274" y="38608"/>
                  </a:moveTo>
                  <a:lnTo>
                    <a:pt x="752983" y="38608"/>
                  </a:lnTo>
                  <a:lnTo>
                    <a:pt x="752983" y="118872"/>
                  </a:lnTo>
                  <a:lnTo>
                    <a:pt x="795274" y="118872"/>
                  </a:lnTo>
                  <a:lnTo>
                    <a:pt x="795274" y="38608"/>
                  </a:lnTo>
                  <a:close/>
                </a:path>
                <a:path w="1302385" h="186054">
                  <a:moveTo>
                    <a:pt x="1295273" y="0"/>
                  </a:moveTo>
                  <a:lnTo>
                    <a:pt x="1264158" y="0"/>
                  </a:lnTo>
                  <a:lnTo>
                    <a:pt x="1264158" y="29717"/>
                  </a:lnTo>
                  <a:lnTo>
                    <a:pt x="1295273" y="29717"/>
                  </a:lnTo>
                  <a:lnTo>
                    <a:pt x="1295273" y="0"/>
                  </a:lnTo>
                  <a:close/>
                </a:path>
              </a:pathLst>
            </a:custGeom>
            <a:solidFill>
              <a:srgbClr val="FFFFFF"/>
            </a:solidFill>
          </p:spPr>
          <p:txBody>
            <a:bodyPr wrap="square" lIns="0" tIns="0" rIns="0" bIns="0" rtlCol="0"/>
            <a:lstStyle/>
            <a:p>
              <a:endParaRPr/>
            </a:p>
          </p:txBody>
        </p:sp>
        <p:sp>
          <p:nvSpPr>
            <p:cNvPr id="9" name="object 9"/>
            <p:cNvSpPr/>
            <p:nvPr/>
          </p:nvSpPr>
          <p:spPr>
            <a:xfrm>
              <a:off x="2040890" y="4039362"/>
              <a:ext cx="1302385" cy="186055"/>
            </a:xfrm>
            <a:custGeom>
              <a:avLst/>
              <a:gdLst/>
              <a:ahLst/>
              <a:cxnLst/>
              <a:rect l="l" t="t" r="r" b="b"/>
              <a:pathLst>
                <a:path w="1302385" h="186054">
                  <a:moveTo>
                    <a:pt x="371729" y="143255"/>
                  </a:moveTo>
                  <a:lnTo>
                    <a:pt x="414782" y="143255"/>
                  </a:lnTo>
                  <a:lnTo>
                    <a:pt x="414782" y="183641"/>
                  </a:lnTo>
                  <a:lnTo>
                    <a:pt x="371729" y="183641"/>
                  </a:lnTo>
                  <a:lnTo>
                    <a:pt x="371729" y="143255"/>
                  </a:lnTo>
                  <a:close/>
                </a:path>
                <a:path w="1302385" h="186054">
                  <a:moveTo>
                    <a:pt x="220599" y="106299"/>
                  </a:moveTo>
                  <a:lnTo>
                    <a:pt x="216027" y="106299"/>
                  </a:lnTo>
                  <a:lnTo>
                    <a:pt x="212090" y="108203"/>
                  </a:lnTo>
                  <a:lnTo>
                    <a:pt x="208915" y="112140"/>
                  </a:lnTo>
                  <a:lnTo>
                    <a:pt x="205740" y="115950"/>
                  </a:lnTo>
                  <a:lnTo>
                    <a:pt x="204089" y="122554"/>
                  </a:lnTo>
                  <a:lnTo>
                    <a:pt x="204089" y="131699"/>
                  </a:lnTo>
                  <a:lnTo>
                    <a:pt x="204089" y="140208"/>
                  </a:lnTo>
                  <a:lnTo>
                    <a:pt x="205740" y="146558"/>
                  </a:lnTo>
                  <a:lnTo>
                    <a:pt x="209042" y="150495"/>
                  </a:lnTo>
                  <a:lnTo>
                    <a:pt x="212344" y="154559"/>
                  </a:lnTo>
                  <a:lnTo>
                    <a:pt x="216281" y="156463"/>
                  </a:lnTo>
                  <a:lnTo>
                    <a:pt x="221107" y="156463"/>
                  </a:lnTo>
                  <a:lnTo>
                    <a:pt x="226314" y="156463"/>
                  </a:lnTo>
                  <a:lnTo>
                    <a:pt x="230632" y="154559"/>
                  </a:lnTo>
                  <a:lnTo>
                    <a:pt x="234061" y="150495"/>
                  </a:lnTo>
                  <a:lnTo>
                    <a:pt x="237490" y="146430"/>
                  </a:lnTo>
                  <a:lnTo>
                    <a:pt x="239141" y="139953"/>
                  </a:lnTo>
                  <a:lnTo>
                    <a:pt x="239141" y="130810"/>
                  </a:lnTo>
                  <a:lnTo>
                    <a:pt x="239141" y="122554"/>
                  </a:lnTo>
                  <a:lnTo>
                    <a:pt x="237362" y="116332"/>
                  </a:lnTo>
                  <a:lnTo>
                    <a:pt x="233934" y="112395"/>
                  </a:lnTo>
                  <a:lnTo>
                    <a:pt x="230378" y="108330"/>
                  </a:lnTo>
                  <a:lnTo>
                    <a:pt x="226060" y="106299"/>
                  </a:lnTo>
                  <a:lnTo>
                    <a:pt x="220599" y="106299"/>
                  </a:lnTo>
                  <a:close/>
                </a:path>
                <a:path w="1302385" h="186054">
                  <a:moveTo>
                    <a:pt x="371729" y="78486"/>
                  </a:moveTo>
                  <a:lnTo>
                    <a:pt x="414782" y="78486"/>
                  </a:lnTo>
                  <a:lnTo>
                    <a:pt x="414782" y="118872"/>
                  </a:lnTo>
                  <a:lnTo>
                    <a:pt x="371729" y="118872"/>
                  </a:lnTo>
                  <a:lnTo>
                    <a:pt x="371729" y="78486"/>
                  </a:lnTo>
                  <a:close/>
                </a:path>
                <a:path w="1302385" h="186054">
                  <a:moveTo>
                    <a:pt x="306070" y="78486"/>
                  </a:moveTo>
                  <a:lnTo>
                    <a:pt x="346329" y="78486"/>
                  </a:lnTo>
                  <a:lnTo>
                    <a:pt x="346329" y="183641"/>
                  </a:lnTo>
                  <a:lnTo>
                    <a:pt x="306070" y="183641"/>
                  </a:lnTo>
                  <a:lnTo>
                    <a:pt x="306070" y="78486"/>
                  </a:lnTo>
                  <a:close/>
                </a:path>
                <a:path w="1302385" h="186054">
                  <a:moveTo>
                    <a:pt x="78486" y="76200"/>
                  </a:moveTo>
                  <a:lnTo>
                    <a:pt x="62611" y="128270"/>
                  </a:lnTo>
                  <a:lnTo>
                    <a:pt x="94487" y="128270"/>
                  </a:lnTo>
                  <a:lnTo>
                    <a:pt x="78486" y="76200"/>
                  </a:lnTo>
                  <a:close/>
                </a:path>
                <a:path w="1302385" h="186054">
                  <a:moveTo>
                    <a:pt x="509778" y="38608"/>
                  </a:moveTo>
                  <a:lnTo>
                    <a:pt x="629920" y="38608"/>
                  </a:lnTo>
                  <a:lnTo>
                    <a:pt x="629920" y="69468"/>
                  </a:lnTo>
                  <a:lnTo>
                    <a:pt x="554736" y="69468"/>
                  </a:lnTo>
                  <a:lnTo>
                    <a:pt x="554736" y="92583"/>
                  </a:lnTo>
                  <a:lnTo>
                    <a:pt x="624459" y="92583"/>
                  </a:lnTo>
                  <a:lnTo>
                    <a:pt x="624459" y="122174"/>
                  </a:lnTo>
                  <a:lnTo>
                    <a:pt x="554736" y="122174"/>
                  </a:lnTo>
                  <a:lnTo>
                    <a:pt x="554736" y="150749"/>
                  </a:lnTo>
                  <a:lnTo>
                    <a:pt x="632079" y="150749"/>
                  </a:lnTo>
                  <a:lnTo>
                    <a:pt x="632079" y="183641"/>
                  </a:lnTo>
                  <a:lnTo>
                    <a:pt x="509778" y="183641"/>
                  </a:lnTo>
                  <a:lnTo>
                    <a:pt x="509778" y="38608"/>
                  </a:lnTo>
                  <a:close/>
                </a:path>
                <a:path w="1302385" h="186054">
                  <a:moveTo>
                    <a:pt x="238887" y="38608"/>
                  </a:moveTo>
                  <a:lnTo>
                    <a:pt x="279527" y="38608"/>
                  </a:lnTo>
                  <a:lnTo>
                    <a:pt x="279527" y="183641"/>
                  </a:lnTo>
                  <a:lnTo>
                    <a:pt x="241808" y="183641"/>
                  </a:lnTo>
                  <a:lnTo>
                    <a:pt x="241808" y="168148"/>
                  </a:lnTo>
                  <a:lnTo>
                    <a:pt x="236601" y="174751"/>
                  </a:lnTo>
                  <a:lnTo>
                    <a:pt x="231775" y="179197"/>
                  </a:lnTo>
                  <a:lnTo>
                    <a:pt x="227330" y="181483"/>
                  </a:lnTo>
                  <a:lnTo>
                    <a:pt x="221615" y="184530"/>
                  </a:lnTo>
                  <a:lnTo>
                    <a:pt x="215137" y="186054"/>
                  </a:lnTo>
                  <a:lnTo>
                    <a:pt x="208026" y="186054"/>
                  </a:lnTo>
                  <a:lnTo>
                    <a:pt x="170205" y="161051"/>
                  </a:lnTo>
                  <a:lnTo>
                    <a:pt x="163830" y="130048"/>
                  </a:lnTo>
                  <a:lnTo>
                    <a:pt x="164615" y="117707"/>
                  </a:lnTo>
                  <a:lnTo>
                    <a:pt x="183042" y="83968"/>
                  </a:lnTo>
                  <a:lnTo>
                    <a:pt x="208153" y="76200"/>
                  </a:lnTo>
                  <a:lnTo>
                    <a:pt x="214503" y="76200"/>
                  </a:lnTo>
                  <a:lnTo>
                    <a:pt x="220091" y="77215"/>
                  </a:lnTo>
                  <a:lnTo>
                    <a:pt x="225298" y="79375"/>
                  </a:lnTo>
                  <a:lnTo>
                    <a:pt x="230378" y="81407"/>
                  </a:lnTo>
                  <a:lnTo>
                    <a:pt x="234950" y="84582"/>
                  </a:lnTo>
                  <a:lnTo>
                    <a:pt x="238887" y="88773"/>
                  </a:lnTo>
                  <a:lnTo>
                    <a:pt x="238887" y="38608"/>
                  </a:lnTo>
                  <a:close/>
                </a:path>
                <a:path w="1302385" h="186054">
                  <a:moveTo>
                    <a:pt x="54610" y="38608"/>
                  </a:moveTo>
                  <a:lnTo>
                    <a:pt x="103505" y="38608"/>
                  </a:lnTo>
                  <a:lnTo>
                    <a:pt x="157987" y="183641"/>
                  </a:lnTo>
                  <a:lnTo>
                    <a:pt x="110998" y="183641"/>
                  </a:lnTo>
                  <a:lnTo>
                    <a:pt x="103759" y="159638"/>
                  </a:lnTo>
                  <a:lnTo>
                    <a:pt x="52832" y="159638"/>
                  </a:lnTo>
                  <a:lnTo>
                    <a:pt x="45847" y="183641"/>
                  </a:lnTo>
                  <a:lnTo>
                    <a:pt x="0" y="183641"/>
                  </a:lnTo>
                  <a:lnTo>
                    <a:pt x="54610" y="38608"/>
                  </a:lnTo>
                  <a:close/>
                </a:path>
                <a:path w="1302385" h="186054">
                  <a:moveTo>
                    <a:pt x="1153668" y="68072"/>
                  </a:moveTo>
                  <a:lnTo>
                    <a:pt x="1153668" y="100457"/>
                  </a:lnTo>
                  <a:lnTo>
                    <a:pt x="1164590" y="100457"/>
                  </a:lnTo>
                  <a:lnTo>
                    <a:pt x="1173226" y="100457"/>
                  </a:lnTo>
                  <a:lnTo>
                    <a:pt x="1179322" y="98933"/>
                  </a:lnTo>
                  <a:lnTo>
                    <a:pt x="1182878" y="95885"/>
                  </a:lnTo>
                  <a:lnTo>
                    <a:pt x="1186307" y="92963"/>
                  </a:lnTo>
                  <a:lnTo>
                    <a:pt x="1188085" y="89026"/>
                  </a:lnTo>
                  <a:lnTo>
                    <a:pt x="1188085" y="84327"/>
                  </a:lnTo>
                  <a:lnTo>
                    <a:pt x="1188085" y="79883"/>
                  </a:lnTo>
                  <a:lnTo>
                    <a:pt x="1186561" y="75946"/>
                  </a:lnTo>
                  <a:lnTo>
                    <a:pt x="1183513" y="72771"/>
                  </a:lnTo>
                  <a:lnTo>
                    <a:pt x="1180465" y="69596"/>
                  </a:lnTo>
                  <a:lnTo>
                    <a:pt x="1174750" y="68072"/>
                  </a:lnTo>
                  <a:lnTo>
                    <a:pt x="1166368" y="68072"/>
                  </a:lnTo>
                  <a:lnTo>
                    <a:pt x="1153668" y="68072"/>
                  </a:lnTo>
                  <a:close/>
                </a:path>
                <a:path w="1302385" h="186054">
                  <a:moveTo>
                    <a:pt x="1256919" y="38608"/>
                  </a:moveTo>
                  <a:lnTo>
                    <a:pt x="1301877" y="38608"/>
                  </a:lnTo>
                  <a:lnTo>
                    <a:pt x="1301877" y="183641"/>
                  </a:lnTo>
                  <a:lnTo>
                    <a:pt x="1256919" y="183641"/>
                  </a:lnTo>
                  <a:lnTo>
                    <a:pt x="1256919" y="38608"/>
                  </a:lnTo>
                  <a:close/>
                </a:path>
                <a:path w="1302385" h="186054">
                  <a:moveTo>
                    <a:pt x="1108583" y="38608"/>
                  </a:moveTo>
                  <a:lnTo>
                    <a:pt x="1183132" y="38608"/>
                  </a:lnTo>
                  <a:lnTo>
                    <a:pt x="1194560" y="39324"/>
                  </a:lnTo>
                  <a:lnTo>
                    <a:pt x="1228725" y="64182"/>
                  </a:lnTo>
                  <a:lnTo>
                    <a:pt x="1231773" y="83058"/>
                  </a:lnTo>
                  <a:lnTo>
                    <a:pt x="1230941" y="93489"/>
                  </a:lnTo>
                  <a:lnTo>
                    <a:pt x="1201848" y="126730"/>
                  </a:lnTo>
                  <a:lnTo>
                    <a:pt x="1178179" y="129793"/>
                  </a:lnTo>
                  <a:lnTo>
                    <a:pt x="1153668" y="129793"/>
                  </a:lnTo>
                  <a:lnTo>
                    <a:pt x="1153668" y="183641"/>
                  </a:lnTo>
                  <a:lnTo>
                    <a:pt x="1108583" y="183641"/>
                  </a:lnTo>
                  <a:lnTo>
                    <a:pt x="1108583" y="38608"/>
                  </a:lnTo>
                  <a:close/>
                </a:path>
                <a:path w="1302385" h="186054">
                  <a:moveTo>
                    <a:pt x="973201" y="38608"/>
                  </a:moveTo>
                  <a:lnTo>
                    <a:pt x="1018032" y="38608"/>
                  </a:lnTo>
                  <a:lnTo>
                    <a:pt x="1018032" y="147954"/>
                  </a:lnTo>
                  <a:lnTo>
                    <a:pt x="1088009" y="147954"/>
                  </a:lnTo>
                  <a:lnTo>
                    <a:pt x="1088009" y="183641"/>
                  </a:lnTo>
                  <a:lnTo>
                    <a:pt x="973201" y="183641"/>
                  </a:lnTo>
                  <a:lnTo>
                    <a:pt x="973201" y="38608"/>
                  </a:lnTo>
                  <a:close/>
                </a:path>
                <a:path w="1302385" h="186054">
                  <a:moveTo>
                    <a:pt x="826770" y="38608"/>
                  </a:moveTo>
                  <a:lnTo>
                    <a:pt x="946912" y="38608"/>
                  </a:lnTo>
                  <a:lnTo>
                    <a:pt x="946912" y="69468"/>
                  </a:lnTo>
                  <a:lnTo>
                    <a:pt x="871728" y="69468"/>
                  </a:lnTo>
                  <a:lnTo>
                    <a:pt x="871728" y="92583"/>
                  </a:lnTo>
                  <a:lnTo>
                    <a:pt x="941451" y="92583"/>
                  </a:lnTo>
                  <a:lnTo>
                    <a:pt x="941451" y="122174"/>
                  </a:lnTo>
                  <a:lnTo>
                    <a:pt x="871728" y="122174"/>
                  </a:lnTo>
                  <a:lnTo>
                    <a:pt x="871728" y="150749"/>
                  </a:lnTo>
                  <a:lnTo>
                    <a:pt x="949071" y="150749"/>
                  </a:lnTo>
                  <a:lnTo>
                    <a:pt x="949071" y="183641"/>
                  </a:lnTo>
                  <a:lnTo>
                    <a:pt x="826770" y="183641"/>
                  </a:lnTo>
                  <a:lnTo>
                    <a:pt x="826770" y="38608"/>
                  </a:lnTo>
                  <a:close/>
                </a:path>
                <a:path w="1302385" h="186054">
                  <a:moveTo>
                    <a:pt x="656463" y="38608"/>
                  </a:moveTo>
                  <a:lnTo>
                    <a:pt x="698373" y="38608"/>
                  </a:lnTo>
                  <a:lnTo>
                    <a:pt x="752983" y="118872"/>
                  </a:lnTo>
                  <a:lnTo>
                    <a:pt x="752983" y="38608"/>
                  </a:lnTo>
                  <a:lnTo>
                    <a:pt x="795274" y="38608"/>
                  </a:lnTo>
                  <a:lnTo>
                    <a:pt x="795274" y="183641"/>
                  </a:lnTo>
                  <a:lnTo>
                    <a:pt x="752983" y="183641"/>
                  </a:lnTo>
                  <a:lnTo>
                    <a:pt x="698627" y="104012"/>
                  </a:lnTo>
                  <a:lnTo>
                    <a:pt x="698627" y="183641"/>
                  </a:lnTo>
                  <a:lnTo>
                    <a:pt x="656463" y="183641"/>
                  </a:lnTo>
                  <a:lnTo>
                    <a:pt x="656463" y="38608"/>
                  </a:lnTo>
                  <a:close/>
                </a:path>
                <a:path w="1302385" h="186054">
                  <a:moveTo>
                    <a:pt x="1264158" y="0"/>
                  </a:moveTo>
                  <a:lnTo>
                    <a:pt x="1295273" y="0"/>
                  </a:lnTo>
                  <a:lnTo>
                    <a:pt x="1295273" y="29717"/>
                  </a:lnTo>
                  <a:lnTo>
                    <a:pt x="1264158" y="29717"/>
                  </a:lnTo>
                  <a:lnTo>
                    <a:pt x="1264158" y="0"/>
                  </a:lnTo>
                  <a:close/>
                </a:path>
              </a:pathLst>
            </a:custGeom>
            <a:ln w="10160">
              <a:solidFill>
                <a:srgbClr val="23406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1263396" y="4814303"/>
              <a:ext cx="741426" cy="206514"/>
            </a:xfrm>
            <a:prstGeom prst="rect">
              <a:avLst/>
            </a:prstGeom>
          </p:spPr>
        </p:pic>
        <p:sp>
          <p:nvSpPr>
            <p:cNvPr id="11" name="object 11"/>
            <p:cNvSpPr/>
            <p:nvPr/>
          </p:nvSpPr>
          <p:spPr>
            <a:xfrm>
              <a:off x="1300099" y="4844542"/>
              <a:ext cx="671195" cy="147955"/>
            </a:xfrm>
            <a:custGeom>
              <a:avLst/>
              <a:gdLst/>
              <a:ahLst/>
              <a:cxnLst/>
              <a:rect l="l" t="t" r="r" b="b"/>
              <a:pathLst>
                <a:path w="671194" h="147954">
                  <a:moveTo>
                    <a:pt x="262139" y="61468"/>
                  </a:moveTo>
                  <a:lnTo>
                    <a:pt x="216662" y="61468"/>
                  </a:lnTo>
                  <a:lnTo>
                    <a:pt x="220805" y="62611"/>
                  </a:lnTo>
                  <a:lnTo>
                    <a:pt x="220471" y="62611"/>
                  </a:lnTo>
                  <a:lnTo>
                    <a:pt x="222512" y="64643"/>
                  </a:lnTo>
                  <a:lnTo>
                    <a:pt x="224409" y="66421"/>
                  </a:lnTo>
                  <a:lnTo>
                    <a:pt x="225425" y="69977"/>
                  </a:lnTo>
                  <a:lnTo>
                    <a:pt x="225425" y="74803"/>
                  </a:lnTo>
                  <a:lnTo>
                    <a:pt x="220472" y="76835"/>
                  </a:lnTo>
                  <a:lnTo>
                    <a:pt x="215645" y="78486"/>
                  </a:lnTo>
                  <a:lnTo>
                    <a:pt x="206847" y="80748"/>
                  </a:lnTo>
                  <a:lnTo>
                    <a:pt x="200469" y="82200"/>
                  </a:lnTo>
                  <a:lnTo>
                    <a:pt x="181737" y="86106"/>
                  </a:lnTo>
                  <a:lnTo>
                    <a:pt x="173045" y="88177"/>
                  </a:lnTo>
                  <a:lnTo>
                    <a:pt x="148844" y="125730"/>
                  </a:lnTo>
                  <a:lnTo>
                    <a:pt x="152019" y="132842"/>
                  </a:lnTo>
                  <a:lnTo>
                    <a:pt x="187070" y="147447"/>
                  </a:lnTo>
                  <a:lnTo>
                    <a:pt x="196595" y="147447"/>
                  </a:lnTo>
                  <a:lnTo>
                    <a:pt x="227710" y="132207"/>
                  </a:lnTo>
                  <a:lnTo>
                    <a:pt x="265349" y="132207"/>
                  </a:lnTo>
                  <a:lnTo>
                    <a:pt x="265175" y="131445"/>
                  </a:lnTo>
                  <a:lnTo>
                    <a:pt x="264794" y="127635"/>
                  </a:lnTo>
                  <a:lnTo>
                    <a:pt x="264794" y="125095"/>
                  </a:lnTo>
                  <a:lnTo>
                    <a:pt x="197992" y="125095"/>
                  </a:lnTo>
                  <a:lnTo>
                    <a:pt x="194690" y="124079"/>
                  </a:lnTo>
                  <a:lnTo>
                    <a:pt x="190372" y="120015"/>
                  </a:lnTo>
                  <a:lnTo>
                    <a:pt x="189229" y="117475"/>
                  </a:lnTo>
                  <a:lnTo>
                    <a:pt x="189229" y="111506"/>
                  </a:lnTo>
                  <a:lnTo>
                    <a:pt x="190258" y="109220"/>
                  </a:lnTo>
                  <a:lnTo>
                    <a:pt x="190372" y="108966"/>
                  </a:lnTo>
                  <a:lnTo>
                    <a:pt x="192531" y="106807"/>
                  </a:lnTo>
                  <a:lnTo>
                    <a:pt x="194690" y="104775"/>
                  </a:lnTo>
                  <a:lnTo>
                    <a:pt x="199897" y="102616"/>
                  </a:lnTo>
                  <a:lnTo>
                    <a:pt x="214122" y="98933"/>
                  </a:lnTo>
                  <a:lnTo>
                    <a:pt x="219837" y="97155"/>
                  </a:lnTo>
                  <a:lnTo>
                    <a:pt x="225425" y="95123"/>
                  </a:lnTo>
                  <a:lnTo>
                    <a:pt x="264794" y="95123"/>
                  </a:lnTo>
                  <a:lnTo>
                    <a:pt x="264794" y="71247"/>
                  </a:lnTo>
                  <a:lnTo>
                    <a:pt x="263829" y="66421"/>
                  </a:lnTo>
                  <a:lnTo>
                    <a:pt x="263247" y="64643"/>
                  </a:lnTo>
                  <a:lnTo>
                    <a:pt x="262139" y="61468"/>
                  </a:lnTo>
                  <a:close/>
                </a:path>
                <a:path w="671194" h="147954">
                  <a:moveTo>
                    <a:pt x="265349" y="132207"/>
                  </a:moveTo>
                  <a:lnTo>
                    <a:pt x="227710" y="132207"/>
                  </a:lnTo>
                  <a:lnTo>
                    <a:pt x="228600" y="137413"/>
                  </a:lnTo>
                  <a:lnTo>
                    <a:pt x="229615" y="140208"/>
                  </a:lnTo>
                  <a:lnTo>
                    <a:pt x="230504" y="142367"/>
                  </a:lnTo>
                  <a:lnTo>
                    <a:pt x="232028" y="145034"/>
                  </a:lnTo>
                  <a:lnTo>
                    <a:pt x="269875" y="145034"/>
                  </a:lnTo>
                  <a:lnTo>
                    <a:pt x="267779" y="140843"/>
                  </a:lnTo>
                  <a:lnTo>
                    <a:pt x="267534" y="140208"/>
                  </a:lnTo>
                  <a:lnTo>
                    <a:pt x="266536" y="137413"/>
                  </a:lnTo>
                  <a:lnTo>
                    <a:pt x="265349" y="132207"/>
                  </a:lnTo>
                  <a:close/>
                </a:path>
                <a:path w="671194" h="147954">
                  <a:moveTo>
                    <a:pt x="264794" y="95123"/>
                  </a:moveTo>
                  <a:lnTo>
                    <a:pt x="225425" y="95123"/>
                  </a:lnTo>
                  <a:lnTo>
                    <a:pt x="225377" y="106807"/>
                  </a:lnTo>
                  <a:lnTo>
                    <a:pt x="224662" y="110617"/>
                  </a:lnTo>
                  <a:lnTo>
                    <a:pt x="221360" y="116967"/>
                  </a:lnTo>
                  <a:lnTo>
                    <a:pt x="218694" y="119634"/>
                  </a:lnTo>
                  <a:lnTo>
                    <a:pt x="214756" y="121793"/>
                  </a:lnTo>
                  <a:lnTo>
                    <a:pt x="210722" y="124079"/>
                  </a:lnTo>
                  <a:lnTo>
                    <a:pt x="210481" y="124079"/>
                  </a:lnTo>
                  <a:lnTo>
                    <a:pt x="206756" y="125095"/>
                  </a:lnTo>
                  <a:lnTo>
                    <a:pt x="264794" y="125095"/>
                  </a:lnTo>
                  <a:lnTo>
                    <a:pt x="264794" y="95123"/>
                  </a:lnTo>
                  <a:close/>
                </a:path>
                <a:path w="671194" h="147954">
                  <a:moveTo>
                    <a:pt x="214973" y="37713"/>
                  </a:moveTo>
                  <a:lnTo>
                    <a:pt x="197090" y="37713"/>
                  </a:lnTo>
                  <a:lnTo>
                    <a:pt x="191769" y="38100"/>
                  </a:lnTo>
                  <a:lnTo>
                    <a:pt x="155575" y="57912"/>
                  </a:lnTo>
                  <a:lnTo>
                    <a:pt x="152019" y="69977"/>
                  </a:lnTo>
                  <a:lnTo>
                    <a:pt x="190500" y="73913"/>
                  </a:lnTo>
                  <a:lnTo>
                    <a:pt x="192023" y="69469"/>
                  </a:lnTo>
                  <a:lnTo>
                    <a:pt x="194096" y="66421"/>
                  </a:lnTo>
                  <a:lnTo>
                    <a:pt x="196722" y="64643"/>
                  </a:lnTo>
                  <a:lnTo>
                    <a:pt x="200025" y="62611"/>
                  </a:lnTo>
                  <a:lnTo>
                    <a:pt x="204978" y="61468"/>
                  </a:lnTo>
                  <a:lnTo>
                    <a:pt x="262139" y="61468"/>
                  </a:lnTo>
                  <a:lnTo>
                    <a:pt x="261873" y="60706"/>
                  </a:lnTo>
                  <a:lnTo>
                    <a:pt x="229502" y="38717"/>
                  </a:lnTo>
                  <a:lnTo>
                    <a:pt x="222849" y="38100"/>
                  </a:lnTo>
                  <a:lnTo>
                    <a:pt x="223008" y="38100"/>
                  </a:lnTo>
                  <a:lnTo>
                    <a:pt x="214973" y="37713"/>
                  </a:lnTo>
                  <a:close/>
                </a:path>
                <a:path w="671194" h="147954">
                  <a:moveTo>
                    <a:pt x="466851" y="39878"/>
                  </a:moveTo>
                  <a:lnTo>
                    <a:pt x="426593" y="39878"/>
                  </a:lnTo>
                  <a:lnTo>
                    <a:pt x="426593" y="145034"/>
                  </a:lnTo>
                  <a:lnTo>
                    <a:pt x="466851" y="145034"/>
                  </a:lnTo>
                  <a:lnTo>
                    <a:pt x="466851" y="39878"/>
                  </a:lnTo>
                  <a:close/>
                </a:path>
                <a:path w="671194" h="147954">
                  <a:moveTo>
                    <a:pt x="529970" y="39878"/>
                  </a:moveTo>
                  <a:lnTo>
                    <a:pt x="492378" y="39878"/>
                  </a:lnTo>
                  <a:lnTo>
                    <a:pt x="492378" y="145034"/>
                  </a:lnTo>
                  <a:lnTo>
                    <a:pt x="532764" y="145034"/>
                  </a:lnTo>
                  <a:lnTo>
                    <a:pt x="532832" y="83185"/>
                  </a:lnTo>
                  <a:lnTo>
                    <a:pt x="534288" y="77724"/>
                  </a:lnTo>
                  <a:lnTo>
                    <a:pt x="537105" y="74295"/>
                  </a:lnTo>
                  <a:lnTo>
                    <a:pt x="540257" y="70612"/>
                  </a:lnTo>
                  <a:lnTo>
                    <a:pt x="543774" y="69087"/>
                  </a:lnTo>
                  <a:lnTo>
                    <a:pt x="670121" y="69087"/>
                  </a:lnTo>
                  <a:lnTo>
                    <a:pt x="668369" y="60499"/>
                  </a:lnTo>
                  <a:lnTo>
                    <a:pt x="666208" y="55245"/>
                  </a:lnTo>
                  <a:lnTo>
                    <a:pt x="529970" y="55245"/>
                  </a:lnTo>
                  <a:lnTo>
                    <a:pt x="529970" y="39878"/>
                  </a:lnTo>
                  <a:close/>
                </a:path>
                <a:path w="671194" h="147954">
                  <a:moveTo>
                    <a:pt x="612775" y="69087"/>
                  </a:moveTo>
                  <a:lnTo>
                    <a:pt x="551963" y="69087"/>
                  </a:lnTo>
                  <a:lnTo>
                    <a:pt x="553974" y="69723"/>
                  </a:lnTo>
                  <a:lnTo>
                    <a:pt x="558292" y="73025"/>
                  </a:lnTo>
                  <a:lnTo>
                    <a:pt x="561339" y="82550"/>
                  </a:lnTo>
                  <a:lnTo>
                    <a:pt x="561339" y="145034"/>
                  </a:lnTo>
                  <a:lnTo>
                    <a:pt x="601726" y="145034"/>
                  </a:lnTo>
                  <a:lnTo>
                    <a:pt x="601726" y="83185"/>
                  </a:lnTo>
                  <a:lnTo>
                    <a:pt x="603250" y="77724"/>
                  </a:lnTo>
                  <a:lnTo>
                    <a:pt x="606044" y="74295"/>
                  </a:lnTo>
                  <a:lnTo>
                    <a:pt x="608856" y="70993"/>
                  </a:lnTo>
                  <a:lnTo>
                    <a:pt x="608692" y="70993"/>
                  </a:lnTo>
                  <a:lnTo>
                    <a:pt x="612775" y="69087"/>
                  </a:lnTo>
                  <a:close/>
                </a:path>
                <a:path w="671194" h="147954">
                  <a:moveTo>
                    <a:pt x="670114" y="69087"/>
                  </a:moveTo>
                  <a:lnTo>
                    <a:pt x="621538" y="69087"/>
                  </a:lnTo>
                  <a:lnTo>
                    <a:pt x="624967" y="70993"/>
                  </a:lnTo>
                  <a:lnTo>
                    <a:pt x="627633" y="74549"/>
                  </a:lnTo>
                  <a:lnTo>
                    <a:pt x="629412" y="76835"/>
                  </a:lnTo>
                  <a:lnTo>
                    <a:pt x="630427" y="80391"/>
                  </a:lnTo>
                  <a:lnTo>
                    <a:pt x="630427" y="145034"/>
                  </a:lnTo>
                  <a:lnTo>
                    <a:pt x="670687" y="145034"/>
                  </a:lnTo>
                  <a:lnTo>
                    <a:pt x="670562" y="76835"/>
                  </a:lnTo>
                  <a:lnTo>
                    <a:pt x="670459" y="75057"/>
                  </a:lnTo>
                  <a:lnTo>
                    <a:pt x="670341" y="73025"/>
                  </a:lnTo>
                  <a:lnTo>
                    <a:pt x="670224" y="70993"/>
                  </a:lnTo>
                  <a:lnTo>
                    <a:pt x="670114" y="69087"/>
                  </a:lnTo>
                  <a:close/>
                </a:path>
                <a:path w="671194" h="147954">
                  <a:moveTo>
                    <a:pt x="574801" y="37592"/>
                  </a:moveTo>
                  <a:lnTo>
                    <a:pt x="558545" y="37592"/>
                  </a:lnTo>
                  <a:lnTo>
                    <a:pt x="551281" y="38988"/>
                  </a:lnTo>
                  <a:lnTo>
                    <a:pt x="551688" y="38988"/>
                  </a:lnTo>
                  <a:lnTo>
                    <a:pt x="546353" y="41656"/>
                  </a:lnTo>
                  <a:lnTo>
                    <a:pt x="540893" y="44323"/>
                  </a:lnTo>
                  <a:lnTo>
                    <a:pt x="535432" y="48895"/>
                  </a:lnTo>
                  <a:lnTo>
                    <a:pt x="529970" y="55245"/>
                  </a:lnTo>
                  <a:lnTo>
                    <a:pt x="598296" y="55245"/>
                  </a:lnTo>
                  <a:lnTo>
                    <a:pt x="595249" y="49403"/>
                  </a:lnTo>
                  <a:lnTo>
                    <a:pt x="591184" y="44958"/>
                  </a:lnTo>
                  <a:lnTo>
                    <a:pt x="586358" y="42037"/>
                  </a:lnTo>
                  <a:lnTo>
                    <a:pt x="581406" y="38988"/>
                  </a:lnTo>
                  <a:lnTo>
                    <a:pt x="574801" y="37592"/>
                  </a:lnTo>
                  <a:close/>
                </a:path>
                <a:path w="671194" h="147954">
                  <a:moveTo>
                    <a:pt x="634873" y="37592"/>
                  </a:moveTo>
                  <a:lnTo>
                    <a:pt x="627252" y="37592"/>
                  </a:lnTo>
                  <a:lnTo>
                    <a:pt x="619336" y="38988"/>
                  </a:lnTo>
                  <a:lnTo>
                    <a:pt x="620255" y="38988"/>
                  </a:lnTo>
                  <a:lnTo>
                    <a:pt x="615569" y="41275"/>
                  </a:lnTo>
                  <a:lnTo>
                    <a:pt x="610362" y="43687"/>
                  </a:lnTo>
                  <a:lnTo>
                    <a:pt x="604646" y="48387"/>
                  </a:lnTo>
                  <a:lnTo>
                    <a:pt x="598296" y="55245"/>
                  </a:lnTo>
                  <a:lnTo>
                    <a:pt x="666208" y="55245"/>
                  </a:lnTo>
                  <a:lnTo>
                    <a:pt x="642875" y="38213"/>
                  </a:lnTo>
                  <a:lnTo>
                    <a:pt x="634873" y="37592"/>
                  </a:lnTo>
                  <a:close/>
                </a:path>
                <a:path w="671194" h="147954">
                  <a:moveTo>
                    <a:pt x="330581" y="0"/>
                  </a:moveTo>
                  <a:lnTo>
                    <a:pt x="289432" y="0"/>
                  </a:lnTo>
                  <a:lnTo>
                    <a:pt x="289432" y="145034"/>
                  </a:lnTo>
                  <a:lnTo>
                    <a:pt x="330581" y="145034"/>
                  </a:lnTo>
                  <a:lnTo>
                    <a:pt x="330581" y="117729"/>
                  </a:lnTo>
                  <a:lnTo>
                    <a:pt x="345820" y="102870"/>
                  </a:lnTo>
                  <a:lnTo>
                    <a:pt x="387808" y="102870"/>
                  </a:lnTo>
                  <a:lnTo>
                    <a:pt x="372490" y="76708"/>
                  </a:lnTo>
                  <a:lnTo>
                    <a:pt x="374441" y="74803"/>
                  </a:lnTo>
                  <a:lnTo>
                    <a:pt x="330581" y="74803"/>
                  </a:lnTo>
                  <a:lnTo>
                    <a:pt x="330581" y="0"/>
                  </a:lnTo>
                  <a:close/>
                </a:path>
                <a:path w="671194" h="147954">
                  <a:moveTo>
                    <a:pt x="387808" y="102870"/>
                  </a:moveTo>
                  <a:lnTo>
                    <a:pt x="345820" y="102870"/>
                  </a:lnTo>
                  <a:lnTo>
                    <a:pt x="367030" y="145034"/>
                  </a:lnTo>
                  <a:lnTo>
                    <a:pt x="412495" y="145034"/>
                  </a:lnTo>
                  <a:lnTo>
                    <a:pt x="387808" y="102870"/>
                  </a:lnTo>
                  <a:close/>
                </a:path>
                <a:path w="671194" h="147954">
                  <a:moveTo>
                    <a:pt x="410209" y="39878"/>
                  </a:moveTo>
                  <a:lnTo>
                    <a:pt x="360680" y="39878"/>
                  </a:lnTo>
                  <a:lnTo>
                    <a:pt x="330581" y="74803"/>
                  </a:lnTo>
                  <a:lnTo>
                    <a:pt x="374441" y="74803"/>
                  </a:lnTo>
                  <a:lnTo>
                    <a:pt x="410209" y="39878"/>
                  </a:lnTo>
                  <a:close/>
                </a:path>
                <a:path w="671194" h="147954">
                  <a:moveTo>
                    <a:pt x="90550" y="35813"/>
                  </a:moveTo>
                  <a:lnTo>
                    <a:pt x="45719" y="35813"/>
                  </a:lnTo>
                  <a:lnTo>
                    <a:pt x="45719" y="145034"/>
                  </a:lnTo>
                  <a:lnTo>
                    <a:pt x="90550" y="145034"/>
                  </a:lnTo>
                  <a:lnTo>
                    <a:pt x="90550" y="35813"/>
                  </a:lnTo>
                  <a:close/>
                </a:path>
                <a:path w="671194" h="147954">
                  <a:moveTo>
                    <a:pt x="136270" y="0"/>
                  </a:moveTo>
                  <a:lnTo>
                    <a:pt x="0" y="0"/>
                  </a:lnTo>
                  <a:lnTo>
                    <a:pt x="0" y="35813"/>
                  </a:lnTo>
                  <a:lnTo>
                    <a:pt x="136270" y="35813"/>
                  </a:lnTo>
                  <a:lnTo>
                    <a:pt x="136270" y="0"/>
                  </a:lnTo>
                  <a:close/>
                </a:path>
              </a:pathLst>
            </a:custGeom>
            <a:solidFill>
              <a:srgbClr val="FFFFFF"/>
            </a:solidFill>
          </p:spPr>
          <p:txBody>
            <a:bodyPr wrap="square" lIns="0" tIns="0" rIns="0" bIns="0" rtlCol="0"/>
            <a:lstStyle/>
            <a:p>
              <a:endParaRPr/>
            </a:p>
          </p:txBody>
        </p:sp>
        <p:sp>
          <p:nvSpPr>
            <p:cNvPr id="12" name="object 12"/>
            <p:cNvSpPr/>
            <p:nvPr/>
          </p:nvSpPr>
          <p:spPr>
            <a:xfrm>
              <a:off x="1300099" y="4844542"/>
              <a:ext cx="671195" cy="147955"/>
            </a:xfrm>
            <a:custGeom>
              <a:avLst/>
              <a:gdLst/>
              <a:ahLst/>
              <a:cxnLst/>
              <a:rect l="l" t="t" r="r" b="b"/>
              <a:pathLst>
                <a:path w="671194" h="147954">
                  <a:moveTo>
                    <a:pt x="225425" y="95123"/>
                  </a:moveTo>
                  <a:lnTo>
                    <a:pt x="219837" y="97155"/>
                  </a:lnTo>
                  <a:lnTo>
                    <a:pt x="214122" y="98933"/>
                  </a:lnTo>
                  <a:lnTo>
                    <a:pt x="208153" y="100457"/>
                  </a:lnTo>
                  <a:lnTo>
                    <a:pt x="199897" y="102616"/>
                  </a:lnTo>
                  <a:lnTo>
                    <a:pt x="194690" y="104775"/>
                  </a:lnTo>
                  <a:lnTo>
                    <a:pt x="192531" y="106807"/>
                  </a:lnTo>
                  <a:lnTo>
                    <a:pt x="190372" y="108966"/>
                  </a:lnTo>
                  <a:lnTo>
                    <a:pt x="189229" y="111506"/>
                  </a:lnTo>
                  <a:lnTo>
                    <a:pt x="189229" y="114300"/>
                  </a:lnTo>
                  <a:lnTo>
                    <a:pt x="189229" y="117475"/>
                  </a:lnTo>
                  <a:lnTo>
                    <a:pt x="190372" y="120015"/>
                  </a:lnTo>
                  <a:lnTo>
                    <a:pt x="192531" y="122047"/>
                  </a:lnTo>
                  <a:lnTo>
                    <a:pt x="194690" y="124079"/>
                  </a:lnTo>
                  <a:lnTo>
                    <a:pt x="197992" y="125095"/>
                  </a:lnTo>
                  <a:lnTo>
                    <a:pt x="202310" y="125095"/>
                  </a:lnTo>
                  <a:lnTo>
                    <a:pt x="206756" y="125095"/>
                  </a:lnTo>
                  <a:lnTo>
                    <a:pt x="210947" y="123952"/>
                  </a:lnTo>
                  <a:lnTo>
                    <a:pt x="214756" y="121793"/>
                  </a:lnTo>
                  <a:lnTo>
                    <a:pt x="218694" y="119634"/>
                  </a:lnTo>
                  <a:lnTo>
                    <a:pt x="221360" y="116967"/>
                  </a:lnTo>
                  <a:lnTo>
                    <a:pt x="223012" y="113792"/>
                  </a:lnTo>
                  <a:lnTo>
                    <a:pt x="224662" y="110617"/>
                  </a:lnTo>
                  <a:lnTo>
                    <a:pt x="225425" y="106553"/>
                  </a:lnTo>
                  <a:lnTo>
                    <a:pt x="225425" y="101600"/>
                  </a:lnTo>
                  <a:lnTo>
                    <a:pt x="225425" y="95123"/>
                  </a:lnTo>
                  <a:close/>
                </a:path>
                <a:path w="671194" h="147954">
                  <a:moveTo>
                    <a:pt x="426593" y="39878"/>
                  </a:moveTo>
                  <a:lnTo>
                    <a:pt x="466851" y="39878"/>
                  </a:lnTo>
                  <a:lnTo>
                    <a:pt x="466851" y="145034"/>
                  </a:lnTo>
                  <a:lnTo>
                    <a:pt x="426593" y="145034"/>
                  </a:lnTo>
                  <a:lnTo>
                    <a:pt x="426593" y="39878"/>
                  </a:lnTo>
                  <a:close/>
                </a:path>
                <a:path w="671194" h="147954">
                  <a:moveTo>
                    <a:pt x="566419" y="37592"/>
                  </a:moveTo>
                  <a:lnTo>
                    <a:pt x="574801" y="37592"/>
                  </a:lnTo>
                  <a:lnTo>
                    <a:pt x="581406" y="38988"/>
                  </a:lnTo>
                  <a:lnTo>
                    <a:pt x="586358" y="42037"/>
                  </a:lnTo>
                  <a:lnTo>
                    <a:pt x="591184" y="44958"/>
                  </a:lnTo>
                  <a:lnTo>
                    <a:pt x="595249" y="49403"/>
                  </a:lnTo>
                  <a:lnTo>
                    <a:pt x="598296" y="55245"/>
                  </a:lnTo>
                  <a:lnTo>
                    <a:pt x="604646" y="48387"/>
                  </a:lnTo>
                  <a:lnTo>
                    <a:pt x="610362" y="43687"/>
                  </a:lnTo>
                  <a:lnTo>
                    <a:pt x="615569" y="41275"/>
                  </a:lnTo>
                  <a:lnTo>
                    <a:pt x="620776" y="38735"/>
                  </a:lnTo>
                  <a:lnTo>
                    <a:pt x="627252" y="37592"/>
                  </a:lnTo>
                  <a:lnTo>
                    <a:pt x="634873" y="37592"/>
                  </a:lnTo>
                  <a:lnTo>
                    <a:pt x="668369" y="60499"/>
                  </a:lnTo>
                  <a:lnTo>
                    <a:pt x="670687" y="78994"/>
                  </a:lnTo>
                  <a:lnTo>
                    <a:pt x="670687" y="145034"/>
                  </a:lnTo>
                  <a:lnTo>
                    <a:pt x="630427" y="145034"/>
                  </a:lnTo>
                  <a:lnTo>
                    <a:pt x="630427" y="85217"/>
                  </a:lnTo>
                  <a:lnTo>
                    <a:pt x="630427" y="80391"/>
                  </a:lnTo>
                  <a:lnTo>
                    <a:pt x="629412" y="76835"/>
                  </a:lnTo>
                  <a:lnTo>
                    <a:pt x="627633" y="74549"/>
                  </a:lnTo>
                  <a:lnTo>
                    <a:pt x="624967" y="70993"/>
                  </a:lnTo>
                  <a:lnTo>
                    <a:pt x="621538" y="69087"/>
                  </a:lnTo>
                  <a:lnTo>
                    <a:pt x="617601" y="69087"/>
                  </a:lnTo>
                  <a:lnTo>
                    <a:pt x="612775" y="69087"/>
                  </a:lnTo>
                  <a:lnTo>
                    <a:pt x="608964" y="70866"/>
                  </a:lnTo>
                  <a:lnTo>
                    <a:pt x="606044" y="74295"/>
                  </a:lnTo>
                  <a:lnTo>
                    <a:pt x="603250" y="77724"/>
                  </a:lnTo>
                  <a:lnTo>
                    <a:pt x="601726" y="83185"/>
                  </a:lnTo>
                  <a:lnTo>
                    <a:pt x="601726" y="90805"/>
                  </a:lnTo>
                  <a:lnTo>
                    <a:pt x="601726" y="145034"/>
                  </a:lnTo>
                  <a:lnTo>
                    <a:pt x="561339" y="145034"/>
                  </a:lnTo>
                  <a:lnTo>
                    <a:pt x="561339" y="87122"/>
                  </a:lnTo>
                  <a:lnTo>
                    <a:pt x="561339" y="82550"/>
                  </a:lnTo>
                  <a:lnTo>
                    <a:pt x="556132" y="71374"/>
                  </a:lnTo>
                  <a:lnTo>
                    <a:pt x="553974" y="69723"/>
                  </a:lnTo>
                  <a:lnTo>
                    <a:pt x="551561" y="68961"/>
                  </a:lnTo>
                  <a:lnTo>
                    <a:pt x="548639" y="68961"/>
                  </a:lnTo>
                  <a:lnTo>
                    <a:pt x="544068" y="68961"/>
                  </a:lnTo>
                  <a:lnTo>
                    <a:pt x="540257" y="70612"/>
                  </a:lnTo>
                  <a:lnTo>
                    <a:pt x="537209" y="74168"/>
                  </a:lnTo>
                  <a:lnTo>
                    <a:pt x="534288" y="77724"/>
                  </a:lnTo>
                  <a:lnTo>
                    <a:pt x="532764" y="83438"/>
                  </a:lnTo>
                  <a:lnTo>
                    <a:pt x="532764" y="91440"/>
                  </a:lnTo>
                  <a:lnTo>
                    <a:pt x="532764" y="145034"/>
                  </a:lnTo>
                  <a:lnTo>
                    <a:pt x="492378" y="145034"/>
                  </a:lnTo>
                  <a:lnTo>
                    <a:pt x="492378" y="39878"/>
                  </a:lnTo>
                  <a:lnTo>
                    <a:pt x="529970" y="39878"/>
                  </a:lnTo>
                  <a:lnTo>
                    <a:pt x="529970" y="55245"/>
                  </a:lnTo>
                  <a:lnTo>
                    <a:pt x="535432" y="48895"/>
                  </a:lnTo>
                  <a:lnTo>
                    <a:pt x="540893" y="44323"/>
                  </a:lnTo>
                  <a:lnTo>
                    <a:pt x="546353" y="41656"/>
                  </a:lnTo>
                  <a:lnTo>
                    <a:pt x="551942" y="38862"/>
                  </a:lnTo>
                  <a:lnTo>
                    <a:pt x="558545" y="37592"/>
                  </a:lnTo>
                  <a:lnTo>
                    <a:pt x="566419" y="37592"/>
                  </a:lnTo>
                  <a:close/>
                </a:path>
                <a:path w="671194" h="147954">
                  <a:moveTo>
                    <a:pt x="206375" y="37592"/>
                  </a:moveTo>
                  <a:lnTo>
                    <a:pt x="248792" y="43815"/>
                  </a:lnTo>
                  <a:lnTo>
                    <a:pt x="264794" y="71247"/>
                  </a:lnTo>
                  <a:lnTo>
                    <a:pt x="264794" y="76200"/>
                  </a:lnTo>
                  <a:lnTo>
                    <a:pt x="264794" y="122682"/>
                  </a:lnTo>
                  <a:lnTo>
                    <a:pt x="264794" y="127635"/>
                  </a:lnTo>
                  <a:lnTo>
                    <a:pt x="265175" y="131445"/>
                  </a:lnTo>
                  <a:lnTo>
                    <a:pt x="265810" y="134238"/>
                  </a:lnTo>
                  <a:lnTo>
                    <a:pt x="266445" y="137160"/>
                  </a:lnTo>
                  <a:lnTo>
                    <a:pt x="267716" y="140716"/>
                  </a:lnTo>
                  <a:lnTo>
                    <a:pt x="269875" y="145034"/>
                  </a:lnTo>
                  <a:lnTo>
                    <a:pt x="232028" y="145034"/>
                  </a:lnTo>
                  <a:lnTo>
                    <a:pt x="227710" y="132207"/>
                  </a:lnTo>
                  <a:lnTo>
                    <a:pt x="222376" y="137287"/>
                  </a:lnTo>
                  <a:lnTo>
                    <a:pt x="217169" y="140843"/>
                  </a:lnTo>
                  <a:lnTo>
                    <a:pt x="211962" y="143002"/>
                  </a:lnTo>
                  <a:lnTo>
                    <a:pt x="204850" y="145923"/>
                  </a:lnTo>
                  <a:lnTo>
                    <a:pt x="196595" y="147447"/>
                  </a:lnTo>
                  <a:lnTo>
                    <a:pt x="187070" y="147447"/>
                  </a:lnTo>
                  <a:lnTo>
                    <a:pt x="148844" y="125730"/>
                  </a:lnTo>
                  <a:lnTo>
                    <a:pt x="148844" y="117221"/>
                  </a:lnTo>
                  <a:lnTo>
                    <a:pt x="148844" y="109220"/>
                  </a:lnTo>
                  <a:lnTo>
                    <a:pt x="181737" y="86106"/>
                  </a:lnTo>
                  <a:lnTo>
                    <a:pt x="192091" y="83986"/>
                  </a:lnTo>
                  <a:lnTo>
                    <a:pt x="200469" y="82200"/>
                  </a:lnTo>
                  <a:lnTo>
                    <a:pt x="225425" y="74803"/>
                  </a:lnTo>
                  <a:lnTo>
                    <a:pt x="225425" y="69977"/>
                  </a:lnTo>
                  <a:lnTo>
                    <a:pt x="224409" y="66421"/>
                  </a:lnTo>
                  <a:lnTo>
                    <a:pt x="222376" y="64516"/>
                  </a:lnTo>
                  <a:lnTo>
                    <a:pt x="220344" y="62484"/>
                  </a:lnTo>
                  <a:lnTo>
                    <a:pt x="216662" y="61468"/>
                  </a:lnTo>
                  <a:lnTo>
                    <a:pt x="211581" y="61468"/>
                  </a:lnTo>
                  <a:lnTo>
                    <a:pt x="204978" y="61468"/>
                  </a:lnTo>
                  <a:lnTo>
                    <a:pt x="190500" y="73913"/>
                  </a:lnTo>
                  <a:lnTo>
                    <a:pt x="152019" y="69977"/>
                  </a:lnTo>
                  <a:lnTo>
                    <a:pt x="178942" y="40386"/>
                  </a:lnTo>
                  <a:lnTo>
                    <a:pt x="198754" y="37592"/>
                  </a:lnTo>
                  <a:lnTo>
                    <a:pt x="206375" y="37592"/>
                  </a:lnTo>
                  <a:close/>
                </a:path>
                <a:path w="671194" h="147954">
                  <a:moveTo>
                    <a:pt x="289432" y="0"/>
                  </a:moveTo>
                  <a:lnTo>
                    <a:pt x="330581" y="0"/>
                  </a:lnTo>
                  <a:lnTo>
                    <a:pt x="330581" y="74803"/>
                  </a:lnTo>
                  <a:lnTo>
                    <a:pt x="360680" y="39878"/>
                  </a:lnTo>
                  <a:lnTo>
                    <a:pt x="410209" y="39878"/>
                  </a:lnTo>
                  <a:lnTo>
                    <a:pt x="372490" y="76708"/>
                  </a:lnTo>
                  <a:lnTo>
                    <a:pt x="412495" y="145034"/>
                  </a:lnTo>
                  <a:lnTo>
                    <a:pt x="367030" y="145034"/>
                  </a:lnTo>
                  <a:lnTo>
                    <a:pt x="345820" y="102870"/>
                  </a:lnTo>
                  <a:lnTo>
                    <a:pt x="330581" y="117729"/>
                  </a:lnTo>
                  <a:lnTo>
                    <a:pt x="330581" y="145034"/>
                  </a:lnTo>
                  <a:lnTo>
                    <a:pt x="289432" y="145034"/>
                  </a:lnTo>
                  <a:lnTo>
                    <a:pt x="289432" y="0"/>
                  </a:lnTo>
                  <a:close/>
                </a:path>
                <a:path w="671194" h="147954">
                  <a:moveTo>
                    <a:pt x="0" y="0"/>
                  </a:moveTo>
                  <a:lnTo>
                    <a:pt x="136270" y="0"/>
                  </a:lnTo>
                  <a:lnTo>
                    <a:pt x="136270" y="35813"/>
                  </a:lnTo>
                  <a:lnTo>
                    <a:pt x="90550" y="35813"/>
                  </a:lnTo>
                  <a:lnTo>
                    <a:pt x="90550" y="145034"/>
                  </a:lnTo>
                  <a:lnTo>
                    <a:pt x="45719" y="145034"/>
                  </a:lnTo>
                  <a:lnTo>
                    <a:pt x="45719" y="35813"/>
                  </a:lnTo>
                  <a:lnTo>
                    <a:pt x="0" y="35813"/>
                  </a:lnTo>
                  <a:lnTo>
                    <a:pt x="0" y="0"/>
                  </a:lnTo>
                  <a:close/>
                </a:path>
              </a:pathLst>
            </a:custGeom>
            <a:ln w="10160">
              <a:solidFill>
                <a:srgbClr val="234060"/>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2011680" y="4811280"/>
              <a:ext cx="1379982" cy="209537"/>
            </a:xfrm>
            <a:prstGeom prst="rect">
              <a:avLst/>
            </a:prstGeom>
          </p:spPr>
        </p:pic>
        <p:pic>
          <p:nvPicPr>
            <p:cNvPr id="14" name="object 14"/>
            <p:cNvPicPr/>
            <p:nvPr/>
          </p:nvPicPr>
          <p:blipFill>
            <a:blip r:embed="rId5" cstate="print"/>
            <a:stretch>
              <a:fillRect/>
            </a:stretch>
          </p:blipFill>
          <p:spPr>
            <a:xfrm>
              <a:off x="2050669" y="4836922"/>
              <a:ext cx="1307337" cy="160146"/>
            </a:xfrm>
            <a:prstGeom prst="rect">
              <a:avLst/>
            </a:prstGeom>
          </p:spPr>
        </p:pic>
        <p:pic>
          <p:nvPicPr>
            <p:cNvPr id="15" name="object 15"/>
            <p:cNvPicPr/>
            <p:nvPr/>
          </p:nvPicPr>
          <p:blipFill>
            <a:blip r:embed="rId6" cstate="print"/>
            <a:stretch>
              <a:fillRect/>
            </a:stretch>
          </p:blipFill>
          <p:spPr>
            <a:xfrm>
              <a:off x="1258824" y="5579376"/>
              <a:ext cx="2372105" cy="250685"/>
            </a:xfrm>
            <a:prstGeom prst="rect">
              <a:avLst/>
            </a:prstGeom>
          </p:spPr>
        </p:pic>
        <p:pic>
          <p:nvPicPr>
            <p:cNvPr id="16" name="object 16"/>
            <p:cNvPicPr/>
            <p:nvPr/>
          </p:nvPicPr>
          <p:blipFill>
            <a:blip r:embed="rId7" cstate="print"/>
            <a:stretch>
              <a:fillRect/>
            </a:stretch>
          </p:blipFill>
          <p:spPr>
            <a:xfrm>
              <a:off x="1305306" y="5605018"/>
              <a:ext cx="2280031" cy="20053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920241"/>
            <a:ext cx="1320165" cy="239395"/>
          </a:xfrm>
          <a:prstGeom prst="rect">
            <a:avLst/>
          </a:prstGeom>
        </p:spPr>
        <p:txBody>
          <a:bodyPr vert="horz" wrap="square" lIns="0" tIns="12700" rIns="0" bIns="0" rtlCol="0">
            <a:spAutoFit/>
          </a:bodyPr>
          <a:lstStyle/>
          <a:p>
            <a:pPr marL="12700">
              <a:lnSpc>
                <a:spcPct val="100000"/>
              </a:lnSpc>
              <a:spcBef>
                <a:spcPts val="100"/>
              </a:spcBef>
            </a:pPr>
            <a:r>
              <a:rPr sz="1400" spc="-10">
                <a:latin typeface="Arial Black"/>
                <a:cs typeface="Arial Black"/>
              </a:rPr>
              <a:t>İÇİNDEKİLER</a:t>
            </a:r>
            <a:endParaRPr sz="1400">
              <a:latin typeface="Arial Black"/>
              <a:cs typeface="Arial Black"/>
            </a:endParaRPr>
          </a:p>
        </p:txBody>
      </p:sp>
      <p:sp>
        <p:nvSpPr>
          <p:cNvPr id="3" name="object 3"/>
          <p:cNvSpPr txBox="1"/>
          <p:nvPr/>
        </p:nvSpPr>
        <p:spPr>
          <a:xfrm>
            <a:off x="969645" y="1561846"/>
            <a:ext cx="5964555" cy="5541773"/>
          </a:xfrm>
          <a:prstGeom prst="rect">
            <a:avLst/>
          </a:prstGeom>
        </p:spPr>
        <p:txBody>
          <a:bodyPr vert="horz" wrap="square" lIns="0" tIns="12700" rIns="0" bIns="0" rtlCol="0">
            <a:spAutoFit/>
          </a:bodyPr>
          <a:lstStyle/>
          <a:p>
            <a:pPr marR="381000">
              <a:lnSpc>
                <a:spcPct val="114000"/>
              </a:lnSpc>
              <a:spcBef>
                <a:spcPts val="30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2" action="ppaction://hlinkfile"/>
              </a:rPr>
              <a:t>İÇİNDEKİLER</a:t>
            </a:r>
            <a:r>
              <a:rPr lang="tr-TR" sz="1100" u="none" strike="noStrike">
                <a:solidFill>
                  <a:srgbClr val="0000FF"/>
                </a:solidFill>
                <a:effectLst/>
                <a:latin typeface="Arial" panose="020B0604020202020204" pitchFamily="34" charset="0"/>
                <a:ea typeface="Arial" panose="020B0604020202020204" pitchFamily="34" charset="0"/>
                <a:hlinkClick r:id="rId2" action="ppaction://hlinkfile"/>
              </a:rPr>
              <a:t>	1</a:t>
            </a:r>
            <a:endParaRPr lang="tr-TR" sz="1100">
              <a:effectLst/>
              <a:latin typeface="Arial" panose="020B0604020202020204" pitchFamily="34" charset="0"/>
              <a:ea typeface="Arial" panose="020B0604020202020204" pitchFamily="34" charset="0"/>
            </a:endParaRPr>
          </a:p>
          <a:p>
            <a:pPr marR="381000">
              <a:lnSpc>
                <a:spcPct val="114000"/>
              </a:lnSpc>
              <a:spcBef>
                <a:spcPts val="30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3" action="ppaction://hlinkfile"/>
              </a:rPr>
              <a:t>ŞEKİL LİSTESİ</a:t>
            </a:r>
            <a:r>
              <a:rPr lang="tr-TR" sz="1100" u="none" strike="noStrike">
                <a:solidFill>
                  <a:srgbClr val="0000FF"/>
                </a:solidFill>
                <a:effectLst/>
                <a:latin typeface="Arial" panose="020B0604020202020204" pitchFamily="34" charset="0"/>
                <a:ea typeface="Arial" panose="020B0604020202020204" pitchFamily="34" charset="0"/>
                <a:hlinkClick r:id="rId3" action="ppaction://hlinkfile"/>
              </a:rPr>
              <a:t>	1</a:t>
            </a:r>
            <a:endParaRPr lang="tr-TR" sz="1100">
              <a:effectLst/>
              <a:latin typeface="Arial" panose="020B0604020202020204" pitchFamily="34" charset="0"/>
              <a:ea typeface="Arial" panose="020B0604020202020204" pitchFamily="34" charset="0"/>
            </a:endParaRPr>
          </a:p>
          <a:p>
            <a:pPr marR="381000">
              <a:lnSpc>
                <a:spcPct val="114000"/>
              </a:lnSpc>
              <a:spcBef>
                <a:spcPts val="30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4" action="ppaction://hlinkfile"/>
              </a:rPr>
              <a:t>TABLO LİSTESİ</a:t>
            </a:r>
            <a:r>
              <a:rPr lang="tr-TR" sz="1100" u="none" strike="noStrike">
                <a:solidFill>
                  <a:srgbClr val="0000FF"/>
                </a:solidFill>
                <a:effectLst/>
                <a:latin typeface="Arial" panose="020B0604020202020204" pitchFamily="34" charset="0"/>
                <a:ea typeface="Arial" panose="020B0604020202020204" pitchFamily="34" charset="0"/>
                <a:hlinkClick r:id="rId4" action="ppaction://hlinkfile"/>
              </a:rPr>
              <a:t>	2</a:t>
            </a:r>
            <a:endParaRPr lang="tr-TR" sz="1100">
              <a:effectLst/>
              <a:latin typeface="Arial" panose="020B0604020202020204" pitchFamily="34" charset="0"/>
              <a:ea typeface="Arial" panose="020B0604020202020204" pitchFamily="34" charset="0"/>
            </a:endParaRPr>
          </a:p>
          <a:p>
            <a:pPr marR="381000">
              <a:lnSpc>
                <a:spcPct val="114000"/>
              </a:lnSpc>
              <a:spcBef>
                <a:spcPts val="30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5" action="ppaction://hlinkfile"/>
              </a:rPr>
              <a:t>KISALTMALAR</a:t>
            </a:r>
            <a:r>
              <a:rPr lang="tr-TR" sz="1100" u="none" strike="noStrike">
                <a:solidFill>
                  <a:srgbClr val="0000FF"/>
                </a:solidFill>
                <a:effectLst/>
                <a:latin typeface="Arial" panose="020B0604020202020204" pitchFamily="34" charset="0"/>
                <a:ea typeface="Arial" panose="020B0604020202020204" pitchFamily="34" charset="0"/>
                <a:hlinkClick r:id="rId5" action="ppaction://hlinkfile"/>
              </a:rPr>
              <a:t>	2</a:t>
            </a:r>
            <a:endParaRPr lang="tr-TR" sz="1100">
              <a:effectLst/>
              <a:latin typeface="Arial" panose="020B0604020202020204" pitchFamily="34" charset="0"/>
              <a:ea typeface="Arial" panose="020B0604020202020204" pitchFamily="34" charset="0"/>
            </a:endParaRPr>
          </a:p>
          <a:p>
            <a:pPr marL="140335" marR="381635">
              <a:spcBef>
                <a:spcPts val="1200"/>
              </a:spcBef>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6" action="ppaction://hlinkfile"/>
              </a:rPr>
              <a:t>1. TAKIM YAPISI VE GÖREV DAĞILIMI</a:t>
            </a:r>
            <a:r>
              <a:rPr lang="tr-TR" sz="1100" u="none" strike="noStrike">
                <a:solidFill>
                  <a:srgbClr val="0000FF"/>
                </a:solidFill>
                <a:effectLst/>
                <a:latin typeface="Arial" panose="020B0604020202020204" pitchFamily="34" charset="0"/>
                <a:ea typeface="Arial" panose="020B0604020202020204" pitchFamily="34" charset="0"/>
                <a:hlinkClick r:id="rId6" action="ppaction://hlinkfile"/>
              </a:rPr>
              <a:t>	3</a:t>
            </a:r>
            <a:endParaRPr lang="tr-TR" sz="1100">
              <a:effectLst/>
              <a:latin typeface="Arial" panose="020B0604020202020204" pitchFamily="34" charset="0"/>
              <a:ea typeface="Arial" panose="020B0604020202020204" pitchFamily="34" charset="0"/>
            </a:endParaRPr>
          </a:p>
          <a:p>
            <a:pPr marL="140335" marR="381635">
              <a:spcBef>
                <a:spcPts val="1200"/>
              </a:spcBef>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7" action="ppaction://hlinkfile"/>
              </a:rPr>
              <a:t>2. PROJE ÖZETİ</a:t>
            </a:r>
            <a:r>
              <a:rPr lang="tr-TR" sz="1100" u="none" strike="noStrike">
                <a:solidFill>
                  <a:srgbClr val="0000FF"/>
                </a:solidFill>
                <a:effectLst/>
                <a:latin typeface="Arial" panose="020B0604020202020204" pitchFamily="34" charset="0"/>
                <a:ea typeface="Arial" panose="020B0604020202020204" pitchFamily="34" charset="0"/>
                <a:hlinkClick r:id="rId7" action="ppaction://hlinkfile"/>
              </a:rPr>
              <a:t>	4</a:t>
            </a:r>
            <a:endParaRPr lang="tr-TR" sz="1100">
              <a:effectLst/>
              <a:latin typeface="Arial" panose="020B0604020202020204" pitchFamily="34" charset="0"/>
              <a:ea typeface="Arial" panose="020B0604020202020204" pitchFamily="34" charset="0"/>
            </a:endParaRPr>
          </a:p>
          <a:p>
            <a:pPr marL="140335" marR="381635">
              <a:spcBef>
                <a:spcPts val="1200"/>
              </a:spcBef>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8" action="ppaction://hlinkfile"/>
              </a:rPr>
              <a:t>3. ALGORİTMALAR VE SİSTEM MİMARİSİ</a:t>
            </a:r>
            <a:r>
              <a:rPr lang="tr-TR" sz="1100" u="none" strike="noStrike">
                <a:solidFill>
                  <a:srgbClr val="0000FF"/>
                </a:solidFill>
                <a:effectLst/>
                <a:latin typeface="Arial" panose="020B0604020202020204" pitchFamily="34" charset="0"/>
                <a:ea typeface="Arial" panose="020B0604020202020204" pitchFamily="34" charset="0"/>
                <a:hlinkClick r:id="rId8" action="ppaction://hlinkfile"/>
              </a:rPr>
              <a:t>	4</a:t>
            </a:r>
            <a:endParaRPr lang="tr-TR" sz="1100">
              <a:effectLst/>
              <a:latin typeface="Arial" panose="020B0604020202020204" pitchFamily="34" charset="0"/>
              <a:ea typeface="Arial" panose="020B0604020202020204" pitchFamily="34" charset="0"/>
            </a:endParaRPr>
          </a:p>
          <a:p>
            <a:pPr marL="280670" marR="381635">
              <a:lnSpc>
                <a:spcPct val="115000"/>
              </a:lnSpc>
              <a:spcBef>
                <a:spcPts val="12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9" action="ppaction://hlinkfile"/>
              </a:rPr>
              <a:t>3.1. Veri Setleri</a:t>
            </a:r>
            <a:r>
              <a:rPr lang="tr-TR" sz="1100" u="none" strike="noStrike">
                <a:solidFill>
                  <a:srgbClr val="0000FF"/>
                </a:solidFill>
                <a:effectLst/>
                <a:latin typeface="Arial" panose="020B0604020202020204" pitchFamily="34" charset="0"/>
                <a:ea typeface="Arial" panose="020B0604020202020204" pitchFamily="34" charset="0"/>
                <a:hlinkClick r:id="rId9" action="ppaction://hlinkfile"/>
              </a:rPr>
              <a:t>	4</a:t>
            </a:r>
            <a:endParaRPr lang="tr-TR" sz="1100">
              <a:effectLst/>
              <a:latin typeface="Arial" panose="020B0604020202020204" pitchFamily="34" charset="0"/>
              <a:ea typeface="Arial" panose="020B0604020202020204" pitchFamily="34" charset="0"/>
            </a:endParaRPr>
          </a:p>
          <a:p>
            <a:pPr marL="280670" marR="381635">
              <a:lnSpc>
                <a:spcPct val="115000"/>
              </a:lnSpc>
              <a:spcBef>
                <a:spcPts val="12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10" action="ppaction://hlinkfile"/>
              </a:rPr>
              <a:t>3.2. Algoritmalar</a:t>
            </a:r>
            <a:r>
              <a:rPr lang="tr-TR" sz="1100" u="none" strike="noStrike">
                <a:solidFill>
                  <a:srgbClr val="0000FF"/>
                </a:solidFill>
                <a:effectLst/>
                <a:latin typeface="Arial" panose="020B0604020202020204" pitchFamily="34" charset="0"/>
                <a:ea typeface="Arial" panose="020B0604020202020204" pitchFamily="34" charset="0"/>
                <a:hlinkClick r:id="rId10" action="ppaction://hlinkfile"/>
              </a:rPr>
              <a:t>	5</a:t>
            </a:r>
            <a:endParaRPr lang="tr-TR" sz="1100">
              <a:effectLst/>
              <a:latin typeface="Arial" panose="020B0604020202020204" pitchFamily="34" charset="0"/>
              <a:ea typeface="Arial" panose="020B0604020202020204" pitchFamily="34" charset="0"/>
            </a:endParaRPr>
          </a:p>
          <a:p>
            <a:pPr marL="280670" marR="381635">
              <a:lnSpc>
                <a:spcPct val="115000"/>
              </a:lnSpc>
              <a:spcBef>
                <a:spcPts val="1200"/>
              </a:spcBef>
              <a:spcAft>
                <a:spcPts val="500"/>
              </a:spcAft>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11" action="ppaction://hlinkfile"/>
              </a:rPr>
              <a:t>3.3. Akış Şeması</a:t>
            </a:r>
            <a:r>
              <a:rPr lang="tr-TR" sz="1100" u="none" strike="noStrike">
                <a:solidFill>
                  <a:srgbClr val="0000FF"/>
                </a:solidFill>
                <a:effectLst/>
                <a:latin typeface="Arial" panose="020B0604020202020204" pitchFamily="34" charset="0"/>
                <a:ea typeface="Arial" panose="020B0604020202020204" pitchFamily="34" charset="0"/>
                <a:hlinkClick r:id="rId11" action="ppaction://hlinkfile"/>
              </a:rPr>
              <a:t>	7</a:t>
            </a:r>
            <a:endParaRPr lang="tr-TR" sz="1100">
              <a:effectLst/>
              <a:latin typeface="Arial" panose="020B0604020202020204" pitchFamily="34" charset="0"/>
              <a:ea typeface="Arial" panose="020B0604020202020204" pitchFamily="34" charset="0"/>
            </a:endParaRPr>
          </a:p>
          <a:p>
            <a:pPr marL="140335" marR="381635">
              <a:spcBef>
                <a:spcPts val="1200"/>
              </a:spcBef>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12" action="ppaction://hlinkfile"/>
              </a:rPr>
              <a:t>4. ÖZGÜNLÜK</a:t>
            </a:r>
            <a:r>
              <a:rPr lang="tr-TR" sz="1100" u="none" strike="noStrike">
                <a:solidFill>
                  <a:srgbClr val="0000FF"/>
                </a:solidFill>
                <a:effectLst/>
                <a:latin typeface="Arial" panose="020B0604020202020204" pitchFamily="34" charset="0"/>
                <a:ea typeface="Arial" panose="020B0604020202020204" pitchFamily="34" charset="0"/>
                <a:hlinkClick r:id="rId12" action="ppaction://hlinkfile"/>
              </a:rPr>
              <a:t>	9</a:t>
            </a:r>
            <a:endParaRPr lang="tr-TR" sz="1100">
              <a:effectLst/>
              <a:latin typeface="Arial" panose="020B0604020202020204" pitchFamily="34" charset="0"/>
              <a:ea typeface="Arial" panose="020B0604020202020204" pitchFamily="34" charset="0"/>
            </a:endParaRPr>
          </a:p>
          <a:p>
            <a:pPr marL="140335" marR="381635">
              <a:spcBef>
                <a:spcPts val="1200"/>
              </a:spcBef>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13" action="ppaction://hlinkfile"/>
              </a:rPr>
              <a:t>5. PROJE TAKVİMİ</a:t>
            </a:r>
            <a:r>
              <a:rPr lang="tr-TR" sz="1100" u="none" strike="noStrike">
                <a:solidFill>
                  <a:srgbClr val="0000FF"/>
                </a:solidFill>
                <a:effectLst/>
                <a:latin typeface="Arial" panose="020B0604020202020204" pitchFamily="34" charset="0"/>
                <a:ea typeface="Arial" panose="020B0604020202020204" pitchFamily="34" charset="0"/>
                <a:hlinkClick r:id="rId13" action="ppaction://hlinkfile"/>
              </a:rPr>
              <a:t>	9</a:t>
            </a:r>
            <a:endParaRPr lang="tr-TR" sz="1100">
              <a:effectLst/>
              <a:latin typeface="Arial" panose="020B0604020202020204" pitchFamily="34" charset="0"/>
              <a:ea typeface="Arial" panose="020B0604020202020204" pitchFamily="34" charset="0"/>
            </a:endParaRPr>
          </a:p>
          <a:p>
            <a:pPr marL="140335" marR="381635">
              <a:spcBef>
                <a:spcPts val="1200"/>
              </a:spcBef>
              <a:buNone/>
              <a:tabLst>
                <a:tab pos="5937250" algn="r"/>
              </a:tabLst>
            </a:pPr>
            <a:r>
              <a:rPr lang="tr-TR" sz="1100" u="sng">
                <a:solidFill>
                  <a:srgbClr val="0000FF"/>
                </a:solidFill>
                <a:effectLst/>
                <a:latin typeface="Arial" panose="020B0604020202020204" pitchFamily="34" charset="0"/>
                <a:ea typeface="Arial" panose="020B0604020202020204" pitchFamily="34" charset="0"/>
                <a:hlinkClick r:id="rId14" action="ppaction://hlinkfile"/>
              </a:rPr>
              <a:t>6. SONUÇLAR VE İNCELEME</a:t>
            </a:r>
            <a:r>
              <a:rPr lang="tr-TR" sz="1100" u="none" strike="noStrike">
                <a:solidFill>
                  <a:srgbClr val="0000FF"/>
                </a:solidFill>
                <a:effectLst/>
                <a:latin typeface="Arial" panose="020B0604020202020204" pitchFamily="34" charset="0"/>
                <a:ea typeface="Arial" panose="020B0604020202020204" pitchFamily="34" charset="0"/>
                <a:hlinkClick r:id="rId14" action="ppaction://hlinkfile"/>
              </a:rPr>
              <a:t>	11</a:t>
            </a:r>
            <a:endParaRPr lang="tr-TR" sz="1100">
              <a:effectLst/>
              <a:latin typeface="Arial" panose="020B0604020202020204" pitchFamily="34" charset="0"/>
              <a:ea typeface="Arial" panose="020B0604020202020204" pitchFamily="34" charset="0"/>
            </a:endParaRPr>
          </a:p>
          <a:p>
            <a:pPr>
              <a:buNone/>
            </a:pPr>
            <a:r>
              <a:rPr lang="tr-TR" sz="1100" u="sng">
                <a:solidFill>
                  <a:srgbClr val="0000FF"/>
                </a:solidFill>
                <a:effectLst/>
                <a:latin typeface="Arial" panose="020B0604020202020204" pitchFamily="34" charset="0"/>
                <a:ea typeface="Arial" panose="020B0604020202020204" pitchFamily="34" charset="0"/>
                <a:hlinkClick r:id="rId15" action="ppaction://hlinkfile"/>
              </a:rPr>
              <a:t>7. KAYNAKÇA</a:t>
            </a:r>
            <a:r>
              <a:rPr lang="tr-TR" sz="1100" u="none" strike="noStrike">
                <a:solidFill>
                  <a:srgbClr val="0000FF"/>
                </a:solidFill>
                <a:effectLst/>
                <a:latin typeface="Arial" panose="020B0604020202020204" pitchFamily="34" charset="0"/>
                <a:ea typeface="Arial" panose="020B0604020202020204" pitchFamily="34" charset="0"/>
                <a:hlinkClick r:id="rId15" action="ppaction://hlinkfile"/>
              </a:rPr>
              <a:t>	                                                                                               12</a:t>
            </a:r>
            <a:endParaRPr sz="11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918718"/>
            <a:ext cx="5895340" cy="661035"/>
          </a:xfrm>
          <a:prstGeom prst="rect">
            <a:avLst/>
          </a:prstGeom>
        </p:spPr>
        <p:txBody>
          <a:bodyPr vert="horz" wrap="square" lIns="0" tIns="12700" rIns="0" bIns="0" rtlCol="0">
            <a:spAutoFit/>
          </a:bodyPr>
          <a:lstStyle/>
          <a:p>
            <a:pPr marL="12700">
              <a:lnSpc>
                <a:spcPct val="100000"/>
              </a:lnSpc>
              <a:spcBef>
                <a:spcPts val="100"/>
              </a:spcBef>
            </a:pPr>
            <a:r>
              <a:rPr sz="1400">
                <a:latin typeface="Arial Black"/>
                <a:cs typeface="Arial Black"/>
              </a:rPr>
              <a:t>ŞEKİL</a:t>
            </a:r>
            <a:r>
              <a:rPr sz="1400" spc="-35">
                <a:latin typeface="Arial Black"/>
                <a:cs typeface="Arial Black"/>
              </a:rPr>
              <a:t> </a:t>
            </a:r>
            <a:r>
              <a:rPr sz="1400" spc="-10">
                <a:latin typeface="Arial Black"/>
                <a:cs typeface="Arial Black"/>
              </a:rPr>
              <a:t>LİSTESİ</a:t>
            </a:r>
            <a:endParaRPr sz="1400">
              <a:latin typeface="Arial Black"/>
              <a:cs typeface="Arial Black"/>
            </a:endParaRPr>
          </a:p>
          <a:p>
            <a:pPr marL="12700">
              <a:lnSpc>
                <a:spcPct val="100000"/>
              </a:lnSpc>
              <a:spcBef>
                <a:spcPts val="1880"/>
              </a:spcBef>
            </a:pPr>
            <a:r>
              <a:rPr sz="1200" b="1">
                <a:latin typeface="Arial"/>
                <a:cs typeface="Arial"/>
              </a:rPr>
              <a:t>Şekil 3.3: </a:t>
            </a:r>
            <a:r>
              <a:rPr sz="1200">
                <a:latin typeface="Arial MT"/>
                <a:cs typeface="Arial MT"/>
              </a:rPr>
              <a:t>Uçtan Uca Çok Ajanlı (Multi-Agent) Kamu Evrak Orkestrasyonu Akış Şeması</a:t>
            </a:r>
          </a:p>
        </p:txBody>
      </p:sp>
      <p:sp>
        <p:nvSpPr>
          <p:cNvPr id="3" name="object 3"/>
          <p:cNvSpPr txBox="1"/>
          <p:nvPr/>
        </p:nvSpPr>
        <p:spPr>
          <a:xfrm>
            <a:off x="902004" y="2086101"/>
            <a:ext cx="4926965" cy="1867178"/>
          </a:xfrm>
          <a:prstGeom prst="rect">
            <a:avLst/>
          </a:prstGeom>
        </p:spPr>
        <p:txBody>
          <a:bodyPr vert="horz" wrap="square" lIns="0" tIns="12700" rIns="0" bIns="0" rtlCol="0">
            <a:spAutoFit/>
          </a:bodyPr>
          <a:lstStyle/>
          <a:p>
            <a:pPr marL="12700">
              <a:lnSpc>
                <a:spcPct val="100000"/>
              </a:lnSpc>
              <a:spcBef>
                <a:spcPts val="100"/>
              </a:spcBef>
            </a:pPr>
            <a:r>
              <a:rPr sz="1400">
                <a:latin typeface="Arial Black"/>
                <a:cs typeface="Arial Black"/>
              </a:rPr>
              <a:t>TABLO LİSTESİ</a:t>
            </a:r>
          </a:p>
          <a:p>
            <a:pPr marL="12700">
              <a:lnSpc>
                <a:spcPct val="100000"/>
              </a:lnSpc>
              <a:spcBef>
                <a:spcPts val="1885"/>
              </a:spcBef>
            </a:pPr>
            <a:r>
              <a:rPr sz="1200" b="1">
                <a:latin typeface="Arial"/>
                <a:cs typeface="Arial"/>
              </a:rPr>
              <a:t>Tablo 1.1: </a:t>
            </a:r>
            <a:r>
              <a:rPr sz="1200">
                <a:latin typeface="Arial MT"/>
                <a:cs typeface="Arial MT"/>
              </a:rPr>
              <a:t>Takım Rolleri ve Görev Dağılım Matrisi</a:t>
            </a:r>
          </a:p>
          <a:p>
            <a:pPr>
              <a:lnSpc>
                <a:spcPct val="100000"/>
              </a:lnSpc>
            </a:pPr>
            <a:endParaRPr sz="1200">
              <a:latin typeface="Arial MT"/>
              <a:cs typeface="Arial MT"/>
            </a:endParaRPr>
          </a:p>
          <a:p>
            <a:pPr>
              <a:lnSpc>
                <a:spcPct val="100000"/>
              </a:lnSpc>
              <a:spcBef>
                <a:spcPts val="395"/>
              </a:spcBef>
            </a:pPr>
            <a:endParaRPr sz="1200">
              <a:latin typeface="Arial MT"/>
              <a:cs typeface="Arial MT"/>
            </a:endParaRPr>
          </a:p>
          <a:p>
            <a:pPr marL="12700">
              <a:lnSpc>
                <a:spcPct val="100000"/>
              </a:lnSpc>
            </a:pPr>
            <a:r>
              <a:rPr sz="1200" b="1">
                <a:latin typeface="Arial"/>
                <a:cs typeface="Arial"/>
              </a:rPr>
              <a:t>Tablo 3.1: </a:t>
            </a:r>
            <a:r>
              <a:rPr sz="1200">
                <a:latin typeface="Arial MT"/>
                <a:cs typeface="Arial MT"/>
              </a:rPr>
              <a:t>Evrak Türü Taksonomisi ve Zorunlu Alan Doğrulama Kuralları</a:t>
            </a:r>
          </a:p>
          <a:p>
            <a:pPr>
              <a:lnSpc>
                <a:spcPct val="100000"/>
              </a:lnSpc>
            </a:pPr>
            <a:endParaRPr sz="1200">
              <a:latin typeface="Arial MT"/>
              <a:cs typeface="Arial MT"/>
            </a:endParaRPr>
          </a:p>
          <a:p>
            <a:pPr>
              <a:lnSpc>
                <a:spcPct val="100000"/>
              </a:lnSpc>
              <a:spcBef>
                <a:spcPts val="385"/>
              </a:spcBef>
            </a:pPr>
            <a:endParaRPr sz="1200">
              <a:latin typeface="Arial MT"/>
              <a:cs typeface="Arial MT"/>
            </a:endParaRPr>
          </a:p>
          <a:p>
            <a:pPr marL="12700">
              <a:lnSpc>
                <a:spcPct val="100000"/>
              </a:lnSpc>
            </a:pPr>
            <a:r>
              <a:rPr sz="1200" b="1">
                <a:latin typeface="Arial"/>
                <a:cs typeface="Arial"/>
              </a:rPr>
              <a:t>Tablo 5.1: </a:t>
            </a:r>
            <a:r>
              <a:rPr sz="1200">
                <a:latin typeface="Arial MT"/>
                <a:cs typeface="Arial MT"/>
              </a:rPr>
              <a:t>Proje Geliştirme </a:t>
            </a:r>
            <a:r>
              <a:rPr sz="1200" err="1">
                <a:latin typeface="Arial MT"/>
                <a:cs typeface="Arial MT"/>
              </a:rPr>
              <a:t>Kilometre</a:t>
            </a:r>
            <a:r>
              <a:rPr sz="1200">
                <a:latin typeface="Arial MT"/>
                <a:cs typeface="Arial MT"/>
              </a:rPr>
              <a:t> </a:t>
            </a:r>
            <a:r>
              <a:rPr sz="1200" err="1">
                <a:latin typeface="Arial MT"/>
                <a:cs typeface="Arial MT"/>
              </a:rPr>
              <a:t>Taşları</a:t>
            </a:r>
            <a:r>
              <a:rPr sz="1200">
                <a:latin typeface="Arial MT"/>
                <a:cs typeface="Arial MT"/>
              </a:rPr>
              <a:t> ve Zaman Planı</a:t>
            </a:r>
          </a:p>
        </p:txBody>
      </p:sp>
      <p:sp>
        <p:nvSpPr>
          <p:cNvPr id="4" name="object 4"/>
          <p:cNvSpPr txBox="1"/>
          <p:nvPr/>
        </p:nvSpPr>
        <p:spPr>
          <a:xfrm>
            <a:off x="902004" y="4421251"/>
            <a:ext cx="1459230" cy="239395"/>
          </a:xfrm>
          <a:prstGeom prst="rect">
            <a:avLst/>
          </a:prstGeom>
        </p:spPr>
        <p:txBody>
          <a:bodyPr vert="horz" wrap="square" lIns="0" tIns="13335" rIns="0" bIns="0" rtlCol="0">
            <a:spAutoFit/>
          </a:bodyPr>
          <a:lstStyle/>
          <a:p>
            <a:pPr marL="12700">
              <a:lnSpc>
                <a:spcPct val="100000"/>
              </a:lnSpc>
              <a:spcBef>
                <a:spcPts val="105"/>
              </a:spcBef>
            </a:pPr>
            <a:r>
              <a:rPr sz="1400" spc="-10">
                <a:latin typeface="Arial Black"/>
                <a:cs typeface="Arial Black"/>
              </a:rPr>
              <a:t>KISALTMALAR</a:t>
            </a:r>
            <a:endParaRPr sz="1400">
              <a:latin typeface="Arial Black"/>
              <a:cs typeface="Arial Black"/>
            </a:endParaRPr>
          </a:p>
        </p:txBody>
      </p:sp>
      <p:graphicFrame>
        <p:nvGraphicFramePr>
          <p:cNvPr id="5" name="object 5"/>
          <p:cNvGraphicFramePr>
            <a:graphicFrameLocks noGrp="1"/>
          </p:cNvGraphicFramePr>
          <p:nvPr>
            <p:extLst>
              <p:ext uri="{D42A27DB-BD31-4B8C-83A1-F6EECF244321}">
                <p14:modId xmlns:p14="http://schemas.microsoft.com/office/powerpoint/2010/main" val="4008342849"/>
              </p:ext>
            </p:extLst>
          </p:nvPr>
        </p:nvGraphicFramePr>
        <p:xfrm>
          <a:off x="914704" y="4892675"/>
          <a:ext cx="5697855" cy="4181475"/>
        </p:xfrm>
        <a:graphic>
          <a:graphicData uri="http://schemas.openxmlformats.org/drawingml/2006/table">
            <a:tbl>
              <a:tblPr firstRow="1" bandRow="1">
                <a:tableStyleId>{2D5ABB26-0587-4C30-8999-92F81FD0307C}</a:tableStyleId>
              </a:tblPr>
              <a:tblGrid>
                <a:gridCol w="1510665">
                  <a:extLst>
                    <a:ext uri="{9D8B030D-6E8A-4147-A177-3AD203B41FA5}">
                      <a16:colId xmlns:a16="http://schemas.microsoft.com/office/drawing/2014/main" val="20000"/>
                    </a:ext>
                  </a:extLst>
                </a:gridCol>
                <a:gridCol w="4187190">
                  <a:extLst>
                    <a:ext uri="{9D8B030D-6E8A-4147-A177-3AD203B41FA5}">
                      <a16:colId xmlns:a16="http://schemas.microsoft.com/office/drawing/2014/main" val="20001"/>
                    </a:ext>
                  </a:extLst>
                </a:gridCol>
              </a:tblGrid>
              <a:tr h="266700">
                <a:tc>
                  <a:txBody>
                    <a:bodyPr/>
                    <a:lstStyle/>
                    <a:p>
                      <a:pPr marL="448945">
                        <a:lnSpc>
                          <a:spcPct val="100000"/>
                        </a:lnSpc>
                        <a:spcBef>
                          <a:spcPts val="350"/>
                        </a:spcBef>
                      </a:pPr>
                      <a:r>
                        <a:rPr sz="1100" spc="-10">
                          <a:latin typeface="Arial MT"/>
                          <a:cs typeface="Arial MT"/>
                        </a:rPr>
                        <a:t>Kısaltma</a:t>
                      </a:r>
                      <a:endParaRPr sz="1100">
                        <a:latin typeface="Arial MT"/>
                        <a:cs typeface="Arial MT"/>
                      </a:endParaRP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8DB3E1"/>
                    </a:solidFill>
                  </a:tcPr>
                </a:tc>
                <a:tc>
                  <a:txBody>
                    <a:bodyPr/>
                    <a:lstStyle/>
                    <a:p>
                      <a:pPr marL="449580">
                        <a:lnSpc>
                          <a:spcPct val="100000"/>
                        </a:lnSpc>
                        <a:spcBef>
                          <a:spcPts val="350"/>
                        </a:spcBef>
                      </a:pPr>
                      <a:r>
                        <a:rPr sz="1100" spc="-10">
                          <a:latin typeface="Arial MT"/>
                          <a:cs typeface="Arial MT"/>
                        </a:rPr>
                        <a:t>Açıklama</a:t>
                      </a:r>
                      <a:endParaRPr sz="1100">
                        <a:latin typeface="Arial MT"/>
                        <a:cs typeface="Arial MT"/>
                      </a:endParaRP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8DB3E1"/>
                    </a:solidFill>
                  </a:tcPr>
                </a:tc>
                <a:extLst>
                  <a:ext uri="{0D108BD9-81ED-4DB2-BD59-A6C34878D82A}">
                    <a16:rowId xmlns:a16="http://schemas.microsoft.com/office/drawing/2014/main" val="10000"/>
                  </a:ext>
                </a:extLst>
              </a:tr>
              <a:tr h="266700">
                <a:tc>
                  <a:txBody>
                    <a:bodyPr/>
                    <a:lstStyle/>
                    <a:p>
                      <a:pPr marL="448945">
                        <a:lnSpc>
                          <a:spcPct val="100000"/>
                        </a:lnSpc>
                        <a:spcBef>
                          <a:spcPts val="350"/>
                        </a:spcBef>
                      </a:pPr>
                      <a:r>
                        <a:rPr sz="1100" spc="0">
                          <a:latin typeface="Arial MT"/>
                          <a:cs typeface="Arial MT"/>
                        </a:rPr>
                        <a:t>LLM</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50"/>
                        </a:spcBef>
                      </a:pPr>
                      <a:r>
                        <a:rPr sz="1100" spc="0">
                          <a:latin typeface="Arial MT"/>
                          <a:cs typeface="Arial MT"/>
                        </a:rPr>
                        <a:t>Large Language Model (Büyük Dil Modeli)</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64795">
                <a:tc>
                  <a:txBody>
                    <a:bodyPr/>
                    <a:lstStyle/>
                    <a:p>
                      <a:pPr marL="448945">
                        <a:lnSpc>
                          <a:spcPct val="100000"/>
                        </a:lnSpc>
                        <a:spcBef>
                          <a:spcPts val="340"/>
                        </a:spcBef>
                      </a:pPr>
                      <a:r>
                        <a:rPr sz="1100" spc="0">
                          <a:latin typeface="Arial MT"/>
                          <a:cs typeface="Arial MT"/>
                        </a:rPr>
                        <a:t>OCR</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40"/>
                        </a:spcBef>
                      </a:pPr>
                      <a:r>
                        <a:rPr sz="1100" spc="0">
                          <a:latin typeface="Arial MT"/>
                          <a:cs typeface="Arial MT"/>
                        </a:rPr>
                        <a:t>Optical Character Recognition (Optik Karakter Tanıma)</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660">
                <a:tc>
                  <a:txBody>
                    <a:bodyPr/>
                    <a:lstStyle/>
                    <a:p>
                      <a:pPr marL="448945">
                        <a:lnSpc>
                          <a:spcPct val="100000"/>
                        </a:lnSpc>
                        <a:spcBef>
                          <a:spcPts val="590"/>
                        </a:spcBef>
                      </a:pPr>
                      <a:r>
                        <a:rPr sz="1100" spc="0">
                          <a:latin typeface="Arial MT"/>
                          <a:cs typeface="Arial MT"/>
                        </a:rPr>
                        <a:t>RAG</a:t>
                      </a:r>
                    </a:p>
                  </a:txBody>
                  <a:tcPr marL="0" marR="0" marT="749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824865">
                        <a:lnSpc>
                          <a:spcPts val="1270"/>
                        </a:lnSpc>
                      </a:pPr>
                      <a:r>
                        <a:rPr sz="1100" spc="0">
                          <a:latin typeface="Arial MT"/>
                          <a:cs typeface="Arial MT"/>
                        </a:rPr>
                        <a:t>Retrieval-Augmented Generation (Veri Geri Çağırımlı Üretim)</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66700">
                <a:tc>
                  <a:txBody>
                    <a:bodyPr/>
                    <a:lstStyle/>
                    <a:p>
                      <a:pPr marL="448945">
                        <a:lnSpc>
                          <a:spcPct val="100000"/>
                        </a:lnSpc>
                        <a:spcBef>
                          <a:spcPts val="350"/>
                        </a:spcBef>
                      </a:pPr>
                      <a:r>
                        <a:rPr sz="1100" spc="0">
                          <a:latin typeface="Arial MT"/>
                          <a:cs typeface="Arial MT"/>
                        </a:rPr>
                        <a:t>TYDA</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50"/>
                        </a:spcBef>
                      </a:pPr>
                      <a:r>
                        <a:rPr sz="1100" spc="0">
                          <a:latin typeface="Arial MT"/>
                          <a:cs typeface="Arial MT"/>
                        </a:rPr>
                        <a:t>Türkçe Yapay Zeka Dil Ajanları</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27660">
                <a:tc>
                  <a:txBody>
                    <a:bodyPr/>
                    <a:lstStyle/>
                    <a:p>
                      <a:pPr marL="448945">
                        <a:lnSpc>
                          <a:spcPct val="100000"/>
                        </a:lnSpc>
                        <a:spcBef>
                          <a:spcPts val="590"/>
                        </a:spcBef>
                      </a:pPr>
                      <a:r>
                        <a:rPr sz="1100" spc="0">
                          <a:latin typeface="Arial MT"/>
                          <a:cs typeface="Arial MT"/>
                        </a:rPr>
                        <a:t>API</a:t>
                      </a:r>
                    </a:p>
                  </a:txBody>
                  <a:tcPr marL="0" marR="0" marT="749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252855">
                        <a:lnSpc>
                          <a:spcPts val="1260"/>
                        </a:lnSpc>
                      </a:pPr>
                      <a:r>
                        <a:rPr sz="1100" spc="0">
                          <a:latin typeface="Arial MT"/>
                          <a:cs typeface="Arial MT"/>
                        </a:rPr>
                        <a:t>Application Programming Interface (Uygulama Programlama Arayüzü)</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64795">
                <a:tc>
                  <a:txBody>
                    <a:bodyPr/>
                    <a:lstStyle/>
                    <a:p>
                      <a:pPr marL="448945">
                        <a:lnSpc>
                          <a:spcPct val="100000"/>
                        </a:lnSpc>
                        <a:spcBef>
                          <a:spcPts val="340"/>
                        </a:spcBef>
                      </a:pPr>
                      <a:r>
                        <a:rPr sz="1100" spc="0">
                          <a:latin typeface="Arial MT"/>
                          <a:cs typeface="Arial MT"/>
                        </a:rPr>
                        <a:t>JSON</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40"/>
                        </a:spcBef>
                      </a:pPr>
                      <a:r>
                        <a:rPr sz="1100" spc="0">
                          <a:latin typeface="Arial MT"/>
                          <a:cs typeface="Arial MT"/>
                        </a:rPr>
                        <a:t>JavaScript Object Notation (JavaScript Nesne Notasyonu)</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66700">
                <a:tc>
                  <a:txBody>
                    <a:bodyPr/>
                    <a:lstStyle/>
                    <a:p>
                      <a:pPr marL="448945">
                        <a:lnSpc>
                          <a:spcPct val="100000"/>
                        </a:lnSpc>
                        <a:spcBef>
                          <a:spcPts val="350"/>
                        </a:spcBef>
                      </a:pPr>
                      <a:r>
                        <a:rPr sz="1100" spc="0">
                          <a:latin typeface="Arial MT"/>
                          <a:cs typeface="Arial MT"/>
                        </a:rPr>
                        <a:t>NER</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50"/>
                        </a:spcBef>
                      </a:pPr>
                      <a:r>
                        <a:rPr sz="1100" spc="0">
                          <a:latin typeface="Arial MT"/>
                          <a:cs typeface="Arial MT"/>
                        </a:rPr>
                        <a:t>Named Entity Recognition (Varlık İsmi Tanıma)</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65430">
                <a:tc>
                  <a:txBody>
                    <a:bodyPr/>
                    <a:lstStyle/>
                    <a:p>
                      <a:pPr marL="448945">
                        <a:lnSpc>
                          <a:spcPct val="100000"/>
                        </a:lnSpc>
                        <a:spcBef>
                          <a:spcPts val="340"/>
                        </a:spcBef>
                      </a:pPr>
                      <a:r>
                        <a:rPr sz="1100" spc="0">
                          <a:latin typeface="Arial MT"/>
                          <a:cs typeface="Arial MT"/>
                        </a:rPr>
                        <a:t>SGD</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40"/>
                        </a:spcBef>
                      </a:pPr>
                      <a:r>
                        <a:rPr sz="1100" spc="0">
                          <a:latin typeface="Arial MT"/>
                          <a:cs typeface="Arial MT"/>
                        </a:rPr>
                        <a:t>Stochastic Gradient Descent (Stastik Gradyan İnişi)</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27025">
                <a:tc>
                  <a:txBody>
                    <a:bodyPr/>
                    <a:lstStyle/>
                    <a:p>
                      <a:pPr marL="448945">
                        <a:lnSpc>
                          <a:spcPct val="100000"/>
                        </a:lnSpc>
                        <a:spcBef>
                          <a:spcPts val="590"/>
                        </a:spcBef>
                      </a:pPr>
                      <a:r>
                        <a:rPr sz="1100" spc="0">
                          <a:latin typeface="Arial MT"/>
                          <a:cs typeface="Arial MT"/>
                        </a:rPr>
                        <a:t>TF-IDF</a:t>
                      </a:r>
                    </a:p>
                  </a:txBody>
                  <a:tcPr marL="0" marR="0" marT="749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63270">
                        <a:lnSpc>
                          <a:spcPts val="1260"/>
                        </a:lnSpc>
                      </a:pPr>
                      <a:r>
                        <a:rPr sz="1100" spc="0">
                          <a:latin typeface="Arial MT"/>
                          <a:cs typeface="Arial MT"/>
                        </a:rPr>
                        <a:t>Term Frequency-Inverse Document Frequency (Terim Frekansı - Ters Belge Frekansı)</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66700">
                <a:tc>
                  <a:txBody>
                    <a:bodyPr/>
                    <a:lstStyle/>
                    <a:p>
                      <a:pPr marL="448945">
                        <a:lnSpc>
                          <a:spcPct val="100000"/>
                        </a:lnSpc>
                        <a:spcBef>
                          <a:spcPts val="350"/>
                        </a:spcBef>
                      </a:pPr>
                      <a:r>
                        <a:rPr sz="1100" spc="0">
                          <a:latin typeface="Arial MT"/>
                          <a:cs typeface="Arial MT"/>
                        </a:rPr>
                        <a:t>CER</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50"/>
                        </a:spcBef>
                      </a:pPr>
                      <a:r>
                        <a:rPr sz="1100" spc="0">
                          <a:latin typeface="Arial MT"/>
                          <a:cs typeface="Arial MT"/>
                        </a:rPr>
                        <a:t>Character Error Rate (Karakter Hata Oranı)</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66700">
                <a:tc>
                  <a:txBody>
                    <a:bodyPr/>
                    <a:lstStyle/>
                    <a:p>
                      <a:pPr marL="448945">
                        <a:lnSpc>
                          <a:spcPct val="100000"/>
                        </a:lnSpc>
                        <a:spcBef>
                          <a:spcPts val="350"/>
                        </a:spcBef>
                      </a:pPr>
                      <a:r>
                        <a:rPr sz="1100" spc="0">
                          <a:latin typeface="Arial MT"/>
                          <a:cs typeface="Arial MT"/>
                        </a:rPr>
                        <a:t>WER</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50"/>
                        </a:spcBef>
                      </a:pPr>
                      <a:r>
                        <a:rPr sz="1100" spc="0">
                          <a:latin typeface="Arial MT"/>
                          <a:cs typeface="Arial MT"/>
                        </a:rPr>
                        <a:t>Word Error Rate (Sözcük Hata Oranı)</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64795">
                <a:tc>
                  <a:txBody>
                    <a:bodyPr/>
                    <a:lstStyle/>
                    <a:p>
                      <a:pPr marL="448945">
                        <a:lnSpc>
                          <a:spcPct val="100000"/>
                        </a:lnSpc>
                        <a:spcBef>
                          <a:spcPts val="340"/>
                        </a:spcBef>
                      </a:pPr>
                      <a:r>
                        <a:rPr sz="1100" spc="0">
                          <a:latin typeface="Arial MT"/>
                          <a:cs typeface="Arial MT"/>
                        </a:rPr>
                        <a:t>NLP</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40"/>
                        </a:spcBef>
                      </a:pPr>
                      <a:r>
                        <a:rPr sz="1100" spc="0">
                          <a:latin typeface="Arial MT"/>
                          <a:cs typeface="Arial MT"/>
                        </a:rPr>
                        <a:t>Natural Language Processing (Doğal Dil İşleme)</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66065">
                <a:tc>
                  <a:txBody>
                    <a:bodyPr/>
                    <a:lstStyle/>
                    <a:p>
                      <a:pPr marL="448945">
                        <a:lnSpc>
                          <a:spcPct val="100000"/>
                        </a:lnSpc>
                        <a:spcBef>
                          <a:spcPts val="350"/>
                        </a:spcBef>
                      </a:pPr>
                      <a:r>
                        <a:rPr sz="1100" spc="0">
                          <a:latin typeface="Arial MT"/>
                          <a:cs typeface="Arial MT"/>
                        </a:rPr>
                        <a:t>UI</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50"/>
                        </a:spcBef>
                      </a:pPr>
                      <a:r>
                        <a:rPr sz="1100" spc="0">
                          <a:latin typeface="Arial MT"/>
                          <a:cs typeface="Arial MT"/>
                        </a:rPr>
                        <a:t>User Interface (Kullanıcı Arayüzü)</a:t>
                      </a:r>
                    </a:p>
                  </a:txBody>
                  <a:tcPr marL="0" marR="0" marT="444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264795">
                <a:tc>
                  <a:txBody>
                    <a:bodyPr/>
                    <a:lstStyle/>
                    <a:p>
                      <a:pPr marL="448945">
                        <a:lnSpc>
                          <a:spcPct val="100000"/>
                        </a:lnSpc>
                        <a:spcBef>
                          <a:spcPts val="340"/>
                        </a:spcBef>
                      </a:pPr>
                      <a:r>
                        <a:rPr sz="1100" spc="0">
                          <a:latin typeface="Arial MT"/>
                          <a:cs typeface="Arial MT"/>
                        </a:rPr>
                        <a:t>KVKK</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340"/>
                        </a:spcBef>
                      </a:pPr>
                      <a:r>
                        <a:rPr sz="1100" spc="0">
                          <a:latin typeface="Arial MT"/>
                          <a:cs typeface="Arial MT"/>
                        </a:rPr>
                        <a:t>K</a:t>
                      </a:r>
                      <a:r>
                        <a:rPr lang="tr-TR" sz="1100" spc="0" err="1">
                          <a:latin typeface="Arial MT"/>
                          <a:cs typeface="Arial MT"/>
                        </a:rPr>
                        <a:t>işisel</a:t>
                      </a:r>
                      <a:r>
                        <a:rPr sz="1100" spc="0">
                          <a:latin typeface="Arial MT"/>
                          <a:cs typeface="Arial MT"/>
                        </a:rPr>
                        <a:t> Verilerin Korunması Kanunu</a:t>
                      </a: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920241"/>
            <a:ext cx="5966460" cy="1014730"/>
          </a:xfrm>
          <a:prstGeom prst="rect">
            <a:avLst/>
          </a:prstGeom>
        </p:spPr>
        <p:txBody>
          <a:bodyPr vert="horz" wrap="square" lIns="0" tIns="12700" rIns="0" bIns="0" rtlCol="0">
            <a:spAutoFit/>
          </a:bodyPr>
          <a:lstStyle/>
          <a:p>
            <a:pPr marL="12700">
              <a:lnSpc>
                <a:spcPct val="100000"/>
              </a:lnSpc>
              <a:spcBef>
                <a:spcPts val="100"/>
              </a:spcBef>
            </a:pPr>
            <a:r>
              <a:rPr sz="1400">
                <a:latin typeface="Arial Black"/>
                <a:cs typeface="Arial Black"/>
              </a:rPr>
              <a:t>1. TAKIM YAPISI VE GÖREV DAĞILIMI</a:t>
            </a:r>
          </a:p>
          <a:p>
            <a:pPr marL="12700" marR="5080" algn="just">
              <a:lnSpc>
                <a:spcPct val="110000"/>
              </a:lnSpc>
              <a:spcBef>
                <a:spcPts val="1355"/>
              </a:spcBef>
            </a:pPr>
            <a:r>
              <a:rPr sz="1200">
                <a:latin typeface="Arial MT"/>
                <a:cs typeface="Arial MT"/>
              </a:rPr>
              <a:t>Sistemin geliştirme süreçleri, 4 kişilik takımımız arasında ajanların sorumluluklarına göre paylaştırılmıştır. Her takım üyesi, kendi ajanının geliştirilmesinden, test edilmesinden ve API sözleşmelerine uygun çıktı üretmesinden sorumludur.</a:t>
            </a:r>
          </a:p>
        </p:txBody>
      </p:sp>
      <p:graphicFrame>
        <p:nvGraphicFramePr>
          <p:cNvPr id="3" name="object 3"/>
          <p:cNvGraphicFramePr>
            <a:graphicFrameLocks noGrp="1"/>
          </p:cNvGraphicFramePr>
          <p:nvPr>
            <p:extLst>
              <p:ext uri="{D42A27DB-BD31-4B8C-83A1-F6EECF244321}">
                <p14:modId xmlns:p14="http://schemas.microsoft.com/office/powerpoint/2010/main" val="1437040735"/>
              </p:ext>
            </p:extLst>
          </p:nvPr>
        </p:nvGraphicFramePr>
        <p:xfrm>
          <a:off x="914704" y="2092705"/>
          <a:ext cx="5814695" cy="5780405"/>
        </p:xfrm>
        <a:graphic>
          <a:graphicData uri="http://schemas.openxmlformats.org/drawingml/2006/table">
            <a:tbl>
              <a:tblPr firstRow="1" bandRow="1">
                <a:tableStyleId>{2D5ABB26-0587-4C30-8999-92F81FD0307C}</a:tableStyleId>
              </a:tblPr>
              <a:tblGrid>
                <a:gridCol w="1454150">
                  <a:extLst>
                    <a:ext uri="{9D8B030D-6E8A-4147-A177-3AD203B41FA5}">
                      <a16:colId xmlns:a16="http://schemas.microsoft.com/office/drawing/2014/main" val="20000"/>
                    </a:ext>
                  </a:extLst>
                </a:gridCol>
                <a:gridCol w="1452880">
                  <a:extLst>
                    <a:ext uri="{9D8B030D-6E8A-4147-A177-3AD203B41FA5}">
                      <a16:colId xmlns:a16="http://schemas.microsoft.com/office/drawing/2014/main" val="20001"/>
                    </a:ext>
                  </a:extLst>
                </a:gridCol>
                <a:gridCol w="1452880">
                  <a:extLst>
                    <a:ext uri="{9D8B030D-6E8A-4147-A177-3AD203B41FA5}">
                      <a16:colId xmlns:a16="http://schemas.microsoft.com/office/drawing/2014/main" val="20002"/>
                    </a:ext>
                  </a:extLst>
                </a:gridCol>
                <a:gridCol w="1454785">
                  <a:extLst>
                    <a:ext uri="{9D8B030D-6E8A-4147-A177-3AD203B41FA5}">
                      <a16:colId xmlns:a16="http://schemas.microsoft.com/office/drawing/2014/main" val="20003"/>
                    </a:ext>
                  </a:extLst>
                </a:gridCol>
              </a:tblGrid>
              <a:tr h="993140">
                <a:tc>
                  <a:txBody>
                    <a:bodyPr/>
                    <a:lstStyle/>
                    <a:p>
                      <a:pPr>
                        <a:lnSpc>
                          <a:spcPct val="100000"/>
                        </a:lnSpc>
                        <a:spcBef>
                          <a:spcPts val="95"/>
                        </a:spcBef>
                      </a:pPr>
                      <a:endParaRPr sz="1200" spc="0">
                        <a:latin typeface="Times New Roman"/>
                        <a:cs typeface="Times New Roman"/>
                      </a:endParaRPr>
                    </a:p>
                    <a:p>
                      <a:pPr marL="95885">
                        <a:lnSpc>
                          <a:spcPct val="100000"/>
                        </a:lnSpc>
                      </a:pPr>
                      <a:r>
                        <a:rPr sz="1200" b="1" spc="0">
                          <a:latin typeface="Arial"/>
                          <a:cs typeface="Arial"/>
                        </a:rPr>
                        <a:t>Ekip Üyesi</a:t>
                      </a:r>
                      <a:endParaRPr sz="1200" spc="0">
                        <a:latin typeface="Arial"/>
                        <a:cs typeface="Arial"/>
                      </a:endParaRPr>
                    </a:p>
                  </a:txBody>
                  <a:tcPr marL="0" marR="0" marT="12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95"/>
                        </a:spcBef>
                      </a:pPr>
                      <a:endParaRPr sz="1200" spc="0">
                        <a:latin typeface="Times New Roman"/>
                        <a:cs typeface="Times New Roman"/>
                      </a:endParaRPr>
                    </a:p>
                    <a:p>
                      <a:pPr marL="94615">
                        <a:lnSpc>
                          <a:spcPct val="100000"/>
                        </a:lnSpc>
                      </a:pPr>
                      <a:r>
                        <a:rPr sz="1200" b="1" spc="0">
                          <a:latin typeface="Arial"/>
                          <a:cs typeface="Arial"/>
                        </a:rPr>
                        <a:t>Takım Rolü</a:t>
                      </a:r>
                      <a:endParaRPr sz="1200" spc="0">
                        <a:latin typeface="Arial"/>
                        <a:cs typeface="Arial"/>
                      </a:endParaRPr>
                    </a:p>
                  </a:txBody>
                  <a:tcPr marL="0" marR="0" marT="12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marL="93980" marR="223520">
                        <a:lnSpc>
                          <a:spcPct val="109200"/>
                        </a:lnSpc>
                        <a:spcBef>
                          <a:spcPts val="1340"/>
                        </a:spcBef>
                      </a:pPr>
                      <a:r>
                        <a:rPr sz="1200" b="1" spc="0">
                          <a:latin typeface="Arial"/>
                          <a:cs typeface="Arial"/>
                        </a:rPr>
                        <a:t>Sistem Bileşeni Sorumluluğu</a:t>
                      </a:r>
                      <a:endParaRPr sz="1200" spc="0">
                        <a:latin typeface="Arial"/>
                        <a:cs typeface="Arial"/>
                      </a:endParaRPr>
                    </a:p>
                  </a:txBody>
                  <a:tcPr marL="0" marR="0" marT="170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marL="95885" marR="163830">
                        <a:lnSpc>
                          <a:spcPct val="109600"/>
                        </a:lnSpc>
                        <a:spcBef>
                          <a:spcPts val="1335"/>
                        </a:spcBef>
                      </a:pPr>
                      <a:r>
                        <a:rPr sz="1200" b="1" spc="0">
                          <a:latin typeface="Arial"/>
                          <a:cs typeface="Arial"/>
                        </a:rPr>
                        <a:t>Geliştirme ve Dokümantasyon Alanı</a:t>
                      </a:r>
                      <a:endParaRPr sz="1200" spc="0">
                        <a:latin typeface="Arial"/>
                        <a:cs typeface="Arial"/>
                      </a:endParaRPr>
                    </a:p>
                  </a:txBody>
                  <a:tcPr marL="0" marR="0" marT="1695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extLst>
                  <a:ext uri="{0D108BD9-81ED-4DB2-BD59-A6C34878D82A}">
                    <a16:rowId xmlns:a16="http://schemas.microsoft.com/office/drawing/2014/main" val="10000"/>
                  </a:ext>
                </a:extLst>
              </a:tr>
              <a:tr h="1797050">
                <a:tc>
                  <a:txBody>
                    <a:bodyPr/>
                    <a:lstStyle/>
                    <a:p>
                      <a:pPr>
                        <a:lnSpc>
                          <a:spcPct val="100000"/>
                        </a:lnSpc>
                        <a:spcBef>
                          <a:spcPts val="95"/>
                        </a:spcBef>
                      </a:pPr>
                      <a:endParaRPr sz="1200" spc="0">
                        <a:latin typeface="Times New Roman"/>
                        <a:cs typeface="Times New Roman"/>
                      </a:endParaRPr>
                    </a:p>
                    <a:p>
                      <a:pPr marL="95885">
                        <a:lnSpc>
                          <a:spcPct val="100000"/>
                        </a:lnSpc>
                        <a:spcBef>
                          <a:spcPts val="5"/>
                        </a:spcBef>
                      </a:pPr>
                      <a:r>
                        <a:rPr sz="1200" b="1" spc="0">
                          <a:latin typeface="Arial"/>
                          <a:cs typeface="Arial"/>
                        </a:rPr>
                        <a:t>Yusuf Kalkan</a:t>
                      </a:r>
                      <a:endParaRPr sz="1200" spc="0">
                        <a:latin typeface="Arial"/>
                        <a:cs typeface="Arial"/>
                      </a:endParaRPr>
                    </a:p>
                  </a:txBody>
                  <a:tcPr marL="0" marR="0" marT="12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4615" marR="223520">
                        <a:lnSpc>
                          <a:spcPct val="109600"/>
                        </a:lnSpc>
                        <a:spcBef>
                          <a:spcPts val="1340"/>
                        </a:spcBef>
                      </a:pPr>
                      <a:r>
                        <a:rPr sz="1200" spc="0">
                          <a:latin typeface="Arial MT"/>
                          <a:cs typeface="Arial MT"/>
                        </a:rPr>
                        <a:t>Agent 1 Geliştiricisi / Veri Mimarı</a:t>
                      </a:r>
                    </a:p>
                  </a:txBody>
                  <a:tcPr marL="0" marR="0" marT="170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3980" marR="383540">
                        <a:lnSpc>
                          <a:spcPct val="109200"/>
                        </a:lnSpc>
                        <a:spcBef>
                          <a:spcPts val="1345"/>
                        </a:spcBef>
                      </a:pPr>
                      <a:r>
                        <a:rPr sz="1200" spc="0">
                          <a:latin typeface="Arial MT"/>
                          <a:cs typeface="Arial MT"/>
                        </a:rPr>
                        <a:t>Evrak Okuma, OCR ve</a:t>
                      </a:r>
                    </a:p>
                    <a:p>
                      <a:pPr marL="93980">
                        <a:lnSpc>
                          <a:spcPct val="100000"/>
                        </a:lnSpc>
                        <a:spcBef>
                          <a:spcPts val="145"/>
                        </a:spcBef>
                      </a:pPr>
                      <a:r>
                        <a:rPr sz="1200" spc="0">
                          <a:latin typeface="Arial MT"/>
                          <a:cs typeface="Arial MT"/>
                        </a:rPr>
                        <a:t>Sınıflandırma</a:t>
                      </a:r>
                    </a:p>
                  </a:txBody>
                  <a:tcPr marL="0" marR="0" marT="17081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5885" marR="224154">
                        <a:lnSpc>
                          <a:spcPct val="109700"/>
                        </a:lnSpc>
                        <a:spcBef>
                          <a:spcPts val="1340"/>
                        </a:spcBef>
                      </a:pPr>
                      <a:r>
                        <a:rPr sz="1200" spc="0">
                          <a:latin typeface="Arial MT"/>
                          <a:cs typeface="Arial MT"/>
                        </a:rPr>
                        <a:t>Metin ön işleme ve sınıflandırma, sentetik veri üretim otomasyonu, teknik rapor yazımı.</a:t>
                      </a:r>
                    </a:p>
                  </a:txBody>
                  <a:tcPr marL="0" marR="0" marT="170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1394460">
                <a:tc>
                  <a:txBody>
                    <a:bodyPr/>
                    <a:lstStyle/>
                    <a:p>
                      <a:pPr marL="95885" marR="146685">
                        <a:lnSpc>
                          <a:spcPct val="110100"/>
                        </a:lnSpc>
                        <a:spcBef>
                          <a:spcPts val="1315"/>
                        </a:spcBef>
                      </a:pPr>
                      <a:r>
                        <a:rPr sz="1200" b="1" spc="0">
                          <a:latin typeface="Arial"/>
                          <a:cs typeface="Arial"/>
                        </a:rPr>
                        <a:t>Fatma Nur Toklu (Kaptan)</a:t>
                      </a:r>
                      <a:endParaRPr sz="1200" spc="0">
                        <a:latin typeface="Arial"/>
                        <a:cs typeface="Arial"/>
                      </a:endParaRPr>
                    </a:p>
                  </a:txBody>
                  <a:tcPr marL="0" marR="0" marT="1670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4615" marR="198755">
                        <a:lnSpc>
                          <a:spcPct val="109700"/>
                        </a:lnSpc>
                        <a:spcBef>
                          <a:spcPts val="1325"/>
                        </a:spcBef>
                      </a:pPr>
                      <a:r>
                        <a:rPr sz="1200" spc="0">
                          <a:latin typeface="Arial MT"/>
                          <a:cs typeface="Arial MT"/>
                        </a:rPr>
                        <a:t>Agent 2 Geliştiricisi / NLP Uzmanı</a:t>
                      </a:r>
                    </a:p>
                  </a:txBody>
                  <a:tcPr marL="0" marR="0" marT="16827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3980" marR="290830">
                        <a:lnSpc>
                          <a:spcPct val="110100"/>
                        </a:lnSpc>
                        <a:spcBef>
                          <a:spcPts val="1315"/>
                        </a:spcBef>
                      </a:pPr>
                      <a:r>
                        <a:rPr sz="1200" spc="0">
                          <a:latin typeface="Arial MT"/>
                          <a:cs typeface="Arial MT"/>
                        </a:rPr>
                        <a:t>İçerik Analizi ve Mevzuat</a:t>
                      </a:r>
                    </a:p>
                    <a:p>
                      <a:pPr marL="93980">
                        <a:lnSpc>
                          <a:spcPct val="100000"/>
                        </a:lnSpc>
                        <a:spcBef>
                          <a:spcPts val="135"/>
                        </a:spcBef>
                      </a:pPr>
                      <a:r>
                        <a:rPr sz="1200" spc="0">
                          <a:latin typeface="Arial MT"/>
                          <a:cs typeface="Arial MT"/>
                        </a:rPr>
                        <a:t>Eşleştirme</a:t>
                      </a:r>
                    </a:p>
                  </a:txBody>
                  <a:tcPr marL="0" marR="0" marT="1670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5885" marR="172720">
                        <a:lnSpc>
                          <a:spcPct val="109800"/>
                        </a:lnSpc>
                        <a:spcBef>
                          <a:spcPts val="1320"/>
                        </a:spcBef>
                      </a:pPr>
                      <a:r>
                        <a:rPr sz="1200" spc="0">
                          <a:latin typeface="Arial MT"/>
                          <a:cs typeface="Arial MT"/>
                        </a:rPr>
                        <a:t>Anlamsal varlık çıkarımı (NER), eksik bilgi analizi, RAG mimarisinin kurulması.</a:t>
                      </a:r>
                    </a:p>
                  </a:txBody>
                  <a:tcPr marL="0" marR="0" marT="1676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1595755">
                <a:tc>
                  <a:txBody>
                    <a:bodyPr/>
                    <a:lstStyle/>
                    <a:p>
                      <a:pPr>
                        <a:lnSpc>
                          <a:spcPct val="100000"/>
                        </a:lnSpc>
                        <a:spcBef>
                          <a:spcPts val="80"/>
                        </a:spcBef>
                      </a:pPr>
                      <a:endParaRPr sz="1200" spc="0">
                        <a:latin typeface="Times New Roman"/>
                        <a:cs typeface="Times New Roman"/>
                      </a:endParaRPr>
                    </a:p>
                    <a:p>
                      <a:pPr marL="95885">
                        <a:lnSpc>
                          <a:spcPct val="100000"/>
                        </a:lnSpc>
                        <a:spcBef>
                          <a:spcPts val="5"/>
                        </a:spcBef>
                      </a:pPr>
                      <a:r>
                        <a:rPr sz="1200" b="1" spc="0">
                          <a:latin typeface="Arial"/>
                          <a:cs typeface="Arial"/>
                        </a:rPr>
                        <a:t>Muhammed Can</a:t>
                      </a:r>
                      <a:endParaRPr sz="1200" spc="0">
                        <a:latin typeface="Arial"/>
                        <a:cs typeface="Arial"/>
                      </a:endParaRPr>
                    </a:p>
                    <a:p>
                      <a:pPr marL="95885">
                        <a:lnSpc>
                          <a:spcPct val="100000"/>
                        </a:lnSpc>
                        <a:spcBef>
                          <a:spcPts val="140"/>
                        </a:spcBef>
                      </a:pPr>
                      <a:r>
                        <a:rPr sz="1200" b="1" spc="0">
                          <a:latin typeface="Arial"/>
                          <a:cs typeface="Arial"/>
                        </a:rPr>
                        <a:t>Akbaş</a:t>
                      </a:r>
                      <a:endParaRPr sz="1200" spc="0">
                        <a:latin typeface="Arial"/>
                        <a:cs typeface="Arial"/>
                      </a:endParaRPr>
                    </a:p>
                  </a:txBody>
                  <a:tcPr marL="0" marR="0" marT="1016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4615" marR="332740">
                        <a:lnSpc>
                          <a:spcPct val="109600"/>
                        </a:lnSpc>
                        <a:spcBef>
                          <a:spcPts val="1325"/>
                        </a:spcBef>
                      </a:pPr>
                      <a:r>
                        <a:rPr sz="1200" spc="0">
                          <a:latin typeface="Arial MT"/>
                          <a:cs typeface="Arial MT"/>
                        </a:rPr>
                        <a:t>Agent 3 Geliştiricisi / Yazılım Mimarı</a:t>
                      </a:r>
                    </a:p>
                  </a:txBody>
                  <a:tcPr marL="0" marR="0" marT="16827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0"/>
                        </a:spcBef>
                      </a:pPr>
                      <a:endParaRPr sz="1200" spc="0">
                        <a:latin typeface="Times New Roman"/>
                        <a:cs typeface="Times New Roman"/>
                      </a:endParaRPr>
                    </a:p>
                    <a:p>
                      <a:pPr marL="93980">
                        <a:lnSpc>
                          <a:spcPct val="100000"/>
                        </a:lnSpc>
                        <a:spcBef>
                          <a:spcPts val="5"/>
                        </a:spcBef>
                      </a:pPr>
                      <a:r>
                        <a:rPr sz="1200" spc="0">
                          <a:latin typeface="Arial MT"/>
                          <a:cs typeface="Arial MT"/>
                        </a:rPr>
                        <a:t>Resmî Yazı</a:t>
                      </a:r>
                    </a:p>
                    <a:p>
                      <a:pPr marL="93980">
                        <a:lnSpc>
                          <a:spcPct val="100000"/>
                        </a:lnSpc>
                        <a:spcBef>
                          <a:spcPts val="140"/>
                        </a:spcBef>
                      </a:pPr>
                      <a:r>
                        <a:rPr sz="1200" spc="0">
                          <a:latin typeface="Arial MT"/>
                          <a:cs typeface="Arial MT"/>
                        </a:rPr>
                        <a:t>Taslaklama</a:t>
                      </a:r>
                    </a:p>
                  </a:txBody>
                  <a:tcPr marL="0" marR="0" marT="1016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5885" marR="316865">
                        <a:lnSpc>
                          <a:spcPct val="109900"/>
                        </a:lnSpc>
                        <a:spcBef>
                          <a:spcPts val="1320"/>
                        </a:spcBef>
                      </a:pPr>
                      <a:r>
                        <a:rPr sz="1200" spc="0">
                          <a:latin typeface="Arial MT"/>
                          <a:cs typeface="Arial MT"/>
                        </a:rPr>
                        <a:t>Deterministik şablon motoru, slot-filling LLM optimizasyonu, üslup ve resmî biçem kontrolü.</a:t>
                      </a:r>
                    </a:p>
                  </a:txBody>
                  <a:tcPr marL="0" marR="0" marT="1676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04" y="914400"/>
          <a:ext cx="5814695" cy="2388235"/>
        </p:xfrm>
        <a:graphic>
          <a:graphicData uri="http://schemas.openxmlformats.org/drawingml/2006/table">
            <a:tbl>
              <a:tblPr firstRow="1" bandRow="1">
                <a:tableStyleId>{2D5ABB26-0587-4C30-8999-92F81FD0307C}</a:tableStyleId>
              </a:tblPr>
              <a:tblGrid>
                <a:gridCol w="1454150">
                  <a:extLst>
                    <a:ext uri="{9D8B030D-6E8A-4147-A177-3AD203B41FA5}">
                      <a16:colId xmlns:a16="http://schemas.microsoft.com/office/drawing/2014/main" val="20000"/>
                    </a:ext>
                  </a:extLst>
                </a:gridCol>
                <a:gridCol w="1452880">
                  <a:extLst>
                    <a:ext uri="{9D8B030D-6E8A-4147-A177-3AD203B41FA5}">
                      <a16:colId xmlns:a16="http://schemas.microsoft.com/office/drawing/2014/main" val="20001"/>
                    </a:ext>
                  </a:extLst>
                </a:gridCol>
                <a:gridCol w="1452880">
                  <a:extLst>
                    <a:ext uri="{9D8B030D-6E8A-4147-A177-3AD203B41FA5}">
                      <a16:colId xmlns:a16="http://schemas.microsoft.com/office/drawing/2014/main" val="20002"/>
                    </a:ext>
                  </a:extLst>
                </a:gridCol>
                <a:gridCol w="1454785">
                  <a:extLst>
                    <a:ext uri="{9D8B030D-6E8A-4147-A177-3AD203B41FA5}">
                      <a16:colId xmlns:a16="http://schemas.microsoft.com/office/drawing/2014/main" val="20003"/>
                    </a:ext>
                  </a:extLst>
                </a:gridCol>
              </a:tblGrid>
              <a:tr h="993775">
                <a:tc>
                  <a:txBody>
                    <a:bodyPr/>
                    <a:lstStyle/>
                    <a:p>
                      <a:pPr>
                        <a:lnSpc>
                          <a:spcPct val="100000"/>
                        </a:lnSpc>
                        <a:spcBef>
                          <a:spcPts val="95"/>
                        </a:spcBef>
                      </a:pPr>
                      <a:endParaRPr sz="1200">
                        <a:latin typeface="Times New Roman"/>
                        <a:cs typeface="Times New Roman"/>
                      </a:endParaRPr>
                    </a:p>
                    <a:p>
                      <a:pPr marL="95885">
                        <a:lnSpc>
                          <a:spcPct val="100000"/>
                        </a:lnSpc>
                      </a:pPr>
                      <a:r>
                        <a:rPr sz="1200" b="1">
                          <a:latin typeface="Arial"/>
                          <a:cs typeface="Arial"/>
                        </a:rPr>
                        <a:t>Ekip</a:t>
                      </a:r>
                      <a:r>
                        <a:rPr sz="1200" b="1" spc="-15">
                          <a:latin typeface="Arial"/>
                          <a:cs typeface="Arial"/>
                        </a:rPr>
                        <a:t> </a:t>
                      </a:r>
                      <a:r>
                        <a:rPr sz="1200" b="1" spc="-10">
                          <a:latin typeface="Arial"/>
                          <a:cs typeface="Arial"/>
                        </a:rPr>
                        <a:t>Üyesi</a:t>
                      </a:r>
                      <a:endParaRPr sz="1200">
                        <a:latin typeface="Arial"/>
                        <a:cs typeface="Arial"/>
                      </a:endParaRPr>
                    </a:p>
                  </a:txBody>
                  <a:tcPr marL="0" marR="0" marT="12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95"/>
                        </a:spcBef>
                      </a:pPr>
                      <a:endParaRPr sz="1200">
                        <a:latin typeface="Times New Roman"/>
                        <a:cs typeface="Times New Roman"/>
                      </a:endParaRPr>
                    </a:p>
                    <a:p>
                      <a:pPr marL="94615">
                        <a:lnSpc>
                          <a:spcPct val="100000"/>
                        </a:lnSpc>
                      </a:pPr>
                      <a:r>
                        <a:rPr sz="1200" b="1">
                          <a:latin typeface="Arial"/>
                          <a:cs typeface="Arial"/>
                        </a:rPr>
                        <a:t>Takım</a:t>
                      </a:r>
                      <a:r>
                        <a:rPr sz="1200" b="1" spc="-20">
                          <a:latin typeface="Arial"/>
                          <a:cs typeface="Arial"/>
                        </a:rPr>
                        <a:t> Rolü</a:t>
                      </a:r>
                      <a:endParaRPr sz="1200">
                        <a:latin typeface="Arial"/>
                        <a:cs typeface="Arial"/>
                      </a:endParaRPr>
                    </a:p>
                  </a:txBody>
                  <a:tcPr marL="0" marR="0" marT="12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marL="93980" marR="223520">
                        <a:lnSpc>
                          <a:spcPct val="109200"/>
                        </a:lnSpc>
                        <a:spcBef>
                          <a:spcPts val="1345"/>
                        </a:spcBef>
                      </a:pPr>
                      <a:r>
                        <a:rPr sz="1200" b="1">
                          <a:latin typeface="Arial"/>
                          <a:cs typeface="Arial"/>
                        </a:rPr>
                        <a:t>Sistem</a:t>
                      </a:r>
                      <a:r>
                        <a:rPr sz="1200" b="1" spc="-10">
                          <a:latin typeface="Arial"/>
                          <a:cs typeface="Arial"/>
                        </a:rPr>
                        <a:t> Bileşeni Sorumluluğu</a:t>
                      </a:r>
                      <a:endParaRPr sz="1200">
                        <a:latin typeface="Arial"/>
                        <a:cs typeface="Arial"/>
                      </a:endParaRPr>
                    </a:p>
                  </a:txBody>
                  <a:tcPr marL="0" marR="0" marT="17081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marL="95885" marR="163830">
                        <a:lnSpc>
                          <a:spcPct val="109600"/>
                        </a:lnSpc>
                        <a:spcBef>
                          <a:spcPts val="1340"/>
                        </a:spcBef>
                      </a:pPr>
                      <a:r>
                        <a:rPr sz="1200" b="1">
                          <a:latin typeface="Arial"/>
                          <a:cs typeface="Arial"/>
                        </a:rPr>
                        <a:t>Geliştirme</a:t>
                      </a:r>
                      <a:r>
                        <a:rPr sz="1200" b="1" spc="-45">
                          <a:latin typeface="Arial"/>
                          <a:cs typeface="Arial"/>
                        </a:rPr>
                        <a:t> </a:t>
                      </a:r>
                      <a:r>
                        <a:rPr sz="1200" b="1" spc="-25">
                          <a:latin typeface="Arial"/>
                          <a:cs typeface="Arial"/>
                        </a:rPr>
                        <a:t>ve </a:t>
                      </a:r>
                      <a:r>
                        <a:rPr sz="1200" b="1" spc="-10">
                          <a:latin typeface="Arial"/>
                          <a:cs typeface="Arial"/>
                        </a:rPr>
                        <a:t>Dokümantasyon </a:t>
                      </a:r>
                      <a:r>
                        <a:rPr sz="1200" b="1" spc="-20">
                          <a:latin typeface="Arial"/>
                          <a:cs typeface="Arial"/>
                        </a:rPr>
                        <a:t>Alanı</a:t>
                      </a:r>
                      <a:endParaRPr sz="1200">
                        <a:latin typeface="Arial"/>
                        <a:cs typeface="Arial"/>
                      </a:endParaRPr>
                    </a:p>
                  </a:txBody>
                  <a:tcPr marL="0" marR="0" marT="170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extLst>
                  <a:ext uri="{0D108BD9-81ED-4DB2-BD59-A6C34878D82A}">
                    <a16:rowId xmlns:a16="http://schemas.microsoft.com/office/drawing/2014/main" val="10000"/>
                  </a:ext>
                </a:extLst>
              </a:tr>
              <a:tr h="1394460">
                <a:tc>
                  <a:txBody>
                    <a:bodyPr/>
                    <a:lstStyle/>
                    <a:p>
                      <a:pPr>
                        <a:lnSpc>
                          <a:spcPct val="100000"/>
                        </a:lnSpc>
                        <a:spcBef>
                          <a:spcPts val="80"/>
                        </a:spcBef>
                      </a:pPr>
                      <a:endParaRPr sz="1200">
                        <a:latin typeface="Times New Roman"/>
                        <a:cs typeface="Times New Roman"/>
                      </a:endParaRPr>
                    </a:p>
                    <a:p>
                      <a:pPr marL="95885">
                        <a:lnSpc>
                          <a:spcPct val="100000"/>
                        </a:lnSpc>
                        <a:spcBef>
                          <a:spcPts val="5"/>
                        </a:spcBef>
                      </a:pPr>
                      <a:r>
                        <a:rPr sz="1200" b="1">
                          <a:latin typeface="Arial"/>
                          <a:cs typeface="Arial"/>
                        </a:rPr>
                        <a:t>Yasin</a:t>
                      </a:r>
                      <a:r>
                        <a:rPr sz="1200" b="1" spc="-25">
                          <a:latin typeface="Arial"/>
                          <a:cs typeface="Arial"/>
                        </a:rPr>
                        <a:t> </a:t>
                      </a:r>
                      <a:r>
                        <a:rPr sz="1200" b="1">
                          <a:latin typeface="Arial"/>
                          <a:cs typeface="Arial"/>
                        </a:rPr>
                        <a:t>Taha</a:t>
                      </a:r>
                      <a:r>
                        <a:rPr sz="1200" b="1" spc="-10">
                          <a:latin typeface="Arial"/>
                          <a:cs typeface="Arial"/>
                        </a:rPr>
                        <a:t> </a:t>
                      </a:r>
                      <a:r>
                        <a:rPr sz="1200" b="1" spc="-20">
                          <a:latin typeface="Arial"/>
                          <a:cs typeface="Arial"/>
                        </a:rPr>
                        <a:t>İnal</a:t>
                      </a:r>
                      <a:endParaRPr sz="1200">
                        <a:latin typeface="Arial"/>
                        <a:cs typeface="Arial"/>
                      </a:endParaRPr>
                    </a:p>
                  </a:txBody>
                  <a:tcPr marL="0" marR="0" marT="1016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4615" marR="538480">
                        <a:lnSpc>
                          <a:spcPct val="109700"/>
                        </a:lnSpc>
                        <a:spcBef>
                          <a:spcPts val="1325"/>
                        </a:spcBef>
                      </a:pPr>
                      <a:r>
                        <a:rPr sz="1200">
                          <a:latin typeface="Arial MT"/>
                          <a:cs typeface="Arial MT"/>
                        </a:rPr>
                        <a:t>Agent</a:t>
                      </a:r>
                      <a:r>
                        <a:rPr sz="1200" spc="-20">
                          <a:latin typeface="Arial MT"/>
                          <a:cs typeface="Arial MT"/>
                        </a:rPr>
                        <a:t> </a:t>
                      </a:r>
                      <a:r>
                        <a:rPr sz="1200" spc="-50">
                          <a:latin typeface="Arial MT"/>
                          <a:cs typeface="Arial MT"/>
                        </a:rPr>
                        <a:t>4 Geliştiricisi</a:t>
                      </a:r>
                      <a:r>
                        <a:rPr sz="1200">
                          <a:latin typeface="Arial MT"/>
                          <a:cs typeface="Arial MT"/>
                        </a:rPr>
                        <a:t> </a:t>
                      </a:r>
                      <a:r>
                        <a:rPr sz="1200" spc="-50">
                          <a:latin typeface="Arial MT"/>
                          <a:cs typeface="Arial MT"/>
                        </a:rPr>
                        <a:t>/ </a:t>
                      </a:r>
                      <a:r>
                        <a:rPr sz="1200" spc="-10">
                          <a:latin typeface="Arial MT"/>
                          <a:cs typeface="Arial MT"/>
                        </a:rPr>
                        <a:t>Sistem Entegratörü</a:t>
                      </a:r>
                      <a:endParaRPr sz="1200">
                        <a:latin typeface="Arial MT"/>
                        <a:cs typeface="Arial MT"/>
                      </a:endParaRPr>
                    </a:p>
                  </a:txBody>
                  <a:tcPr marL="0" marR="0" marT="16827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3980" marR="105410">
                        <a:lnSpc>
                          <a:spcPct val="110000"/>
                        </a:lnSpc>
                        <a:spcBef>
                          <a:spcPts val="1320"/>
                        </a:spcBef>
                      </a:pPr>
                      <a:r>
                        <a:rPr sz="1200">
                          <a:latin typeface="Arial MT"/>
                          <a:cs typeface="Arial MT"/>
                        </a:rPr>
                        <a:t>Birim</a:t>
                      </a:r>
                      <a:r>
                        <a:rPr sz="1200" spc="-5">
                          <a:latin typeface="Arial MT"/>
                          <a:cs typeface="Arial MT"/>
                        </a:rPr>
                        <a:t> </a:t>
                      </a:r>
                      <a:r>
                        <a:rPr sz="1200" spc="-10">
                          <a:latin typeface="Arial MT"/>
                          <a:cs typeface="Arial MT"/>
                        </a:rPr>
                        <a:t>Yönlendirme </a:t>
                      </a:r>
                      <a:r>
                        <a:rPr sz="1200">
                          <a:latin typeface="Arial MT"/>
                          <a:cs typeface="Arial MT"/>
                        </a:rPr>
                        <a:t>ve</a:t>
                      </a:r>
                      <a:r>
                        <a:rPr sz="1200" spc="-5">
                          <a:latin typeface="Arial MT"/>
                          <a:cs typeface="Arial MT"/>
                        </a:rPr>
                        <a:t> </a:t>
                      </a:r>
                      <a:r>
                        <a:rPr sz="1200" spc="-10">
                          <a:latin typeface="Arial MT"/>
                          <a:cs typeface="Arial MT"/>
                        </a:rPr>
                        <a:t>Orkestrasyon</a:t>
                      </a:r>
                      <a:endParaRPr sz="1200">
                        <a:latin typeface="Arial MT"/>
                        <a:cs typeface="Arial MT"/>
                      </a:endParaRPr>
                    </a:p>
                  </a:txBody>
                  <a:tcPr marL="0" marR="0" marT="1676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5885" marR="119380">
                        <a:lnSpc>
                          <a:spcPct val="109800"/>
                        </a:lnSpc>
                        <a:spcBef>
                          <a:spcPts val="1320"/>
                        </a:spcBef>
                      </a:pPr>
                      <a:r>
                        <a:rPr sz="1200" spc="-10">
                          <a:latin typeface="Arial MT"/>
                          <a:cs typeface="Arial MT"/>
                        </a:rPr>
                        <a:t>LangGraph </a:t>
                      </a:r>
                      <a:r>
                        <a:rPr sz="1200">
                          <a:latin typeface="Arial MT"/>
                          <a:cs typeface="Arial MT"/>
                        </a:rPr>
                        <a:t>kurulumu,</a:t>
                      </a:r>
                      <a:r>
                        <a:rPr sz="1200" spc="-70">
                          <a:latin typeface="Arial MT"/>
                          <a:cs typeface="Arial MT"/>
                        </a:rPr>
                        <a:t> </a:t>
                      </a:r>
                      <a:r>
                        <a:rPr sz="1200" spc="-10">
                          <a:latin typeface="Arial MT"/>
                          <a:cs typeface="Arial MT"/>
                        </a:rPr>
                        <a:t>human-in-the-</a:t>
                      </a:r>
                      <a:r>
                        <a:rPr sz="1200">
                          <a:latin typeface="Arial MT"/>
                          <a:cs typeface="Arial MT"/>
                        </a:rPr>
                        <a:t>loop</a:t>
                      </a:r>
                      <a:r>
                        <a:rPr sz="1200" spc="35">
                          <a:latin typeface="Arial MT"/>
                          <a:cs typeface="Arial MT"/>
                        </a:rPr>
                        <a:t> </a:t>
                      </a:r>
                      <a:r>
                        <a:rPr sz="1200" spc="-25">
                          <a:latin typeface="Arial MT"/>
                          <a:cs typeface="Arial MT"/>
                        </a:rPr>
                        <a:t>ve </a:t>
                      </a:r>
                      <a:r>
                        <a:rPr sz="1200">
                          <a:latin typeface="Arial MT"/>
                          <a:cs typeface="Arial MT"/>
                        </a:rPr>
                        <a:t>kullanıcı</a:t>
                      </a:r>
                      <a:r>
                        <a:rPr sz="1200" spc="-35">
                          <a:latin typeface="Arial MT"/>
                          <a:cs typeface="Arial MT"/>
                        </a:rPr>
                        <a:t> </a:t>
                      </a:r>
                      <a:r>
                        <a:rPr sz="1200" spc="-10">
                          <a:latin typeface="Arial MT"/>
                          <a:cs typeface="Arial MT"/>
                        </a:rPr>
                        <a:t>arayüzü tasarımı.</a:t>
                      </a:r>
                      <a:endParaRPr sz="1200">
                        <a:latin typeface="Arial MT"/>
                        <a:cs typeface="Arial MT"/>
                      </a:endParaRPr>
                    </a:p>
                  </a:txBody>
                  <a:tcPr marL="0" marR="0" marT="1676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sp>
        <p:nvSpPr>
          <p:cNvPr id="3" name="object 3"/>
          <p:cNvSpPr txBox="1"/>
          <p:nvPr/>
        </p:nvSpPr>
        <p:spPr>
          <a:xfrm>
            <a:off x="902004" y="3576954"/>
            <a:ext cx="5971540" cy="4103367"/>
          </a:xfrm>
          <a:prstGeom prst="rect">
            <a:avLst/>
          </a:prstGeom>
        </p:spPr>
        <p:txBody>
          <a:bodyPr vert="horz" wrap="square" lIns="0" tIns="12700" rIns="0" bIns="0" rtlCol="0">
            <a:spAutoFit/>
          </a:bodyPr>
          <a:lstStyle/>
          <a:p>
            <a:pPr algn="ctr">
              <a:lnSpc>
                <a:spcPct val="100000"/>
              </a:lnSpc>
              <a:spcBef>
                <a:spcPts val="100"/>
              </a:spcBef>
            </a:pPr>
            <a:r>
              <a:rPr sz="1200">
                <a:latin typeface="Arial MT"/>
                <a:cs typeface="Arial MT"/>
              </a:rPr>
              <a:t>Tablo 1.1: Takım Rolleri ve Görev Dağılım Matrisi</a:t>
            </a:r>
          </a:p>
          <a:p>
            <a:pPr>
              <a:lnSpc>
                <a:spcPct val="100000"/>
              </a:lnSpc>
              <a:spcBef>
                <a:spcPts val="1225"/>
              </a:spcBef>
            </a:pPr>
            <a:endParaRPr sz="1200">
              <a:latin typeface="Arial MT"/>
              <a:cs typeface="Arial MT"/>
            </a:endParaRPr>
          </a:p>
          <a:p>
            <a:pPr marL="12700">
              <a:lnSpc>
                <a:spcPct val="100000"/>
              </a:lnSpc>
            </a:pPr>
            <a:r>
              <a:rPr sz="1400">
                <a:latin typeface="Arial Black"/>
                <a:cs typeface="Arial Black"/>
              </a:rPr>
              <a:t>2. PROJE ÖZETİ</a:t>
            </a:r>
          </a:p>
          <a:p>
            <a:pPr marL="12700" marR="5080" algn="just">
              <a:lnSpc>
                <a:spcPct val="110200"/>
              </a:lnSpc>
              <a:spcBef>
                <a:spcPts val="1350"/>
              </a:spcBef>
            </a:pPr>
            <a:r>
              <a:rPr sz="1200">
                <a:latin typeface="Arial MT"/>
                <a:cs typeface="Arial MT"/>
              </a:rPr>
              <a:t>Yarışma hazırlık sürecinin ilk aşamasında, kamu kurumlarındaki resmî yazışma pratikleri ve yasal mevzuatlar ("Resmî Yazışmalarda Uygulanacak Usul ve Esaslar Hakkında Yönetmelik") derinlemesine incelenmiştir. Şu ana kadar gerçekleştirilen ön çalışmalar kapsamında projenin en kritik bileşeni olan "</a:t>
            </a:r>
            <a:r>
              <a:rPr sz="1200" err="1">
                <a:latin typeface="Arial MT"/>
                <a:cs typeface="Arial MT"/>
              </a:rPr>
              <a:t>Ajanlar</a:t>
            </a:r>
            <a:r>
              <a:rPr sz="1200">
                <a:latin typeface="Arial MT"/>
                <a:cs typeface="Arial MT"/>
              </a:rPr>
              <a:t> </a:t>
            </a:r>
            <a:r>
              <a:rPr sz="1200" err="1">
                <a:latin typeface="Arial MT"/>
                <a:cs typeface="Arial MT"/>
              </a:rPr>
              <a:t>Arası</a:t>
            </a:r>
            <a:r>
              <a:rPr lang="tr-TR" sz="1200">
                <a:latin typeface="Arial MT"/>
                <a:cs typeface="Arial MT"/>
              </a:rPr>
              <a:t> </a:t>
            </a:r>
            <a:r>
              <a:rPr sz="1200">
                <a:latin typeface="Arial MT"/>
                <a:cs typeface="Arial MT"/>
              </a:rPr>
              <a:t>İ</a:t>
            </a:r>
            <a:r>
              <a:rPr lang="tr-TR" sz="1200" err="1">
                <a:latin typeface="Arial MT"/>
                <a:cs typeface="Arial MT"/>
              </a:rPr>
              <a:t>letişim</a:t>
            </a:r>
            <a:r>
              <a:rPr sz="1200">
                <a:latin typeface="Arial MT"/>
                <a:cs typeface="Arial MT"/>
              </a:rPr>
              <a:t> Protokolleri ve Veri Sözleşmeleri (API Contracts v1.0)" tamamen tamamlanmış ve dondurulmuştur. Bağımsız ajanların birbirini engellemeden paralel olarak kodlanabilmesi amacıyla Agent 1→2, Agent 2→3 ve Agent 3→4 arasındaki JSON şemaları tasarlanmış ve takıma dağıtılmıştır.</a:t>
            </a:r>
          </a:p>
          <a:p>
            <a:pPr marL="12700" marR="8890" algn="just">
              <a:lnSpc>
                <a:spcPct val="110300"/>
              </a:lnSpc>
              <a:spcBef>
                <a:spcPts val="1125"/>
              </a:spcBef>
            </a:pPr>
            <a:r>
              <a:rPr sz="1200">
                <a:latin typeface="Arial MT"/>
                <a:cs typeface="Arial MT"/>
              </a:rPr>
              <a:t>Teknik bileşenler düzeyinde; Agent 1 için OpenCV tabanlı eğiklik düzeltme (deskew) ve gürültü giderme algoritmalarının prototipleri test edilmiştir. Agent 2 için kullanılacak mevzuat  metinlerinin  vektörleştirilmesi  amacıyla  ChromaDB  entegrasyon  şeması çıkarılmıştır. Agent 3 tarafında slot-filling yaklaşımı için gerekli deterministik HTML/Jinja2 şablon iskeletleri oluşturulmuş, Agent 4 için ise LangGraph üzerindeki durum yapısı Python dilinde tanımlanmıştır. Sistem şu an mimari tasarım evresini tamamlamış ve sentetik veri üretimi ile model entegrasyonu aşamasına geçiş yapmıştır.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918718"/>
            <a:ext cx="5971540" cy="3767454"/>
          </a:xfrm>
          <a:prstGeom prst="rect">
            <a:avLst/>
          </a:prstGeom>
        </p:spPr>
        <p:txBody>
          <a:bodyPr vert="horz" wrap="square" lIns="0" tIns="12700" rIns="0" bIns="0" rtlCol="0">
            <a:spAutoFit/>
          </a:bodyPr>
          <a:lstStyle/>
          <a:p>
            <a:pPr marL="249554" indent="-236854">
              <a:lnSpc>
                <a:spcPct val="100000"/>
              </a:lnSpc>
              <a:spcBef>
                <a:spcPts val="100"/>
              </a:spcBef>
              <a:buAutoNum type="arabicPeriod" startAt="3"/>
              <a:tabLst>
                <a:tab pos="249554" algn="l"/>
              </a:tabLst>
            </a:pPr>
            <a:r>
              <a:rPr sz="1400">
                <a:latin typeface="Arial Black"/>
                <a:cs typeface="Arial Black"/>
              </a:rPr>
              <a:t>ALGORİTMALAR VE SİSTEM MİMARİSİ</a:t>
            </a:r>
          </a:p>
          <a:p>
            <a:pPr>
              <a:lnSpc>
                <a:spcPct val="100000"/>
              </a:lnSpc>
              <a:spcBef>
                <a:spcPts val="100"/>
              </a:spcBef>
              <a:buFont typeface="Arial Black"/>
              <a:buAutoNum type="arabicPeriod" startAt="3"/>
            </a:pPr>
            <a:endParaRPr sz="1400">
              <a:latin typeface="Arial Black"/>
              <a:cs typeface="Arial Black"/>
            </a:endParaRPr>
          </a:p>
          <a:p>
            <a:pPr marL="367030" lvl="1" indent="-354330">
              <a:lnSpc>
                <a:spcPct val="100000"/>
              </a:lnSpc>
              <a:buFont typeface="Arial Black"/>
              <a:buAutoNum type="arabicPeriod"/>
              <a:tabLst>
                <a:tab pos="367030" algn="l"/>
              </a:tabLst>
            </a:pPr>
            <a:r>
              <a:rPr sz="1200">
                <a:latin typeface="Arial Black"/>
                <a:cs typeface="Arial Black"/>
              </a:rPr>
              <a:t>Veri Setleri</a:t>
            </a:r>
          </a:p>
          <a:p>
            <a:pPr marL="12700" marR="10160" algn="just">
              <a:lnSpc>
                <a:spcPct val="110200"/>
              </a:lnSpc>
              <a:spcBef>
                <a:spcPts val="919"/>
              </a:spcBef>
            </a:pPr>
            <a:r>
              <a:rPr sz="1200">
                <a:latin typeface="Arial MT"/>
                <a:cs typeface="Arial MT"/>
              </a:rPr>
              <a:t>Şartnamede yer alan "Yarışmada gerçek kamu verisi kullanılmayacaktır" (Madde 6.5) kuralına tam uyum sağlamak amacıyla projenin test ve eğitim süreçlerinde tamamen yapay veriler kullanılacaktır. Bu stratejinin seçilme sebebi, kamu verilerinin gizlilik içermesi ve KVKK kısıtlamaları nedeniyle erişilebilir olmamasıdır. Ayrıca sentetik veri üretimi,  uç  durum  senaryolarının  sisteme  yapay  olarak  beslenmesine  olanak tanımaktadır.</a:t>
            </a:r>
          </a:p>
          <a:p>
            <a:pPr marL="12700" marR="5080" algn="just">
              <a:lnSpc>
                <a:spcPct val="110200"/>
              </a:lnSpc>
              <a:spcBef>
                <a:spcPts val="1130"/>
              </a:spcBef>
            </a:pPr>
            <a:r>
              <a:rPr sz="1200">
                <a:latin typeface="Arial MT"/>
                <a:cs typeface="Arial MT"/>
              </a:rPr>
              <a:t>Veri seti üretim hattında, Python Faker ve Jinja2 kütüphaneleri kullanılarak resmî standartlara uygun boş belge şablonları doldurulacaktır. Metin gövdeleri ise büyük dil modelleri aracılığıyla kurgusal olaylar ve şahıslar üzerinden çeşitlendirilecektir. Eğitilen modeller üzerinde veri çeşitliliğinin etkisini ölçmek adına, veri setinde 11 farklı resmi evrak türü (Dilekçe, Resmî Üst Yazı, Fatura, Tutanak vb.) dengeli bir dağılımla temsil edilecektir. Üretilen belgeler taranmış görüntü (görsel noise eklenmiş PDF/JPEG) ve dijital metin katmanı olmak üzere iki farklı modda sisteme beslenerek OCR motorunun doğruluğu ve esnekliği test edilecektir.</a:t>
            </a:r>
          </a:p>
        </p:txBody>
      </p:sp>
      <p:graphicFrame>
        <p:nvGraphicFramePr>
          <p:cNvPr id="3" name="object 3"/>
          <p:cNvGraphicFramePr>
            <a:graphicFrameLocks noGrp="1"/>
          </p:cNvGraphicFramePr>
          <p:nvPr>
            <p:extLst>
              <p:ext uri="{D42A27DB-BD31-4B8C-83A1-F6EECF244321}">
                <p14:modId xmlns:p14="http://schemas.microsoft.com/office/powerpoint/2010/main" val="4117330513"/>
              </p:ext>
            </p:extLst>
          </p:nvPr>
        </p:nvGraphicFramePr>
        <p:xfrm>
          <a:off x="914704" y="5283072"/>
          <a:ext cx="5110798" cy="3500755"/>
        </p:xfrm>
        <a:graphic>
          <a:graphicData uri="http://schemas.openxmlformats.org/drawingml/2006/table">
            <a:tbl>
              <a:tblPr firstRow="1" bandRow="1">
                <a:tableStyleId>{2D5ABB26-0587-4C30-8999-92F81FD0307C}</a:tableStyleId>
              </a:tblPr>
              <a:tblGrid>
                <a:gridCol w="2141538">
                  <a:extLst>
                    <a:ext uri="{9D8B030D-6E8A-4147-A177-3AD203B41FA5}">
                      <a16:colId xmlns:a16="http://schemas.microsoft.com/office/drawing/2014/main" val="20000"/>
                    </a:ext>
                  </a:extLst>
                </a:gridCol>
                <a:gridCol w="2969260">
                  <a:extLst>
                    <a:ext uri="{9D8B030D-6E8A-4147-A177-3AD203B41FA5}">
                      <a16:colId xmlns:a16="http://schemas.microsoft.com/office/drawing/2014/main" val="20001"/>
                    </a:ext>
                  </a:extLst>
                </a:gridCol>
              </a:tblGrid>
              <a:tr h="371475">
                <a:tc>
                  <a:txBody>
                    <a:bodyPr/>
                    <a:lstStyle/>
                    <a:p>
                      <a:pPr marL="67945">
                        <a:lnSpc>
                          <a:spcPts val="1390"/>
                        </a:lnSpc>
                      </a:pPr>
                      <a:r>
                        <a:rPr sz="1200" b="1" spc="0">
                          <a:latin typeface="Arial"/>
                          <a:cs typeface="Arial"/>
                        </a:rPr>
                        <a:t>Evrak Türü</a:t>
                      </a:r>
                      <a:endParaRPr sz="1200" spc="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86AECA"/>
                    </a:solidFill>
                  </a:tcPr>
                </a:tc>
                <a:tc>
                  <a:txBody>
                    <a:bodyPr/>
                    <a:lstStyle/>
                    <a:p>
                      <a:pPr marL="68580">
                        <a:lnSpc>
                          <a:spcPts val="1390"/>
                        </a:lnSpc>
                      </a:pPr>
                      <a:r>
                        <a:rPr sz="1200" b="1" spc="0">
                          <a:latin typeface="Arial"/>
                          <a:cs typeface="Arial"/>
                        </a:rPr>
                        <a:t>Zorunlu Alanlar</a:t>
                      </a:r>
                      <a:endParaRPr sz="1200" spc="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86AECA"/>
                    </a:solidFill>
                  </a:tcPr>
                </a:tc>
                <a:extLst>
                  <a:ext uri="{0D108BD9-81ED-4DB2-BD59-A6C34878D82A}">
                    <a16:rowId xmlns:a16="http://schemas.microsoft.com/office/drawing/2014/main" val="10000"/>
                  </a:ext>
                </a:extLst>
              </a:tr>
              <a:tr h="372745">
                <a:tc>
                  <a:txBody>
                    <a:bodyPr/>
                    <a:lstStyle/>
                    <a:p>
                      <a:pPr marL="67945">
                        <a:lnSpc>
                          <a:spcPts val="1405"/>
                        </a:lnSpc>
                      </a:pPr>
                      <a:r>
                        <a:rPr sz="1200" b="1" spc="0">
                          <a:latin typeface="Arial"/>
                          <a:cs typeface="Arial"/>
                        </a:rPr>
                        <a:t>DİLEKÇE</a:t>
                      </a:r>
                      <a:endParaRPr sz="1200" spc="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405"/>
                        </a:lnSpc>
                      </a:pPr>
                      <a:r>
                        <a:rPr sz="1200" spc="0">
                          <a:latin typeface="Arial MT"/>
                          <a:cs typeface="Arial MT"/>
                        </a:rPr>
                        <a:t>Gönderici, TC Kimlik, Konu, Tarih</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71475">
                <a:tc>
                  <a:txBody>
                    <a:bodyPr/>
                    <a:lstStyle/>
                    <a:p>
                      <a:pPr marL="67945">
                        <a:lnSpc>
                          <a:spcPts val="1390"/>
                        </a:lnSpc>
                      </a:pPr>
                      <a:r>
                        <a:rPr sz="1200" b="1" spc="0">
                          <a:latin typeface="Arial"/>
                          <a:cs typeface="Arial"/>
                        </a:rPr>
                        <a:t>BİLGİ EDİNME BAŞVURUSU</a:t>
                      </a:r>
                      <a:endParaRPr sz="1200" spc="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1200" spc="0">
                          <a:latin typeface="Arial MT"/>
                          <a:cs typeface="Arial MT"/>
                        </a:rPr>
                        <a:t>Gönderici, TC Kimlik, Alıcı Kurum, Konu</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71475">
                <a:tc>
                  <a:txBody>
                    <a:bodyPr/>
                    <a:lstStyle/>
                    <a:p>
                      <a:pPr marL="67945">
                        <a:lnSpc>
                          <a:spcPts val="1390"/>
                        </a:lnSpc>
                      </a:pPr>
                      <a:r>
                        <a:rPr sz="1200" b="1" spc="0">
                          <a:latin typeface="Arial"/>
                          <a:cs typeface="Arial"/>
                        </a:rPr>
                        <a:t>ŞİKAYET BAŞVURUSU</a:t>
                      </a:r>
                      <a:endParaRPr sz="1200" spc="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1200" spc="0">
                          <a:latin typeface="Arial MT"/>
                          <a:cs typeface="Arial MT"/>
                        </a:rPr>
                        <a:t>Gönderici, TC Kimlik, Konu</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546735">
                <a:tc>
                  <a:txBody>
                    <a:bodyPr/>
                    <a:lstStyle/>
                    <a:p>
                      <a:pPr marL="67945">
                        <a:lnSpc>
                          <a:spcPct val="100000"/>
                        </a:lnSpc>
                        <a:spcBef>
                          <a:spcPts val="635"/>
                        </a:spcBef>
                      </a:pPr>
                      <a:r>
                        <a:rPr sz="1200" b="1" spc="0">
                          <a:latin typeface="Arial"/>
                          <a:cs typeface="Arial"/>
                        </a:rPr>
                        <a:t>RESMÎ ÜST YAZI</a:t>
                      </a:r>
                      <a:endParaRPr sz="1200" spc="0">
                        <a:latin typeface="Arial"/>
                        <a:cs typeface="Arial"/>
                      </a:endParaRPr>
                    </a:p>
                  </a:txBody>
                  <a:tcPr marL="0" marR="0" marT="806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2865">
                        <a:lnSpc>
                          <a:spcPts val="1380"/>
                        </a:lnSpc>
                        <a:spcBef>
                          <a:spcPts val="45"/>
                        </a:spcBef>
                      </a:pPr>
                      <a:r>
                        <a:rPr sz="1200" spc="0">
                          <a:latin typeface="Arial MT"/>
                          <a:cs typeface="Arial MT"/>
                        </a:rPr>
                        <a:t>Gönderici,  Alıcı  Kurum,  Belge  Sayısı, Konu, Tarih, İmza Sahibi</a:t>
                      </a: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547370">
                <a:tc>
                  <a:txBody>
                    <a:bodyPr/>
                    <a:lstStyle/>
                    <a:p>
                      <a:pPr marL="67945">
                        <a:lnSpc>
                          <a:spcPct val="100000"/>
                        </a:lnSpc>
                        <a:spcBef>
                          <a:spcPts val="650"/>
                        </a:spcBef>
                      </a:pPr>
                      <a:r>
                        <a:rPr sz="1200" b="1" spc="0">
                          <a:latin typeface="Arial"/>
                          <a:cs typeface="Arial"/>
                        </a:rPr>
                        <a:t>CEVAP YAZISI</a:t>
                      </a:r>
                      <a:endParaRPr sz="1200" spc="0">
                        <a:latin typeface="Arial"/>
                        <a:cs typeface="Arial"/>
                      </a:endParaRPr>
                    </a:p>
                  </a:txBody>
                  <a:tcPr marL="0" marR="0" marT="825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2865">
                        <a:lnSpc>
                          <a:spcPts val="1380"/>
                        </a:lnSpc>
                        <a:spcBef>
                          <a:spcPts val="50"/>
                        </a:spcBef>
                      </a:pPr>
                      <a:r>
                        <a:rPr sz="1200" spc="0">
                          <a:latin typeface="Arial MT"/>
                          <a:cs typeface="Arial MT"/>
                        </a:rPr>
                        <a:t>Gönderici,  Alıcı  Kurum,  Belge  Sayısı, Konu, Tarih</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71475">
                <a:tc>
                  <a:txBody>
                    <a:bodyPr/>
                    <a:lstStyle/>
                    <a:p>
                      <a:pPr marL="67945">
                        <a:lnSpc>
                          <a:spcPts val="1390"/>
                        </a:lnSpc>
                      </a:pPr>
                      <a:r>
                        <a:rPr sz="1200" b="1" spc="0">
                          <a:latin typeface="Arial"/>
                          <a:cs typeface="Arial"/>
                        </a:rPr>
                        <a:t>BİLGİLENDİRME YAZISI</a:t>
                      </a:r>
                      <a:endParaRPr sz="1200" spc="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1200" spc="0">
                          <a:latin typeface="Arial MT"/>
                          <a:cs typeface="Arial MT"/>
                        </a:rPr>
                        <a:t>Gönderici, Alıcı Kurum, Konu, Tarih</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548005">
                <a:tc>
                  <a:txBody>
                    <a:bodyPr/>
                    <a:lstStyle/>
                    <a:p>
                      <a:pPr marL="67945">
                        <a:lnSpc>
                          <a:spcPct val="100000"/>
                        </a:lnSpc>
                        <a:spcBef>
                          <a:spcPts val="645"/>
                        </a:spcBef>
                      </a:pPr>
                      <a:r>
                        <a:rPr sz="1200" b="1" spc="0">
                          <a:latin typeface="Arial"/>
                          <a:cs typeface="Arial"/>
                        </a:rPr>
                        <a:t>TALİMAT YAZISI</a:t>
                      </a:r>
                      <a:endParaRPr sz="1200" spc="0">
                        <a:latin typeface="Arial"/>
                        <a:cs typeface="Arial"/>
                      </a:endParaRPr>
                    </a:p>
                  </a:txBody>
                  <a:tcPr marL="0" marR="0" marT="819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0960">
                        <a:lnSpc>
                          <a:spcPts val="1380"/>
                        </a:lnSpc>
                        <a:spcBef>
                          <a:spcPts val="45"/>
                        </a:spcBef>
                      </a:pPr>
                      <a:r>
                        <a:rPr sz="1200" spc="0">
                          <a:latin typeface="Arial MT"/>
                          <a:cs typeface="Arial MT"/>
                        </a:rPr>
                        <a:t>Gönderici, Alıcı Kurum, Konu, Tarih, İmza Sahibi</a:t>
                      </a: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04" y="914399"/>
          <a:ext cx="5938520" cy="1662430"/>
        </p:xfrm>
        <a:graphic>
          <a:graphicData uri="http://schemas.openxmlformats.org/drawingml/2006/table">
            <a:tbl>
              <a:tblPr firstRow="1" bandRow="1">
                <a:tableStyleId>{2D5ABB26-0587-4C30-8999-92F81FD0307C}</a:tableStyleId>
              </a:tblPr>
              <a:tblGrid>
                <a:gridCol w="2969260">
                  <a:extLst>
                    <a:ext uri="{9D8B030D-6E8A-4147-A177-3AD203B41FA5}">
                      <a16:colId xmlns:a16="http://schemas.microsoft.com/office/drawing/2014/main" val="20000"/>
                    </a:ext>
                  </a:extLst>
                </a:gridCol>
                <a:gridCol w="2969260">
                  <a:extLst>
                    <a:ext uri="{9D8B030D-6E8A-4147-A177-3AD203B41FA5}">
                      <a16:colId xmlns:a16="http://schemas.microsoft.com/office/drawing/2014/main" val="20001"/>
                    </a:ext>
                  </a:extLst>
                </a:gridCol>
              </a:tblGrid>
              <a:tr h="371475">
                <a:tc>
                  <a:txBody>
                    <a:bodyPr/>
                    <a:lstStyle/>
                    <a:p>
                      <a:pPr marL="67945">
                        <a:lnSpc>
                          <a:spcPts val="1395"/>
                        </a:lnSpc>
                      </a:pPr>
                      <a:r>
                        <a:rPr sz="1200" b="1" spc="-10">
                          <a:latin typeface="Arial"/>
                          <a:cs typeface="Arial"/>
                        </a:rPr>
                        <a:t>FATURA</a:t>
                      </a:r>
                      <a:endParaRPr sz="12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5"/>
                        </a:lnSpc>
                      </a:pPr>
                      <a:r>
                        <a:rPr sz="1200">
                          <a:latin typeface="Arial MT"/>
                          <a:cs typeface="Arial MT"/>
                        </a:rPr>
                        <a:t>Gönderici,</a:t>
                      </a:r>
                      <a:r>
                        <a:rPr sz="1200" spc="-25">
                          <a:latin typeface="Arial MT"/>
                          <a:cs typeface="Arial MT"/>
                        </a:rPr>
                        <a:t> </a:t>
                      </a:r>
                      <a:r>
                        <a:rPr sz="1200">
                          <a:latin typeface="Arial MT"/>
                          <a:cs typeface="Arial MT"/>
                        </a:rPr>
                        <a:t>Tarih,</a:t>
                      </a:r>
                      <a:r>
                        <a:rPr sz="1200" spc="-25">
                          <a:latin typeface="Arial MT"/>
                          <a:cs typeface="Arial MT"/>
                        </a:rPr>
                        <a:t> </a:t>
                      </a:r>
                      <a:r>
                        <a:rPr sz="1200">
                          <a:latin typeface="Arial MT"/>
                          <a:cs typeface="Arial MT"/>
                        </a:rPr>
                        <a:t>Belge</a:t>
                      </a:r>
                      <a:r>
                        <a:rPr sz="1200" spc="-30">
                          <a:latin typeface="Arial MT"/>
                          <a:cs typeface="Arial MT"/>
                        </a:rPr>
                        <a:t> </a:t>
                      </a:r>
                      <a:r>
                        <a:rPr sz="1200" spc="-10">
                          <a:latin typeface="Arial MT"/>
                          <a:cs typeface="Arial MT"/>
                        </a:rPr>
                        <a:t>Sayısı</a:t>
                      </a:r>
                      <a:endParaRPr sz="12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71475">
                <a:tc>
                  <a:txBody>
                    <a:bodyPr/>
                    <a:lstStyle/>
                    <a:p>
                      <a:pPr marL="67945">
                        <a:lnSpc>
                          <a:spcPts val="1390"/>
                        </a:lnSpc>
                      </a:pPr>
                      <a:r>
                        <a:rPr sz="1200" b="1" spc="-10">
                          <a:latin typeface="Arial"/>
                          <a:cs typeface="Arial"/>
                        </a:rPr>
                        <a:t>SÖZLEŞME/PROTOKOL</a:t>
                      </a:r>
                      <a:endParaRPr sz="12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1200">
                          <a:latin typeface="Arial MT"/>
                          <a:cs typeface="Arial MT"/>
                        </a:rPr>
                        <a:t>Gönderici,</a:t>
                      </a:r>
                      <a:r>
                        <a:rPr sz="1200" spc="-30">
                          <a:latin typeface="Arial MT"/>
                          <a:cs typeface="Arial MT"/>
                        </a:rPr>
                        <a:t> </a:t>
                      </a:r>
                      <a:r>
                        <a:rPr sz="1200">
                          <a:latin typeface="Arial MT"/>
                          <a:cs typeface="Arial MT"/>
                        </a:rPr>
                        <a:t>Alıcı</a:t>
                      </a:r>
                      <a:r>
                        <a:rPr sz="1200" spc="-30">
                          <a:latin typeface="Arial MT"/>
                          <a:cs typeface="Arial MT"/>
                        </a:rPr>
                        <a:t> </a:t>
                      </a:r>
                      <a:r>
                        <a:rPr sz="1200">
                          <a:latin typeface="Arial MT"/>
                          <a:cs typeface="Arial MT"/>
                        </a:rPr>
                        <a:t>Kurum,</a:t>
                      </a:r>
                      <a:r>
                        <a:rPr sz="1200" spc="-30">
                          <a:latin typeface="Arial MT"/>
                          <a:cs typeface="Arial MT"/>
                        </a:rPr>
                        <a:t> </a:t>
                      </a:r>
                      <a:r>
                        <a:rPr sz="1200">
                          <a:latin typeface="Arial MT"/>
                          <a:cs typeface="Arial MT"/>
                        </a:rPr>
                        <a:t>Tarih,</a:t>
                      </a:r>
                      <a:r>
                        <a:rPr sz="1200" spc="-30">
                          <a:latin typeface="Arial MT"/>
                          <a:cs typeface="Arial MT"/>
                        </a:rPr>
                        <a:t> </a:t>
                      </a:r>
                      <a:r>
                        <a:rPr sz="1200" spc="-20">
                          <a:latin typeface="Arial MT"/>
                          <a:cs typeface="Arial MT"/>
                        </a:rPr>
                        <a:t>Konu</a:t>
                      </a:r>
                      <a:endParaRPr sz="12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71475">
                <a:tc>
                  <a:txBody>
                    <a:bodyPr/>
                    <a:lstStyle/>
                    <a:p>
                      <a:pPr marL="67945">
                        <a:lnSpc>
                          <a:spcPts val="1390"/>
                        </a:lnSpc>
                      </a:pPr>
                      <a:r>
                        <a:rPr sz="1200" b="1" spc="-10">
                          <a:latin typeface="Arial"/>
                          <a:cs typeface="Arial"/>
                        </a:rPr>
                        <a:t>TUTANAK/RAPOR</a:t>
                      </a:r>
                      <a:endParaRPr sz="12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1200">
                          <a:latin typeface="Arial MT"/>
                          <a:cs typeface="Arial MT"/>
                        </a:rPr>
                        <a:t>Tarih,</a:t>
                      </a:r>
                      <a:r>
                        <a:rPr sz="1200" spc="-30">
                          <a:latin typeface="Arial MT"/>
                          <a:cs typeface="Arial MT"/>
                        </a:rPr>
                        <a:t> </a:t>
                      </a:r>
                      <a:r>
                        <a:rPr sz="1200" spc="-20">
                          <a:latin typeface="Arial MT"/>
                          <a:cs typeface="Arial MT"/>
                        </a:rPr>
                        <a:t>Konu</a:t>
                      </a:r>
                      <a:endParaRPr sz="12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48005">
                <a:tc>
                  <a:txBody>
                    <a:bodyPr/>
                    <a:lstStyle/>
                    <a:p>
                      <a:pPr marL="67945">
                        <a:lnSpc>
                          <a:spcPct val="100000"/>
                        </a:lnSpc>
                        <a:spcBef>
                          <a:spcPts val="645"/>
                        </a:spcBef>
                      </a:pPr>
                      <a:r>
                        <a:rPr sz="1200" b="1" spc="-10">
                          <a:latin typeface="Arial"/>
                          <a:cs typeface="Arial"/>
                        </a:rPr>
                        <a:t>DİĞER</a:t>
                      </a:r>
                      <a:endParaRPr sz="1200">
                        <a:latin typeface="Arial"/>
                        <a:cs typeface="Arial"/>
                      </a:endParaRPr>
                    </a:p>
                  </a:txBody>
                  <a:tcPr marL="0" marR="0" marT="819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0960">
                        <a:lnSpc>
                          <a:spcPts val="1380"/>
                        </a:lnSpc>
                        <a:spcBef>
                          <a:spcPts val="60"/>
                        </a:spcBef>
                      </a:pPr>
                      <a:r>
                        <a:rPr sz="1200">
                          <a:latin typeface="Arial MT"/>
                          <a:cs typeface="Arial MT"/>
                        </a:rPr>
                        <a:t>Sabit</a:t>
                      </a:r>
                      <a:r>
                        <a:rPr sz="1200" spc="240">
                          <a:latin typeface="Arial MT"/>
                          <a:cs typeface="Arial MT"/>
                        </a:rPr>
                        <a:t> </a:t>
                      </a:r>
                      <a:r>
                        <a:rPr sz="1200">
                          <a:latin typeface="Arial MT"/>
                          <a:cs typeface="Arial MT"/>
                        </a:rPr>
                        <a:t>liste</a:t>
                      </a:r>
                      <a:r>
                        <a:rPr sz="1200" spc="245">
                          <a:latin typeface="Arial MT"/>
                          <a:cs typeface="Arial MT"/>
                        </a:rPr>
                        <a:t> </a:t>
                      </a:r>
                      <a:r>
                        <a:rPr sz="1200">
                          <a:latin typeface="Arial MT"/>
                          <a:cs typeface="Arial MT"/>
                        </a:rPr>
                        <a:t>yok</a:t>
                      </a:r>
                      <a:r>
                        <a:rPr sz="1200" spc="240">
                          <a:latin typeface="Arial MT"/>
                          <a:cs typeface="Arial MT"/>
                        </a:rPr>
                        <a:t> </a:t>
                      </a:r>
                      <a:r>
                        <a:rPr sz="1200">
                          <a:latin typeface="Arial MT"/>
                          <a:cs typeface="Arial MT"/>
                        </a:rPr>
                        <a:t>—</a:t>
                      </a:r>
                      <a:r>
                        <a:rPr sz="1200" spc="245">
                          <a:latin typeface="Arial MT"/>
                          <a:cs typeface="Arial MT"/>
                        </a:rPr>
                        <a:t> </a:t>
                      </a:r>
                      <a:r>
                        <a:rPr sz="1200">
                          <a:latin typeface="Arial MT"/>
                          <a:cs typeface="Arial MT"/>
                        </a:rPr>
                        <a:t>Agent</a:t>
                      </a:r>
                      <a:r>
                        <a:rPr sz="1200" spc="235">
                          <a:latin typeface="Arial MT"/>
                          <a:cs typeface="Arial MT"/>
                        </a:rPr>
                        <a:t> </a:t>
                      </a:r>
                      <a:r>
                        <a:rPr sz="1200">
                          <a:latin typeface="Arial MT"/>
                          <a:cs typeface="Arial MT"/>
                        </a:rPr>
                        <a:t>2</a:t>
                      </a:r>
                      <a:r>
                        <a:rPr sz="1200" spc="245">
                          <a:latin typeface="Arial MT"/>
                          <a:cs typeface="Arial MT"/>
                        </a:rPr>
                        <a:t> </a:t>
                      </a:r>
                      <a:r>
                        <a:rPr sz="1200">
                          <a:latin typeface="Arial MT"/>
                          <a:cs typeface="Arial MT"/>
                        </a:rPr>
                        <a:t>genel</a:t>
                      </a:r>
                      <a:r>
                        <a:rPr sz="1200" spc="240">
                          <a:latin typeface="Arial MT"/>
                          <a:cs typeface="Arial MT"/>
                        </a:rPr>
                        <a:t> </a:t>
                      </a:r>
                      <a:r>
                        <a:rPr sz="1200" spc="-10">
                          <a:latin typeface="Arial MT"/>
                          <a:cs typeface="Arial MT"/>
                        </a:rPr>
                        <a:t>amaçlı </a:t>
                      </a:r>
                      <a:r>
                        <a:rPr sz="1200">
                          <a:latin typeface="Arial MT"/>
                          <a:cs typeface="Arial MT"/>
                        </a:rPr>
                        <a:t>kontrol</a:t>
                      </a:r>
                      <a:r>
                        <a:rPr sz="1200" spc="-15">
                          <a:latin typeface="Arial MT"/>
                          <a:cs typeface="Arial MT"/>
                        </a:rPr>
                        <a:t> </a:t>
                      </a:r>
                      <a:r>
                        <a:rPr sz="1200" spc="-10">
                          <a:latin typeface="Arial MT"/>
                          <a:cs typeface="Arial MT"/>
                        </a:rPr>
                        <a:t>uygular</a:t>
                      </a:r>
                      <a:endParaRPr sz="1200">
                        <a:latin typeface="Arial MT"/>
                        <a:cs typeface="Arial MT"/>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3" name="object 3"/>
          <p:cNvSpPr txBox="1"/>
          <p:nvPr/>
        </p:nvSpPr>
        <p:spPr>
          <a:xfrm>
            <a:off x="1438402" y="2563114"/>
            <a:ext cx="4892675" cy="197490"/>
          </a:xfrm>
          <a:prstGeom prst="rect">
            <a:avLst/>
          </a:prstGeom>
        </p:spPr>
        <p:txBody>
          <a:bodyPr vert="horz" wrap="square" lIns="0" tIns="12700" rIns="0" bIns="0" rtlCol="0">
            <a:spAutoFit/>
          </a:bodyPr>
          <a:lstStyle/>
          <a:p>
            <a:pPr marL="12700">
              <a:lnSpc>
                <a:spcPct val="100000"/>
              </a:lnSpc>
              <a:spcBef>
                <a:spcPts val="100"/>
              </a:spcBef>
            </a:pPr>
            <a:r>
              <a:rPr sz="1200">
                <a:latin typeface="Arial MT"/>
                <a:cs typeface="Arial MT"/>
              </a:rPr>
              <a:t>Tablo 3.1: Evrak Türü Taksonomisi ve Zorunlu Alan Doğrulama Kuralları</a:t>
            </a:r>
          </a:p>
        </p:txBody>
      </p:sp>
      <p:sp>
        <p:nvSpPr>
          <p:cNvPr id="4" name="object 4"/>
          <p:cNvSpPr txBox="1"/>
          <p:nvPr/>
        </p:nvSpPr>
        <p:spPr>
          <a:xfrm>
            <a:off x="902004" y="3735451"/>
            <a:ext cx="5969635" cy="5271770"/>
          </a:xfrm>
          <a:prstGeom prst="rect">
            <a:avLst/>
          </a:prstGeom>
        </p:spPr>
        <p:txBody>
          <a:bodyPr vert="horz" wrap="square" lIns="0" tIns="12700" rIns="0" bIns="0" rtlCol="0">
            <a:spAutoFit/>
          </a:bodyPr>
          <a:lstStyle/>
          <a:p>
            <a:pPr marL="12700">
              <a:lnSpc>
                <a:spcPct val="100000"/>
              </a:lnSpc>
              <a:spcBef>
                <a:spcPts val="100"/>
              </a:spcBef>
            </a:pPr>
            <a:r>
              <a:rPr sz="1200">
                <a:latin typeface="Arial Black"/>
                <a:cs typeface="Arial Black"/>
              </a:rPr>
              <a:t>3.2. Algoritmalar</a:t>
            </a:r>
          </a:p>
          <a:p>
            <a:pPr marL="12700" marR="9525" algn="just">
              <a:lnSpc>
                <a:spcPct val="110400"/>
              </a:lnSpc>
              <a:spcBef>
                <a:spcPts val="905"/>
              </a:spcBef>
            </a:pPr>
            <a:r>
              <a:rPr sz="1200">
                <a:latin typeface="Arial MT"/>
                <a:cs typeface="Arial MT"/>
              </a:rPr>
              <a:t>Sistem, tek bir LLM modeline devasa promptlar yüklemek yerine, görevleri mikroservis benzeri yapılara bölen hibrit algoritmalardan oluşmaktadır. Modüller düzeyinde tercih edilen algoritmalar ve gerekçeleri şunlardır:</a:t>
            </a:r>
          </a:p>
          <a:p>
            <a:pPr marL="295910" marR="6350" indent="-225425" algn="just">
              <a:lnSpc>
                <a:spcPct val="110300"/>
              </a:lnSpc>
              <a:spcBef>
                <a:spcPts val="1125"/>
              </a:spcBef>
              <a:buSzPct val="91666"/>
              <a:buFont typeface="Arial MT"/>
              <a:buChar char="●"/>
              <a:tabLst>
                <a:tab pos="299085" algn="l"/>
              </a:tabLst>
            </a:pPr>
            <a:r>
              <a:rPr sz="1200" b="1">
                <a:latin typeface="Arial"/>
                <a:cs typeface="Arial"/>
              </a:rPr>
              <a:t>OCR ve Görüntü İşleme (Agent 1): </a:t>
            </a:r>
            <a:r>
              <a:rPr sz="1200">
                <a:latin typeface="Arial MT"/>
                <a:cs typeface="Arial MT"/>
              </a:rPr>
              <a:t>Taranmış görüntülerden metin çıkarımı için 	Tesseract 5.3 motoru seçilmiştir. OCR öncesinde belgenin okunabilirliğini artırmak 	amacıyla OpenCV kitaplığı ile adaptif eşikleme (adaptive thresholding) ve gürültü 	azaltma algoritmaları uygulanacaktır.</a:t>
            </a:r>
          </a:p>
          <a:p>
            <a:pPr>
              <a:lnSpc>
                <a:spcPct val="100000"/>
              </a:lnSpc>
              <a:spcBef>
                <a:spcPts val="65"/>
              </a:spcBef>
              <a:buFont typeface="Arial MT"/>
              <a:buChar char="●"/>
            </a:pPr>
            <a:endParaRPr sz="1200">
              <a:latin typeface="Arial MT"/>
              <a:cs typeface="Arial MT"/>
            </a:endParaRPr>
          </a:p>
          <a:p>
            <a:pPr marL="295910" marR="5080" indent="-225425" algn="just">
              <a:lnSpc>
                <a:spcPct val="110200"/>
              </a:lnSpc>
              <a:spcBef>
                <a:spcPts val="5"/>
              </a:spcBef>
              <a:buSzPct val="91666"/>
              <a:buFont typeface="Arial MT"/>
              <a:buChar char="●"/>
              <a:tabLst>
                <a:tab pos="299085" algn="l"/>
              </a:tabLst>
            </a:pPr>
            <a:r>
              <a:rPr sz="1200" b="1">
                <a:latin typeface="Arial"/>
                <a:cs typeface="Arial"/>
              </a:rPr>
              <a:t>Metin Sınıflandırma (Agent 1): </a:t>
            </a:r>
            <a:r>
              <a:rPr sz="1200">
                <a:latin typeface="Arial MT"/>
                <a:cs typeface="Arial MT"/>
              </a:rPr>
              <a:t>OCR'dan çıkan temiz metnin türünü belirlemek 	amacıyla TF-IDF vektörleştirme ve Stokastik Gradyan İnişi (SGD) tabanlı doğrusal 	sınıflandırıcıdan oluşan hızlı bir makine öğrenmesi hattı kurulacaktır. Bu algoritmanın 	seçilme nedeni, LLM'lere kıyasla çok daha düşük hesaplama maliyetiyle yüksek 	doğruluk sunmasıdır.</a:t>
            </a:r>
          </a:p>
          <a:p>
            <a:pPr>
              <a:lnSpc>
                <a:spcPct val="100000"/>
              </a:lnSpc>
              <a:spcBef>
                <a:spcPts val="80"/>
              </a:spcBef>
              <a:buFont typeface="Arial MT"/>
              <a:buChar char="●"/>
            </a:pPr>
            <a:endParaRPr sz="1200">
              <a:latin typeface="Arial MT"/>
              <a:cs typeface="Arial MT"/>
            </a:endParaRPr>
          </a:p>
          <a:p>
            <a:pPr marL="295910" marR="6350" indent="-225425" algn="just">
              <a:lnSpc>
                <a:spcPct val="110100"/>
              </a:lnSpc>
              <a:buSzPct val="91666"/>
              <a:buFont typeface="Arial MT"/>
              <a:buChar char="●"/>
              <a:tabLst>
                <a:tab pos="299085" algn="l"/>
              </a:tabLst>
            </a:pPr>
            <a:r>
              <a:rPr sz="1200" b="1">
                <a:latin typeface="Arial"/>
                <a:cs typeface="Arial"/>
              </a:rPr>
              <a:t>Anlamsal Analiz ve RAG (Agent 2): </a:t>
            </a:r>
            <a:r>
              <a:rPr sz="1200">
                <a:latin typeface="Arial MT"/>
                <a:cs typeface="Arial MT"/>
              </a:rPr>
              <a:t>Sistemin bilgi çıkarımı ve mevzuat eşleştirme 	katmanını oluşturmaktadır. Agent 1'den JSON v1.0 sözleşmesi aracılığıyla gelen 	sınıflandırılmış metin üzerinde sırasıyla varlık çıkarımı (NER), mevzuat eşleştirme 	(RAG) ve özet üretimi gerçekleştirilmektedir.</a:t>
            </a:r>
          </a:p>
          <a:p>
            <a:pPr marL="299085" algn="just">
              <a:lnSpc>
                <a:spcPct val="100000"/>
              </a:lnSpc>
              <a:spcBef>
                <a:spcPts val="145"/>
              </a:spcBef>
            </a:pPr>
            <a:r>
              <a:rPr sz="1200">
                <a:latin typeface="Arial MT"/>
                <a:cs typeface="Arial MT"/>
              </a:rPr>
              <a:t>Varlık çıkarımında; gönderici, alıcı kurum, TC kimlik numarası, tarih ve belge sayısı</a:t>
            </a:r>
          </a:p>
          <a:p>
            <a:pPr marL="299085" marR="8255" algn="just">
              <a:lnSpc>
                <a:spcPct val="110200"/>
              </a:lnSpc>
              <a:spcBef>
                <a:spcPts val="10"/>
              </a:spcBef>
            </a:pPr>
            <a:r>
              <a:rPr sz="1200">
                <a:latin typeface="Arial MT"/>
                <a:cs typeface="Arial MT"/>
              </a:rPr>
              <a:t>gibi zorunlu alanlar Gemma 2 (9B/27B) modeli aracılığıyla metinden çıkarılmaktadır. Gemma 2, GQA mekanizması ve bilgi damıtma tekniğiyle eğitilmiş açık kaynaklı bir büyük dil modelidir [3]. Yapılandırılmış JSON çıktısıyla ayrıştırma hataları minimize edilmekte [9]; Türkçe kamu belgelerinde NER uygulaması ise morfolojik karmaşıklık nedeniyle literatürde özel bir zorluk alanı olarak ele alınmaktadır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9916" y="874521"/>
            <a:ext cx="5915025" cy="8523937"/>
          </a:xfrm>
          <a:prstGeom prst="rect">
            <a:avLst/>
          </a:prstGeom>
        </p:spPr>
        <p:txBody>
          <a:bodyPr vert="horz" wrap="square" lIns="0" tIns="12065" rIns="0" bIns="0" rtlCol="0">
            <a:spAutoFit/>
          </a:bodyPr>
          <a:lstStyle/>
          <a:p>
            <a:pPr marL="241300" marR="9525" algn="just">
              <a:lnSpc>
                <a:spcPct val="110100"/>
              </a:lnSpc>
              <a:spcBef>
                <a:spcPts val="95"/>
              </a:spcBef>
            </a:pPr>
            <a:r>
              <a:rPr sz="1200">
                <a:latin typeface="Arial MT"/>
                <a:cs typeface="Arial MT"/>
              </a:rPr>
              <a:t>Mevzuat  eşleştirme  aşamasında,  ilgili  yasal  referanslar  ChromaDB  vektör veritabanında kosinüs benzerliği algoritmasıyla sorgulanmaktadır. RAG mimarisi, modelin parametre dışı bilgiye dinamik erişimini sağlayarak halüsinasyon riskini önemli ölçüde azaltmaktadır [12][13]. Agent 2 çıktısı; eksik alanlar tespit edildiğinde EKSIK_BILGI,  Agent  1  güven  skoru  0.70'in  altında  kaldığında  ise MANUEL_INCELEME durumu atanarak LangGraph interrupt mekanizmasıyla insan denetimine yönlendirilmektedir [2].</a:t>
            </a:r>
          </a:p>
          <a:p>
            <a:pPr>
              <a:lnSpc>
                <a:spcPct val="100000"/>
              </a:lnSpc>
              <a:spcBef>
                <a:spcPts val="215"/>
              </a:spcBef>
            </a:pPr>
            <a:endParaRPr sz="1200">
              <a:latin typeface="Arial MT"/>
              <a:cs typeface="Arial MT"/>
            </a:endParaRPr>
          </a:p>
          <a:p>
            <a:pPr marL="241300" marR="5080" indent="-228600">
              <a:lnSpc>
                <a:spcPct val="110200"/>
              </a:lnSpc>
              <a:buSzPct val="91666"/>
              <a:buFont typeface="Arial MT"/>
              <a:buChar char="●"/>
              <a:tabLst>
                <a:tab pos="241300" algn="l"/>
                <a:tab pos="4170045" algn="l"/>
                <a:tab pos="4764405" algn="l"/>
              </a:tabLst>
            </a:pPr>
            <a:r>
              <a:rPr sz="1200" b="1">
                <a:latin typeface="Arial"/>
                <a:cs typeface="Arial"/>
              </a:rPr>
              <a:t>Şablon ve Slot-Filling (Agent 3): </a:t>
            </a:r>
            <a:r>
              <a:rPr sz="1200">
                <a:latin typeface="Arial MT"/>
                <a:cs typeface="Arial MT"/>
              </a:rPr>
              <a:t>Resmi yazı taslağının üretiminde tamamen LLM'e güvenmek yerine, hitap ve kapanış gibi alanların deterministik şablonlarla basıldığı, sadece gövde metninin Gemma 2 tarafından doldurulduğu "Slot-Filling" algoritması kurgulanmıştır. Bu şablon-tabanlı, bölüm bölüm üretim yaklaşımı, kamu yönetimi alanında yarı-yapılandırılmış belge üretimi için literatürde önerilen semantik şablon tabanlı çoklu-ajan mimarileriyle örtüşmektedir [10]. LLM seçiminde Qwen2-7B ile Gemma 2 (9B) arasında karşılaştırma yapılmış; yapılandırılmış çıktı güvenilirliğini ölçen bağımsız bir kıyaslamada Gemma-9B'nin, Qwen-7B'ye kıyasla belirgin şekilde daha az biçim bozulması (format collapse) gösterdiği ve ham çıktı güvenilirliği (ROS) ile biçim tutarlılığı açısından daha stabil sonuçlar ürettiği bulgusuna dayanılarak Gemma 2 (9B) tercih edilmiştir [9]. Resmi üslup kontrolü ise Regex kalıpları ve yasaklı/izinli  kelime  listelerinden  oluşan  kural  tabanlı  bir  denetim  motoruyla gerçekleştirilecektir.  Agent  3'ün  Agent  4'e  devrettiği  çıktı,  "TASLAK_HAZIR", "TASLAK_HAZIR_EKSIK_BILGI", "TASLAK_HAZIR_MANUEL_INCELEME_UYARILI"	ve	"URETILEMEDI"</a:t>
            </a:r>
          </a:p>
          <a:p>
            <a:pPr marL="241300" algn="just">
              <a:lnSpc>
                <a:spcPct val="100000"/>
              </a:lnSpc>
              <a:spcBef>
                <a:spcPts val="145"/>
              </a:spcBef>
            </a:pPr>
            <a:r>
              <a:rPr sz="1200">
                <a:latin typeface="Arial MT"/>
                <a:cs typeface="Arial MT"/>
              </a:rPr>
              <a:t>durumlarından oluşan bir durum sözleşmesi (Agent 3→4 API Contract v1.0) ile</a:t>
            </a:r>
          </a:p>
          <a:p>
            <a:pPr marL="241300" marR="8255" algn="just">
              <a:lnSpc>
                <a:spcPct val="110000"/>
              </a:lnSpc>
              <a:spcBef>
                <a:spcPts val="10"/>
              </a:spcBef>
            </a:pPr>
            <a:r>
              <a:rPr sz="1200">
                <a:latin typeface="Arial MT"/>
                <a:cs typeface="Arial MT"/>
              </a:rPr>
              <a:t>tanımlanmıştır; bu sayede hitap, kapanış ve eksik-bilgi yer tutucuları gibi format unsurlarının modelin serbest üretimine değil deterministik şablona bağlı kalması, Agent 4 tarafında da garanti altına alınmış olur.</a:t>
            </a:r>
          </a:p>
          <a:p>
            <a:pPr>
              <a:lnSpc>
                <a:spcPct val="100000"/>
              </a:lnSpc>
              <a:spcBef>
                <a:spcPts val="80"/>
              </a:spcBef>
            </a:pPr>
            <a:endParaRPr sz="1200">
              <a:latin typeface="Arial MT"/>
              <a:cs typeface="Arial MT"/>
            </a:endParaRPr>
          </a:p>
          <a:p>
            <a:pPr marL="238125" marR="5715" indent="-225425" algn="just">
              <a:lnSpc>
                <a:spcPct val="110200"/>
              </a:lnSpc>
              <a:spcBef>
                <a:spcPts val="5"/>
              </a:spcBef>
              <a:buSzPct val="91666"/>
              <a:buFont typeface="Arial MT"/>
              <a:buChar char="●"/>
              <a:tabLst>
                <a:tab pos="241300" algn="l"/>
              </a:tabLst>
            </a:pPr>
            <a:r>
              <a:rPr sz="1200" b="1">
                <a:latin typeface="Arial"/>
                <a:cs typeface="Arial"/>
              </a:rPr>
              <a:t>Durum Yönetimi ve Yönlendirme (Agent 4): </a:t>
            </a:r>
            <a:r>
              <a:rPr sz="1200">
                <a:latin typeface="Arial MT"/>
                <a:cs typeface="Arial MT"/>
              </a:rPr>
              <a:t>Ajanların orkestrasyonu LangGraph 	durum makinesi altyapısıyla yönetilecektir. Kurum içi birim yönlendirme kararı ise, 	Agent 2'den gelen özet ve mevzuat bağlamı kullanılarak Few-Shot Prompting 	yöntemiyle çalışan yapılandırılmış bir LLM kararına bağlanmıştır. Bu tasarım tercihi, 	LLM tabanlı otonom ajanların karmaşık ve çok adımlı görevlerde planlama (planning) 	ve aksiyon (action) adımlarından oluşan döngüsel yapılara ihtiyaç duyduğunu ortaya 	koyan güncel literatürle örtüşmektedir [5]. Yönlendirme kararının isabetini artırmak 	için seçilen Few-Shot Prompting yaklaşımı, modellerin sınıflandırma görevlerinde 	prompt içinde verilen örneklerle en yüksek doğruluğa ulaştığını gösteren çalışmalara 	dayanmaktadır [6]. Ayrıca modelin parantez unutması veya düz metin üretmesi gibi 	ayrıştırma (parser) hatalarını tamamen elemek amacıyla, yönlendirme kararına ait 	model çağrıları yapılandırılmış JSON çıktı modunda gerçekleştirilecek ve bu sayede 	sistemin ticari kararlılığı artırılacaktır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917193"/>
            <a:ext cx="5968365" cy="2541905"/>
          </a:xfrm>
          <a:prstGeom prst="rect">
            <a:avLst/>
          </a:prstGeom>
        </p:spPr>
        <p:txBody>
          <a:bodyPr vert="horz" wrap="square" lIns="0" tIns="12700" rIns="0" bIns="0" rtlCol="0">
            <a:spAutoFit/>
          </a:bodyPr>
          <a:lstStyle/>
          <a:p>
            <a:pPr marL="12700">
              <a:lnSpc>
                <a:spcPct val="100000"/>
              </a:lnSpc>
              <a:spcBef>
                <a:spcPts val="100"/>
              </a:spcBef>
            </a:pPr>
            <a:r>
              <a:rPr sz="1200">
                <a:latin typeface="Arial Black"/>
                <a:cs typeface="Arial Black"/>
              </a:rPr>
              <a:t>3.3. Akış Şeması</a:t>
            </a:r>
          </a:p>
          <a:p>
            <a:pPr marL="12700" marR="5080" algn="just">
              <a:lnSpc>
                <a:spcPct val="110200"/>
              </a:lnSpc>
              <a:spcBef>
                <a:spcPts val="919"/>
              </a:spcBef>
            </a:pPr>
            <a:r>
              <a:rPr sz="1200">
                <a:latin typeface="Arial MT"/>
                <a:cs typeface="Arial MT"/>
              </a:rPr>
              <a:t>Sistemin uçtan uca çalışma akışı, LangGraph üzerindeki düğümler (nodes) ve koşullu kenarlar (conditional edges) aracılığıyla şu şekilde yürütülmektedir: Evrak Girişi → Agent 1 (OCR &amp; Sınıflandırma) → JSON v1.0 Sözleşmesi → Agent 2 (Bilgi Çıkarımı &amp; RAG) → JSON v1.0 Sözleşmesi → Agent 3 (Şablon Taslaklama &amp; Üslup Kontrolü) → Agent 4 (Durum Orkestrasyonu). Eğer Agent 1 veya 3'ten gelen güven skoru eşik değerin (&lt;0.70) altındaysa akış "İnsan Onay Kuyruğu" düğümüne yönlendirilir. Agent 2'de zorunlu alanlarda  eksiklik  bulunursa  LangGraph  "Interrupt"  tetiklenerek  grafik  dondurulur, kullanıcı arayüzünden bilgi girişi alındıktan sonra süreç Agent 2 düğümüne geri beslenir (loopback). Bu insan katılımlı (human-in-the-loop) kesinti mekanizması, LLM tabanlı ajanların halüsinasyon veya eksik veriyle karşılaşma riskine karşı sistem güvenilirliğini maksimize eden bir yaklaşım olarak literatürde desteklenmektedir [7].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5344" y="8903919"/>
            <a:ext cx="5861685" cy="208279"/>
          </a:xfrm>
          <a:prstGeom prst="rect">
            <a:avLst/>
          </a:prstGeom>
        </p:spPr>
        <p:txBody>
          <a:bodyPr vert="horz" wrap="square" lIns="0" tIns="12700" rIns="0" bIns="0" rtlCol="0">
            <a:spAutoFit/>
          </a:bodyPr>
          <a:lstStyle/>
          <a:p>
            <a:pPr marL="12700">
              <a:lnSpc>
                <a:spcPct val="100000"/>
              </a:lnSpc>
              <a:spcBef>
                <a:spcPts val="100"/>
              </a:spcBef>
            </a:pPr>
            <a:r>
              <a:rPr sz="1200" spc="-90">
                <a:latin typeface="Arial MT"/>
                <a:cs typeface="Arial MT"/>
              </a:rPr>
              <a:t>Şekil</a:t>
            </a:r>
            <a:r>
              <a:rPr sz="1200" spc="-5">
                <a:latin typeface="Arial MT"/>
                <a:cs typeface="Arial MT"/>
              </a:rPr>
              <a:t> </a:t>
            </a:r>
            <a:r>
              <a:rPr sz="1200">
                <a:latin typeface="Arial MT"/>
                <a:cs typeface="Arial MT"/>
              </a:rPr>
              <a:t>3.3:</a:t>
            </a:r>
            <a:r>
              <a:rPr sz="1200" spc="-15">
                <a:latin typeface="Arial MT"/>
                <a:cs typeface="Arial MT"/>
              </a:rPr>
              <a:t> </a:t>
            </a:r>
            <a:r>
              <a:rPr sz="1200">
                <a:latin typeface="Arial MT"/>
                <a:cs typeface="Arial MT"/>
              </a:rPr>
              <a:t>Uçtan</a:t>
            </a:r>
            <a:r>
              <a:rPr sz="1200" spc="-5">
                <a:latin typeface="Arial MT"/>
                <a:cs typeface="Arial MT"/>
              </a:rPr>
              <a:t> </a:t>
            </a:r>
            <a:r>
              <a:rPr sz="1200">
                <a:latin typeface="Arial MT"/>
                <a:cs typeface="Arial MT"/>
              </a:rPr>
              <a:t>Uca</a:t>
            </a:r>
            <a:r>
              <a:rPr sz="1200" spc="-5">
                <a:latin typeface="Arial MT"/>
                <a:cs typeface="Arial MT"/>
              </a:rPr>
              <a:t> </a:t>
            </a:r>
            <a:r>
              <a:rPr sz="1200">
                <a:latin typeface="Arial MT"/>
                <a:cs typeface="Arial MT"/>
              </a:rPr>
              <a:t>Çok</a:t>
            </a:r>
            <a:r>
              <a:rPr sz="1200" spc="-5">
                <a:latin typeface="Arial MT"/>
                <a:cs typeface="Arial MT"/>
              </a:rPr>
              <a:t> </a:t>
            </a:r>
            <a:r>
              <a:rPr sz="1200">
                <a:latin typeface="Arial MT"/>
                <a:cs typeface="Arial MT"/>
              </a:rPr>
              <a:t>Ajanlı</a:t>
            </a:r>
            <a:r>
              <a:rPr sz="1200" spc="-20">
                <a:latin typeface="Arial MT"/>
                <a:cs typeface="Arial MT"/>
              </a:rPr>
              <a:t> </a:t>
            </a:r>
            <a:r>
              <a:rPr sz="1200" spc="-10">
                <a:latin typeface="Arial MT"/>
                <a:cs typeface="Arial MT"/>
              </a:rPr>
              <a:t>(Multi-</a:t>
            </a:r>
            <a:r>
              <a:rPr sz="1200">
                <a:latin typeface="Arial MT"/>
                <a:cs typeface="Arial MT"/>
              </a:rPr>
              <a:t>Agent)</a:t>
            </a:r>
            <a:r>
              <a:rPr sz="1200" spc="-5">
                <a:latin typeface="Arial MT"/>
                <a:cs typeface="Arial MT"/>
              </a:rPr>
              <a:t> </a:t>
            </a:r>
            <a:r>
              <a:rPr sz="1200">
                <a:latin typeface="Arial MT"/>
                <a:cs typeface="Arial MT"/>
              </a:rPr>
              <a:t>Kamu</a:t>
            </a:r>
            <a:r>
              <a:rPr sz="1200" spc="-5">
                <a:latin typeface="Arial MT"/>
                <a:cs typeface="Arial MT"/>
              </a:rPr>
              <a:t> </a:t>
            </a:r>
            <a:r>
              <a:rPr sz="1200">
                <a:latin typeface="Arial MT"/>
                <a:cs typeface="Arial MT"/>
              </a:rPr>
              <a:t>Evrak</a:t>
            </a:r>
            <a:r>
              <a:rPr sz="1200" spc="-20">
                <a:latin typeface="Arial MT"/>
                <a:cs typeface="Arial MT"/>
              </a:rPr>
              <a:t> </a:t>
            </a:r>
            <a:r>
              <a:rPr sz="1200">
                <a:latin typeface="Arial MT"/>
                <a:cs typeface="Arial MT"/>
              </a:rPr>
              <a:t>Orkestrasyonu</a:t>
            </a:r>
            <a:r>
              <a:rPr sz="1200" spc="-15">
                <a:latin typeface="Arial MT"/>
                <a:cs typeface="Arial MT"/>
              </a:rPr>
              <a:t> </a:t>
            </a:r>
            <a:r>
              <a:rPr sz="1200" spc="-155">
                <a:latin typeface="Arial MT"/>
                <a:cs typeface="Arial MT"/>
              </a:rPr>
              <a:t>Akış</a:t>
            </a:r>
            <a:r>
              <a:rPr sz="1200">
                <a:latin typeface="Arial MT"/>
                <a:cs typeface="Arial MT"/>
              </a:rPr>
              <a:t> </a:t>
            </a:r>
            <a:r>
              <a:rPr sz="1200" spc="-10">
                <a:latin typeface="Arial MT"/>
                <a:cs typeface="Arial MT"/>
              </a:rPr>
              <a:t>Şeması</a:t>
            </a:r>
            <a:endParaRPr sz="1200">
              <a:latin typeface="Arial MT"/>
              <a:cs typeface="Arial MT"/>
            </a:endParaRPr>
          </a:p>
        </p:txBody>
      </p:sp>
      <p:pic>
        <p:nvPicPr>
          <p:cNvPr id="3" name="object 3"/>
          <p:cNvPicPr/>
          <p:nvPr/>
        </p:nvPicPr>
        <p:blipFill>
          <a:blip r:embed="rId2" cstate="print"/>
          <a:stretch>
            <a:fillRect/>
          </a:stretch>
        </p:blipFill>
        <p:spPr>
          <a:xfrm>
            <a:off x="1358011" y="914400"/>
            <a:ext cx="5003582" cy="76208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920241"/>
            <a:ext cx="5970270" cy="3783280"/>
          </a:xfrm>
          <a:prstGeom prst="rect">
            <a:avLst/>
          </a:prstGeom>
        </p:spPr>
        <p:txBody>
          <a:bodyPr vert="horz" wrap="square" lIns="0" tIns="12700" rIns="0" bIns="0" rtlCol="0">
            <a:spAutoFit/>
          </a:bodyPr>
          <a:lstStyle/>
          <a:p>
            <a:pPr marL="12700">
              <a:lnSpc>
                <a:spcPct val="100000"/>
              </a:lnSpc>
              <a:spcBef>
                <a:spcPts val="100"/>
              </a:spcBef>
            </a:pPr>
            <a:r>
              <a:rPr sz="1400">
                <a:latin typeface="Arial Black"/>
                <a:cs typeface="Arial Black"/>
              </a:rPr>
              <a:t>4. ÖZGÜNLÜK</a:t>
            </a:r>
          </a:p>
          <a:p>
            <a:pPr marL="12700" marR="8890" algn="just">
              <a:lnSpc>
                <a:spcPct val="110100"/>
              </a:lnSpc>
              <a:spcBef>
                <a:spcPts val="1355"/>
              </a:spcBef>
            </a:pPr>
            <a:r>
              <a:rPr sz="1200">
                <a:latin typeface="Arial MT"/>
                <a:cs typeface="Arial MT"/>
              </a:rPr>
              <a:t>Projemizin literatüre ve mevcut uygulamalara getirdiği en büyük özgünlük, büyük dil modellerini serbest metin üreten kontrolsüz yapılar olarak değil, "Katı Veri Sözleşmeleri" ve  "Durum  Makineleri"  ile  sınırlandırılmış  deterministik  bileşenler  olarak konumlandırmasıdır. Sektördeki birçok uygulama tek bir devasa prompt ile uçtan uca sonuç üretmeye çalışırken, bu durum halüsinasyon riskini ve izlenebilirliği imkansız kılmaktadır. Geliştirdiğimiz mikroservis tabanlı ajan mimarisinde, her ajanın sorumluluk sınırı keskindir ve her aşamanın çıktısı JSON şemalarıyla doğrulanabilir (explainable AI).</a:t>
            </a:r>
          </a:p>
          <a:p>
            <a:pPr marL="12700" marR="5080" algn="just">
              <a:lnSpc>
                <a:spcPct val="110300"/>
              </a:lnSpc>
              <a:spcBef>
                <a:spcPts val="1120"/>
              </a:spcBef>
            </a:pPr>
            <a:r>
              <a:rPr sz="1200">
                <a:latin typeface="Arial MT"/>
                <a:cs typeface="Arial MT"/>
              </a:rPr>
              <a:t>Ayrıca, Agent 3 bünyesinde tasarladığımız kural tabanlı iskelet ile LLM üretimli gövde metninin birleştirildiği "Hibrit Slot-Filling" yaklaşımı, resmi yazışma kurallarının görsel bütünlüğünü yüksek oranda korumayı hedeflemektedir; bu tasarım, kamu yönetimi belge üretiminde şablon-güdümlü çoklu-ajan mimarilerinin halüsinasyonu azalttığını gösteren güncel  çalışmalarla  da  örtüşmektedir  [10].  Son  olarak,  LangGraph'in  interrupt yetenekleriyle kurgulanan "Eksik Bilgi Geri Besleme Döngüsü", statik bir boru hattını dinamik ve insanla etkileşimli bir sisteme dönüştürerek operasyonel esneklik açısından literatüre katkı sunmaktadır.</a:t>
            </a:r>
          </a:p>
        </p:txBody>
      </p:sp>
      <p:sp>
        <p:nvSpPr>
          <p:cNvPr id="3" name="object 3"/>
          <p:cNvSpPr txBox="1"/>
          <p:nvPr/>
        </p:nvSpPr>
        <p:spPr>
          <a:xfrm>
            <a:off x="902004" y="5290184"/>
            <a:ext cx="5965190" cy="1013460"/>
          </a:xfrm>
          <a:prstGeom prst="rect">
            <a:avLst/>
          </a:prstGeom>
        </p:spPr>
        <p:txBody>
          <a:bodyPr vert="horz" wrap="square" lIns="0" tIns="13335" rIns="0" bIns="0" rtlCol="0">
            <a:spAutoFit/>
          </a:bodyPr>
          <a:lstStyle/>
          <a:p>
            <a:pPr marL="12700">
              <a:lnSpc>
                <a:spcPct val="100000"/>
              </a:lnSpc>
              <a:spcBef>
                <a:spcPts val="105"/>
              </a:spcBef>
            </a:pPr>
            <a:r>
              <a:rPr sz="1400">
                <a:latin typeface="Arial Black"/>
                <a:cs typeface="Arial Black"/>
              </a:rPr>
              <a:t>5. PROJE TAKVİMİ</a:t>
            </a:r>
          </a:p>
          <a:p>
            <a:pPr marL="12700" marR="5080" algn="just">
              <a:lnSpc>
                <a:spcPct val="109600"/>
              </a:lnSpc>
              <a:spcBef>
                <a:spcPts val="1355"/>
              </a:spcBef>
            </a:pPr>
            <a:r>
              <a:rPr sz="1200">
                <a:latin typeface="Arial MT"/>
                <a:cs typeface="Arial MT"/>
              </a:rPr>
              <a:t>Projenin belirlenen süre içerisinde olgunluğa ulaşması amacıyla, 12 Temmuz Ön Değerlendirme aşamasından başlayarak TEKNOFEST final sürecine kadar uzanan kilometre taşları Tablo 5.1'de planlanmıştır.</a:t>
            </a:r>
          </a:p>
        </p:txBody>
      </p:sp>
      <p:graphicFrame>
        <p:nvGraphicFramePr>
          <p:cNvPr id="4" name="object 4"/>
          <p:cNvGraphicFramePr>
            <a:graphicFrameLocks noGrp="1"/>
          </p:cNvGraphicFramePr>
          <p:nvPr>
            <p:extLst>
              <p:ext uri="{D42A27DB-BD31-4B8C-83A1-F6EECF244321}">
                <p14:modId xmlns:p14="http://schemas.microsoft.com/office/powerpoint/2010/main" val="493531247"/>
              </p:ext>
            </p:extLst>
          </p:nvPr>
        </p:nvGraphicFramePr>
        <p:xfrm>
          <a:off x="914704" y="6461125"/>
          <a:ext cx="5945505" cy="2642870"/>
        </p:xfrm>
        <a:graphic>
          <a:graphicData uri="http://schemas.openxmlformats.org/drawingml/2006/table">
            <a:tbl>
              <a:tblPr firstRow="1" bandRow="1">
                <a:tableStyleId>{2D5ABB26-0587-4C30-8999-92F81FD0307C}</a:tableStyleId>
              </a:tblPr>
              <a:tblGrid>
                <a:gridCol w="1485900">
                  <a:extLst>
                    <a:ext uri="{9D8B030D-6E8A-4147-A177-3AD203B41FA5}">
                      <a16:colId xmlns:a16="http://schemas.microsoft.com/office/drawing/2014/main" val="20000"/>
                    </a:ext>
                  </a:extLst>
                </a:gridCol>
                <a:gridCol w="1486535">
                  <a:extLst>
                    <a:ext uri="{9D8B030D-6E8A-4147-A177-3AD203B41FA5}">
                      <a16:colId xmlns:a16="http://schemas.microsoft.com/office/drawing/2014/main" val="20001"/>
                    </a:ext>
                  </a:extLst>
                </a:gridCol>
                <a:gridCol w="1486535">
                  <a:extLst>
                    <a:ext uri="{9D8B030D-6E8A-4147-A177-3AD203B41FA5}">
                      <a16:colId xmlns:a16="http://schemas.microsoft.com/office/drawing/2014/main" val="20002"/>
                    </a:ext>
                  </a:extLst>
                </a:gridCol>
                <a:gridCol w="1486535">
                  <a:extLst>
                    <a:ext uri="{9D8B030D-6E8A-4147-A177-3AD203B41FA5}">
                      <a16:colId xmlns:a16="http://schemas.microsoft.com/office/drawing/2014/main" val="20003"/>
                    </a:ext>
                  </a:extLst>
                </a:gridCol>
              </a:tblGrid>
              <a:tr h="574040">
                <a:tc>
                  <a:txBody>
                    <a:bodyPr/>
                    <a:lstStyle/>
                    <a:p>
                      <a:pPr>
                        <a:lnSpc>
                          <a:spcPct val="100000"/>
                        </a:lnSpc>
                        <a:spcBef>
                          <a:spcPts val="215"/>
                        </a:spcBef>
                      </a:pPr>
                      <a:endParaRPr sz="1100" spc="0">
                        <a:latin typeface="Times New Roman"/>
                        <a:cs typeface="Times New Roman"/>
                      </a:endParaRPr>
                    </a:p>
                    <a:p>
                      <a:pPr marL="95885">
                        <a:lnSpc>
                          <a:spcPct val="100000"/>
                        </a:lnSpc>
                      </a:pPr>
                      <a:r>
                        <a:rPr sz="1100" b="1" spc="0">
                          <a:latin typeface="Arial"/>
                          <a:cs typeface="Arial"/>
                        </a:rPr>
                        <a:t>Kilometre Taşı</a:t>
                      </a:r>
                      <a:endParaRPr sz="1100" spc="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215"/>
                        </a:spcBef>
                      </a:pPr>
                      <a:endParaRPr sz="1100" spc="0">
                        <a:latin typeface="Times New Roman"/>
                        <a:cs typeface="Times New Roman"/>
                      </a:endParaRPr>
                    </a:p>
                    <a:p>
                      <a:pPr marL="95885">
                        <a:lnSpc>
                          <a:spcPct val="100000"/>
                        </a:lnSpc>
                      </a:pPr>
                      <a:r>
                        <a:rPr sz="1100" b="1" spc="0">
                          <a:latin typeface="Arial"/>
                          <a:cs typeface="Arial"/>
                        </a:rPr>
                        <a:t>Tarih Aralığı</a:t>
                      </a:r>
                      <a:endParaRPr sz="1100" spc="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215"/>
                        </a:spcBef>
                      </a:pPr>
                      <a:endParaRPr sz="1100" spc="0">
                        <a:latin typeface="Times New Roman"/>
                        <a:cs typeface="Times New Roman"/>
                      </a:endParaRPr>
                    </a:p>
                    <a:p>
                      <a:pPr marL="95885">
                        <a:lnSpc>
                          <a:spcPct val="100000"/>
                        </a:lnSpc>
                      </a:pPr>
                      <a:r>
                        <a:rPr sz="1100" b="1" spc="0">
                          <a:latin typeface="Arial"/>
                          <a:cs typeface="Arial"/>
                        </a:rPr>
                        <a:t>Sorumlu</a:t>
                      </a:r>
                      <a:endParaRPr sz="1100" spc="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215"/>
                        </a:spcBef>
                      </a:pPr>
                      <a:endParaRPr sz="1100" spc="0">
                        <a:latin typeface="Times New Roman"/>
                        <a:cs typeface="Times New Roman"/>
                      </a:endParaRPr>
                    </a:p>
                    <a:p>
                      <a:pPr marL="95885">
                        <a:lnSpc>
                          <a:spcPct val="100000"/>
                        </a:lnSpc>
                      </a:pPr>
                      <a:r>
                        <a:rPr sz="1100" b="1" spc="0">
                          <a:latin typeface="Arial"/>
                          <a:cs typeface="Arial"/>
                        </a:rPr>
                        <a:t>Hedeflenen Çıktılar</a:t>
                      </a:r>
                      <a:endParaRPr sz="1100" spc="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extLst>
                  <a:ext uri="{0D108BD9-81ED-4DB2-BD59-A6C34878D82A}">
                    <a16:rowId xmlns:a16="http://schemas.microsoft.com/office/drawing/2014/main" val="10000"/>
                  </a:ext>
                </a:extLst>
              </a:tr>
              <a:tr h="941705">
                <a:tc>
                  <a:txBody>
                    <a:bodyPr/>
                    <a:lstStyle/>
                    <a:p>
                      <a:pPr>
                        <a:lnSpc>
                          <a:spcPct val="100000"/>
                        </a:lnSpc>
                        <a:spcBef>
                          <a:spcPts val="85"/>
                        </a:spcBef>
                      </a:pPr>
                      <a:endParaRPr sz="1100" spc="0">
                        <a:latin typeface="Times New Roman"/>
                        <a:cs typeface="Times New Roman"/>
                      </a:endParaRPr>
                    </a:p>
                    <a:p>
                      <a:pPr marL="95885" marR="565150">
                        <a:lnSpc>
                          <a:spcPct val="109700"/>
                        </a:lnSpc>
                      </a:pPr>
                      <a:r>
                        <a:rPr sz="1100" b="1" spc="0">
                          <a:latin typeface="Arial"/>
                          <a:cs typeface="Arial"/>
                        </a:rPr>
                        <a:t>M01: Mimari Tasarım &amp; Sözleşmeler</a:t>
                      </a:r>
                      <a:endParaRPr sz="1100" spc="0">
                        <a:latin typeface="Arial"/>
                        <a:cs typeface="Arial"/>
                      </a:endParaRP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935"/>
                        </a:spcBef>
                      </a:pPr>
                      <a:endParaRPr sz="1100" spc="0">
                        <a:latin typeface="Times New Roman"/>
                        <a:cs typeface="Times New Roman"/>
                      </a:endParaRPr>
                    </a:p>
                    <a:p>
                      <a:pPr marL="95885">
                        <a:lnSpc>
                          <a:spcPct val="100000"/>
                        </a:lnSpc>
                      </a:pPr>
                      <a:r>
                        <a:rPr sz="1100" spc="0">
                          <a:latin typeface="Arial MT"/>
                          <a:cs typeface="Arial MT"/>
                        </a:rPr>
                        <a:t>12.06.2026 -</a:t>
                      </a:r>
                    </a:p>
                    <a:p>
                      <a:pPr marL="95885">
                        <a:lnSpc>
                          <a:spcPct val="100000"/>
                        </a:lnSpc>
                        <a:spcBef>
                          <a:spcPts val="120"/>
                        </a:spcBef>
                      </a:pPr>
                      <a:r>
                        <a:rPr sz="1100" spc="0">
                          <a:latin typeface="Arial MT"/>
                          <a:cs typeface="Arial MT"/>
                        </a:rPr>
                        <a:t>12.07.2026</a:t>
                      </a:r>
                    </a:p>
                  </a:txBody>
                  <a:tcPr marL="0" marR="0" marT="1187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spc="0">
                        <a:latin typeface="Times New Roman"/>
                        <a:cs typeface="Times New Roman"/>
                      </a:endParaRPr>
                    </a:p>
                    <a:p>
                      <a:pPr>
                        <a:lnSpc>
                          <a:spcPct val="100000"/>
                        </a:lnSpc>
                        <a:spcBef>
                          <a:spcPts val="390"/>
                        </a:spcBef>
                      </a:pPr>
                      <a:endParaRPr sz="1100" spc="0">
                        <a:latin typeface="Times New Roman"/>
                        <a:cs typeface="Times New Roman"/>
                      </a:endParaRPr>
                    </a:p>
                    <a:p>
                      <a:pPr marL="95885">
                        <a:lnSpc>
                          <a:spcPct val="100000"/>
                        </a:lnSpc>
                      </a:pPr>
                      <a:r>
                        <a:rPr sz="1100" spc="0">
                          <a:latin typeface="Arial MT"/>
                          <a:cs typeface="Arial MT"/>
                        </a:rPr>
                        <a:t>Tüm Ekip</a:t>
                      </a: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5"/>
                        </a:spcBef>
                      </a:pPr>
                      <a:endParaRPr sz="1100" spc="0">
                        <a:latin typeface="Times New Roman"/>
                        <a:cs typeface="Times New Roman"/>
                      </a:endParaRPr>
                    </a:p>
                    <a:p>
                      <a:pPr marL="95885" marR="302260">
                        <a:lnSpc>
                          <a:spcPct val="109700"/>
                        </a:lnSpc>
                      </a:pPr>
                      <a:r>
                        <a:rPr sz="1100" spc="0">
                          <a:latin typeface="Arial MT"/>
                          <a:cs typeface="Arial MT"/>
                        </a:rPr>
                        <a:t>JSON şemaları onayı, ön tasarım raporu teslimi.</a:t>
                      </a: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1127125">
                <a:tc>
                  <a:txBody>
                    <a:bodyPr/>
                    <a:lstStyle/>
                    <a:p>
                      <a:pPr>
                        <a:lnSpc>
                          <a:spcPct val="100000"/>
                        </a:lnSpc>
                      </a:pPr>
                      <a:endParaRPr sz="1100" spc="0">
                        <a:latin typeface="Times New Roman"/>
                        <a:cs typeface="Times New Roman"/>
                      </a:endParaRPr>
                    </a:p>
                    <a:p>
                      <a:pPr>
                        <a:lnSpc>
                          <a:spcPct val="100000"/>
                        </a:lnSpc>
                        <a:spcBef>
                          <a:spcPts val="280"/>
                        </a:spcBef>
                      </a:pPr>
                      <a:endParaRPr sz="1100" spc="0">
                        <a:latin typeface="Times New Roman"/>
                        <a:cs typeface="Times New Roman"/>
                      </a:endParaRPr>
                    </a:p>
                    <a:p>
                      <a:pPr marL="95885" marR="177800">
                        <a:lnSpc>
                          <a:spcPct val="109100"/>
                        </a:lnSpc>
                      </a:pPr>
                      <a:r>
                        <a:rPr sz="1100" b="1" spc="0">
                          <a:latin typeface="Arial"/>
                          <a:cs typeface="Arial"/>
                        </a:rPr>
                        <a:t>M02: Sentetik Veri &amp; OCR (Agent 1)</a:t>
                      </a:r>
                      <a:endParaRPr sz="1100" spc="0">
                        <a:latin typeface="Arial"/>
                        <a:cs typeface="Arial"/>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spc="0">
                        <a:latin typeface="Times New Roman"/>
                        <a:cs typeface="Times New Roman"/>
                      </a:endParaRPr>
                    </a:p>
                    <a:p>
                      <a:pPr>
                        <a:lnSpc>
                          <a:spcPct val="100000"/>
                        </a:lnSpc>
                        <a:spcBef>
                          <a:spcPts val="400"/>
                        </a:spcBef>
                      </a:pPr>
                      <a:endParaRPr sz="1100" spc="0">
                        <a:latin typeface="Times New Roman"/>
                        <a:cs typeface="Times New Roman"/>
                      </a:endParaRPr>
                    </a:p>
                    <a:p>
                      <a:pPr marL="95885">
                        <a:lnSpc>
                          <a:spcPct val="100000"/>
                        </a:lnSpc>
                      </a:pPr>
                      <a:r>
                        <a:rPr sz="1100" spc="0">
                          <a:latin typeface="Arial MT"/>
                          <a:cs typeface="Arial MT"/>
                        </a:rPr>
                        <a:t>13.07.2026 -</a:t>
                      </a:r>
                    </a:p>
                    <a:p>
                      <a:pPr marL="95885">
                        <a:lnSpc>
                          <a:spcPct val="100000"/>
                        </a:lnSpc>
                        <a:spcBef>
                          <a:spcPts val="120"/>
                        </a:spcBef>
                      </a:pPr>
                      <a:r>
                        <a:rPr sz="1100" spc="0">
                          <a:latin typeface="Arial MT"/>
                          <a:cs typeface="Arial MT"/>
                        </a:rPr>
                        <a:t>26.07.2026</a:t>
                      </a: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spc="0">
                        <a:latin typeface="Times New Roman"/>
                        <a:cs typeface="Times New Roman"/>
                      </a:endParaRPr>
                    </a:p>
                    <a:p>
                      <a:pPr>
                        <a:lnSpc>
                          <a:spcPct val="100000"/>
                        </a:lnSpc>
                        <a:spcBef>
                          <a:spcPts val="1120"/>
                        </a:spcBef>
                      </a:pPr>
                      <a:endParaRPr sz="1100" spc="0">
                        <a:latin typeface="Times New Roman"/>
                        <a:cs typeface="Times New Roman"/>
                      </a:endParaRPr>
                    </a:p>
                    <a:p>
                      <a:pPr marL="95885">
                        <a:lnSpc>
                          <a:spcPct val="100000"/>
                        </a:lnSpc>
                      </a:pPr>
                      <a:r>
                        <a:rPr sz="1100" spc="0">
                          <a:latin typeface="Arial MT"/>
                          <a:cs typeface="Arial MT"/>
                        </a:rPr>
                        <a:t>Yusuf Kalkan</a:t>
                      </a: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5"/>
                        </a:spcBef>
                      </a:pPr>
                      <a:endParaRPr sz="1100" spc="0">
                        <a:latin typeface="Times New Roman"/>
                        <a:cs typeface="Times New Roman"/>
                      </a:endParaRPr>
                    </a:p>
                    <a:p>
                      <a:pPr marL="95885" marR="272415">
                        <a:lnSpc>
                          <a:spcPct val="109700"/>
                        </a:lnSpc>
                      </a:pPr>
                      <a:r>
                        <a:rPr sz="1100" spc="0">
                          <a:latin typeface="Arial MT"/>
                          <a:cs typeface="Arial MT"/>
                        </a:rPr>
                        <a:t>Kurgusal evrak üretimi, Tesseract ve OpenCV boru hattı testleri.</a:t>
                      </a: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04" y="914400"/>
          <a:ext cx="5945505" cy="5266690"/>
        </p:xfrm>
        <a:graphic>
          <a:graphicData uri="http://schemas.openxmlformats.org/drawingml/2006/table">
            <a:tbl>
              <a:tblPr firstRow="1" bandRow="1">
                <a:tableStyleId>{2D5ABB26-0587-4C30-8999-92F81FD0307C}</a:tableStyleId>
              </a:tblPr>
              <a:tblGrid>
                <a:gridCol w="1485900">
                  <a:extLst>
                    <a:ext uri="{9D8B030D-6E8A-4147-A177-3AD203B41FA5}">
                      <a16:colId xmlns:a16="http://schemas.microsoft.com/office/drawing/2014/main" val="20000"/>
                    </a:ext>
                  </a:extLst>
                </a:gridCol>
                <a:gridCol w="1486535">
                  <a:extLst>
                    <a:ext uri="{9D8B030D-6E8A-4147-A177-3AD203B41FA5}">
                      <a16:colId xmlns:a16="http://schemas.microsoft.com/office/drawing/2014/main" val="20001"/>
                    </a:ext>
                  </a:extLst>
                </a:gridCol>
                <a:gridCol w="1486535">
                  <a:extLst>
                    <a:ext uri="{9D8B030D-6E8A-4147-A177-3AD203B41FA5}">
                      <a16:colId xmlns:a16="http://schemas.microsoft.com/office/drawing/2014/main" val="20002"/>
                    </a:ext>
                  </a:extLst>
                </a:gridCol>
                <a:gridCol w="1486535">
                  <a:extLst>
                    <a:ext uri="{9D8B030D-6E8A-4147-A177-3AD203B41FA5}">
                      <a16:colId xmlns:a16="http://schemas.microsoft.com/office/drawing/2014/main" val="20003"/>
                    </a:ext>
                  </a:extLst>
                </a:gridCol>
              </a:tblGrid>
              <a:tr h="574675">
                <a:tc>
                  <a:txBody>
                    <a:bodyPr/>
                    <a:lstStyle/>
                    <a:p>
                      <a:pPr>
                        <a:lnSpc>
                          <a:spcPct val="100000"/>
                        </a:lnSpc>
                        <a:spcBef>
                          <a:spcPts val="215"/>
                        </a:spcBef>
                      </a:pPr>
                      <a:endParaRPr sz="1100">
                        <a:latin typeface="Times New Roman"/>
                        <a:cs typeface="Times New Roman"/>
                      </a:endParaRPr>
                    </a:p>
                    <a:p>
                      <a:pPr marL="95885">
                        <a:lnSpc>
                          <a:spcPct val="100000"/>
                        </a:lnSpc>
                      </a:pPr>
                      <a:r>
                        <a:rPr sz="1100" b="1">
                          <a:latin typeface="Arial"/>
                          <a:cs typeface="Arial"/>
                        </a:rPr>
                        <a:t>Kilometre</a:t>
                      </a:r>
                      <a:r>
                        <a:rPr sz="1100" b="1" spc="-55">
                          <a:latin typeface="Arial"/>
                          <a:cs typeface="Arial"/>
                        </a:rPr>
                        <a:t> </a:t>
                      </a:r>
                      <a:r>
                        <a:rPr sz="1100" b="1" spc="-20">
                          <a:latin typeface="Arial"/>
                          <a:cs typeface="Arial"/>
                        </a:rPr>
                        <a:t>Taşı</a:t>
                      </a:r>
                      <a:endParaRPr sz="110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215"/>
                        </a:spcBef>
                      </a:pPr>
                      <a:endParaRPr sz="1100">
                        <a:latin typeface="Times New Roman"/>
                        <a:cs typeface="Times New Roman"/>
                      </a:endParaRPr>
                    </a:p>
                    <a:p>
                      <a:pPr marL="95885">
                        <a:lnSpc>
                          <a:spcPct val="100000"/>
                        </a:lnSpc>
                      </a:pPr>
                      <a:r>
                        <a:rPr sz="1100" b="1">
                          <a:latin typeface="Arial"/>
                          <a:cs typeface="Arial"/>
                        </a:rPr>
                        <a:t>Tarih</a:t>
                      </a:r>
                      <a:r>
                        <a:rPr sz="1100" b="1" spc="-35">
                          <a:latin typeface="Arial"/>
                          <a:cs typeface="Arial"/>
                        </a:rPr>
                        <a:t> </a:t>
                      </a:r>
                      <a:r>
                        <a:rPr sz="1100" b="1" spc="-10">
                          <a:latin typeface="Arial"/>
                          <a:cs typeface="Arial"/>
                        </a:rPr>
                        <a:t>Aralığı</a:t>
                      </a:r>
                      <a:endParaRPr sz="110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215"/>
                        </a:spcBef>
                      </a:pPr>
                      <a:endParaRPr sz="1100">
                        <a:latin typeface="Times New Roman"/>
                        <a:cs typeface="Times New Roman"/>
                      </a:endParaRPr>
                    </a:p>
                    <a:p>
                      <a:pPr marL="95885">
                        <a:lnSpc>
                          <a:spcPct val="100000"/>
                        </a:lnSpc>
                      </a:pPr>
                      <a:r>
                        <a:rPr sz="1100" b="1" spc="-10">
                          <a:latin typeface="Arial"/>
                          <a:cs typeface="Arial"/>
                        </a:rPr>
                        <a:t>Sorumlu</a:t>
                      </a:r>
                      <a:endParaRPr sz="110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tc>
                  <a:txBody>
                    <a:bodyPr/>
                    <a:lstStyle/>
                    <a:p>
                      <a:pPr>
                        <a:lnSpc>
                          <a:spcPct val="100000"/>
                        </a:lnSpc>
                        <a:spcBef>
                          <a:spcPts val="215"/>
                        </a:spcBef>
                      </a:pPr>
                      <a:endParaRPr sz="1100">
                        <a:latin typeface="Times New Roman"/>
                        <a:cs typeface="Times New Roman"/>
                      </a:endParaRPr>
                    </a:p>
                    <a:p>
                      <a:pPr marL="95885">
                        <a:lnSpc>
                          <a:spcPct val="100000"/>
                        </a:lnSpc>
                      </a:pPr>
                      <a:r>
                        <a:rPr sz="1100" b="1">
                          <a:latin typeface="Arial"/>
                          <a:cs typeface="Arial"/>
                        </a:rPr>
                        <a:t>Hedeflenen</a:t>
                      </a:r>
                      <a:r>
                        <a:rPr sz="1100" b="1" spc="-15">
                          <a:latin typeface="Arial"/>
                          <a:cs typeface="Arial"/>
                        </a:rPr>
                        <a:t> </a:t>
                      </a:r>
                      <a:r>
                        <a:rPr sz="1100" b="1" spc="-10">
                          <a:latin typeface="Arial"/>
                          <a:cs typeface="Arial"/>
                        </a:rPr>
                        <a:t>Çıktılar</a:t>
                      </a:r>
                      <a:endParaRPr sz="1100">
                        <a:latin typeface="Arial"/>
                        <a:cs typeface="Arial"/>
                      </a:endParaRPr>
                    </a:p>
                  </a:txBody>
                  <a:tcPr marL="0" marR="0" marT="273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8DB3E1"/>
                    </a:solidFill>
                  </a:tcPr>
                </a:tc>
                <a:extLst>
                  <a:ext uri="{0D108BD9-81ED-4DB2-BD59-A6C34878D82A}">
                    <a16:rowId xmlns:a16="http://schemas.microsoft.com/office/drawing/2014/main" val="10000"/>
                  </a:ext>
                </a:extLst>
              </a:tr>
              <a:tr h="1125855">
                <a:tc>
                  <a:txBody>
                    <a:bodyPr/>
                    <a:lstStyle/>
                    <a:p>
                      <a:pPr>
                        <a:lnSpc>
                          <a:spcPct val="100000"/>
                        </a:lnSpc>
                      </a:pPr>
                      <a:endParaRPr sz="1100">
                        <a:latin typeface="Times New Roman"/>
                        <a:cs typeface="Times New Roman"/>
                      </a:endParaRPr>
                    </a:p>
                    <a:p>
                      <a:pPr>
                        <a:lnSpc>
                          <a:spcPct val="100000"/>
                        </a:lnSpc>
                        <a:spcBef>
                          <a:spcPts val="400"/>
                        </a:spcBef>
                      </a:pPr>
                      <a:endParaRPr sz="1100">
                        <a:latin typeface="Times New Roman"/>
                        <a:cs typeface="Times New Roman"/>
                      </a:endParaRPr>
                    </a:p>
                    <a:p>
                      <a:pPr marL="95885">
                        <a:lnSpc>
                          <a:spcPct val="100000"/>
                        </a:lnSpc>
                      </a:pPr>
                      <a:r>
                        <a:rPr sz="1100" b="1">
                          <a:latin typeface="Arial"/>
                          <a:cs typeface="Arial"/>
                        </a:rPr>
                        <a:t>M03:</a:t>
                      </a:r>
                      <a:r>
                        <a:rPr sz="1100" b="1" spc="-20">
                          <a:latin typeface="Arial"/>
                          <a:cs typeface="Arial"/>
                        </a:rPr>
                        <a:t> </a:t>
                      </a:r>
                      <a:r>
                        <a:rPr sz="1100" b="1">
                          <a:latin typeface="Arial"/>
                          <a:cs typeface="Arial"/>
                        </a:rPr>
                        <a:t>RAG</a:t>
                      </a:r>
                      <a:r>
                        <a:rPr sz="1100" b="1" spc="-5">
                          <a:latin typeface="Arial"/>
                          <a:cs typeface="Arial"/>
                        </a:rPr>
                        <a:t> </a:t>
                      </a:r>
                      <a:r>
                        <a:rPr sz="1100" b="1">
                          <a:latin typeface="Arial"/>
                          <a:cs typeface="Arial"/>
                        </a:rPr>
                        <a:t>&amp;</a:t>
                      </a:r>
                      <a:r>
                        <a:rPr sz="1100" b="1" spc="-30">
                          <a:latin typeface="Arial"/>
                          <a:cs typeface="Arial"/>
                        </a:rPr>
                        <a:t> </a:t>
                      </a:r>
                      <a:r>
                        <a:rPr sz="1100" b="1" spc="-25">
                          <a:latin typeface="Arial"/>
                          <a:cs typeface="Arial"/>
                        </a:rPr>
                        <a:t>NLP</a:t>
                      </a:r>
                      <a:endParaRPr sz="1100">
                        <a:latin typeface="Arial"/>
                        <a:cs typeface="Arial"/>
                      </a:endParaRPr>
                    </a:p>
                    <a:p>
                      <a:pPr marL="95885">
                        <a:lnSpc>
                          <a:spcPct val="100000"/>
                        </a:lnSpc>
                        <a:spcBef>
                          <a:spcPts val="120"/>
                        </a:spcBef>
                      </a:pPr>
                      <a:r>
                        <a:rPr sz="1100" b="1">
                          <a:latin typeface="Arial"/>
                          <a:cs typeface="Arial"/>
                        </a:rPr>
                        <a:t>Analizi</a:t>
                      </a:r>
                      <a:r>
                        <a:rPr sz="1100" b="1" spc="-30">
                          <a:latin typeface="Arial"/>
                          <a:cs typeface="Arial"/>
                        </a:rPr>
                        <a:t> </a:t>
                      </a:r>
                      <a:r>
                        <a:rPr sz="1100" b="1">
                          <a:latin typeface="Arial"/>
                          <a:cs typeface="Arial"/>
                        </a:rPr>
                        <a:t>(Agent</a:t>
                      </a:r>
                      <a:r>
                        <a:rPr sz="1100" b="1" spc="-20">
                          <a:latin typeface="Arial"/>
                          <a:cs typeface="Arial"/>
                        </a:rPr>
                        <a:t> </a:t>
                      </a:r>
                      <a:r>
                        <a:rPr sz="1100" b="1" spc="-25">
                          <a:latin typeface="Arial"/>
                          <a:cs typeface="Arial"/>
                        </a:rPr>
                        <a:t>2)</a:t>
                      </a:r>
                      <a:endParaRPr sz="1100">
                        <a:latin typeface="Arial"/>
                        <a:cs typeface="Arial"/>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400"/>
                        </a:spcBef>
                      </a:pPr>
                      <a:endParaRPr sz="1100">
                        <a:latin typeface="Times New Roman"/>
                        <a:cs typeface="Times New Roman"/>
                      </a:endParaRPr>
                    </a:p>
                    <a:p>
                      <a:pPr marL="95885">
                        <a:lnSpc>
                          <a:spcPct val="100000"/>
                        </a:lnSpc>
                      </a:pPr>
                      <a:r>
                        <a:rPr sz="1100">
                          <a:latin typeface="Arial MT"/>
                          <a:cs typeface="Arial MT"/>
                        </a:rPr>
                        <a:t>27.07.2026</a:t>
                      </a:r>
                      <a:r>
                        <a:rPr sz="1100" spc="-35">
                          <a:latin typeface="Arial MT"/>
                          <a:cs typeface="Arial MT"/>
                        </a:rPr>
                        <a:t> </a:t>
                      </a:r>
                      <a:r>
                        <a:rPr sz="1100" spc="-50">
                          <a:latin typeface="Arial MT"/>
                          <a:cs typeface="Arial MT"/>
                        </a:rPr>
                        <a:t>-</a:t>
                      </a:r>
                      <a:endParaRPr sz="1100">
                        <a:latin typeface="Arial MT"/>
                        <a:cs typeface="Arial MT"/>
                      </a:endParaRPr>
                    </a:p>
                    <a:p>
                      <a:pPr marL="95885">
                        <a:lnSpc>
                          <a:spcPct val="100000"/>
                        </a:lnSpc>
                        <a:spcBef>
                          <a:spcPts val="120"/>
                        </a:spcBef>
                      </a:pPr>
                      <a:r>
                        <a:rPr sz="1100" spc="-10">
                          <a:latin typeface="Arial MT"/>
                          <a:cs typeface="Arial MT"/>
                        </a:rPr>
                        <a:t>10.08.2026</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280"/>
                        </a:spcBef>
                      </a:pPr>
                      <a:endParaRPr sz="1100">
                        <a:latin typeface="Times New Roman"/>
                        <a:cs typeface="Times New Roman"/>
                      </a:endParaRPr>
                    </a:p>
                    <a:p>
                      <a:pPr marL="95885" marR="341630">
                        <a:lnSpc>
                          <a:spcPct val="109100"/>
                        </a:lnSpc>
                      </a:pPr>
                      <a:r>
                        <a:rPr sz="1100">
                          <a:latin typeface="Arial MT"/>
                          <a:cs typeface="Arial MT"/>
                        </a:rPr>
                        <a:t>Fatma</a:t>
                      </a:r>
                      <a:r>
                        <a:rPr sz="1100" spc="-25">
                          <a:latin typeface="Arial MT"/>
                          <a:cs typeface="Arial MT"/>
                        </a:rPr>
                        <a:t> </a:t>
                      </a:r>
                      <a:r>
                        <a:rPr sz="1100">
                          <a:latin typeface="Arial MT"/>
                          <a:cs typeface="Arial MT"/>
                        </a:rPr>
                        <a:t>Nur</a:t>
                      </a:r>
                      <a:r>
                        <a:rPr sz="1100" spc="-15">
                          <a:latin typeface="Arial MT"/>
                          <a:cs typeface="Arial MT"/>
                        </a:rPr>
                        <a:t> </a:t>
                      </a:r>
                      <a:r>
                        <a:rPr sz="1100" spc="-20">
                          <a:latin typeface="Arial MT"/>
                          <a:cs typeface="Arial MT"/>
                        </a:rPr>
                        <a:t>Toklu </a:t>
                      </a:r>
                      <a:r>
                        <a:rPr sz="1100" spc="-10">
                          <a:latin typeface="Arial MT"/>
                          <a:cs typeface="Arial MT"/>
                        </a:rPr>
                        <a:t>(Kaptan)</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5"/>
                        </a:spcBef>
                      </a:pPr>
                      <a:endParaRPr sz="1100">
                        <a:latin typeface="Times New Roman"/>
                        <a:cs typeface="Times New Roman"/>
                      </a:endParaRPr>
                    </a:p>
                    <a:p>
                      <a:pPr marL="95885" marR="201930">
                        <a:lnSpc>
                          <a:spcPct val="109700"/>
                        </a:lnSpc>
                      </a:pPr>
                      <a:r>
                        <a:rPr sz="1100" spc="-10">
                          <a:latin typeface="Arial MT"/>
                          <a:cs typeface="Arial MT"/>
                        </a:rPr>
                        <a:t>ChromaDB </a:t>
                      </a:r>
                      <a:r>
                        <a:rPr sz="1100">
                          <a:latin typeface="Arial MT"/>
                          <a:cs typeface="Arial MT"/>
                        </a:rPr>
                        <a:t>kurulumu,</a:t>
                      </a:r>
                      <a:r>
                        <a:rPr sz="1100" spc="-40">
                          <a:latin typeface="Arial MT"/>
                          <a:cs typeface="Arial MT"/>
                        </a:rPr>
                        <a:t> </a:t>
                      </a:r>
                      <a:r>
                        <a:rPr sz="1100" spc="-10">
                          <a:latin typeface="Arial MT"/>
                          <a:cs typeface="Arial MT"/>
                        </a:rPr>
                        <a:t>mevzuat </a:t>
                      </a:r>
                      <a:r>
                        <a:rPr sz="1100" spc="-114">
                          <a:latin typeface="Arial MT"/>
                          <a:cs typeface="Arial MT"/>
                        </a:rPr>
                        <a:t>eşleştirme,</a:t>
                      </a:r>
                      <a:r>
                        <a:rPr sz="1100" spc="114">
                          <a:latin typeface="Arial MT"/>
                          <a:cs typeface="Arial MT"/>
                        </a:rPr>
                        <a:t> </a:t>
                      </a:r>
                      <a:r>
                        <a:rPr sz="1100" spc="-25">
                          <a:latin typeface="Arial MT"/>
                          <a:cs typeface="Arial MT"/>
                        </a:rPr>
                        <a:t>NER </a:t>
                      </a:r>
                      <a:r>
                        <a:rPr sz="1100" spc="-10">
                          <a:latin typeface="Arial MT"/>
                          <a:cs typeface="Arial MT"/>
                        </a:rPr>
                        <a:t>optimizasyonu.</a:t>
                      </a:r>
                      <a:endParaRPr sz="1100">
                        <a:latin typeface="Arial MT"/>
                        <a:cs typeface="Arial MT"/>
                      </a:endParaRP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1127760">
                <a:tc>
                  <a:txBody>
                    <a:bodyPr/>
                    <a:lstStyle/>
                    <a:p>
                      <a:pPr>
                        <a:lnSpc>
                          <a:spcPct val="100000"/>
                        </a:lnSpc>
                      </a:pPr>
                      <a:endParaRPr sz="1100">
                        <a:latin typeface="Times New Roman"/>
                        <a:cs typeface="Times New Roman"/>
                      </a:endParaRPr>
                    </a:p>
                    <a:p>
                      <a:pPr>
                        <a:lnSpc>
                          <a:spcPct val="100000"/>
                        </a:lnSpc>
                        <a:spcBef>
                          <a:spcPts val="285"/>
                        </a:spcBef>
                      </a:pPr>
                      <a:endParaRPr sz="1100">
                        <a:latin typeface="Times New Roman"/>
                        <a:cs typeface="Times New Roman"/>
                      </a:endParaRPr>
                    </a:p>
                    <a:p>
                      <a:pPr marL="95885" marR="264795">
                        <a:lnSpc>
                          <a:spcPct val="109100"/>
                        </a:lnSpc>
                      </a:pPr>
                      <a:r>
                        <a:rPr sz="1100" b="1">
                          <a:latin typeface="Arial"/>
                          <a:cs typeface="Arial"/>
                        </a:rPr>
                        <a:t>M04:</a:t>
                      </a:r>
                      <a:r>
                        <a:rPr sz="1100" b="1" spc="-25">
                          <a:latin typeface="Arial"/>
                          <a:cs typeface="Arial"/>
                        </a:rPr>
                        <a:t> </a:t>
                      </a:r>
                      <a:r>
                        <a:rPr sz="1100" b="1" spc="-10">
                          <a:latin typeface="Arial"/>
                          <a:cs typeface="Arial"/>
                        </a:rPr>
                        <a:t>Taslaklama </a:t>
                      </a:r>
                      <a:r>
                        <a:rPr sz="1100" b="1">
                          <a:latin typeface="Arial"/>
                          <a:cs typeface="Arial"/>
                        </a:rPr>
                        <a:t>Motoru</a:t>
                      </a:r>
                      <a:r>
                        <a:rPr sz="1100" b="1" spc="-30">
                          <a:latin typeface="Arial"/>
                          <a:cs typeface="Arial"/>
                        </a:rPr>
                        <a:t> </a:t>
                      </a:r>
                      <a:r>
                        <a:rPr sz="1100" b="1">
                          <a:latin typeface="Arial"/>
                          <a:cs typeface="Arial"/>
                        </a:rPr>
                        <a:t>(Agent</a:t>
                      </a:r>
                      <a:r>
                        <a:rPr sz="1100" b="1" spc="-15">
                          <a:latin typeface="Arial"/>
                          <a:cs typeface="Arial"/>
                        </a:rPr>
                        <a:t> </a:t>
                      </a:r>
                      <a:r>
                        <a:rPr sz="1100" b="1" spc="-25">
                          <a:latin typeface="Arial"/>
                          <a:cs typeface="Arial"/>
                        </a:rPr>
                        <a:t>3)</a:t>
                      </a:r>
                      <a:endParaRPr sz="1100">
                        <a:latin typeface="Arial"/>
                        <a:cs typeface="Arial"/>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405"/>
                        </a:spcBef>
                      </a:pPr>
                      <a:endParaRPr sz="1100">
                        <a:latin typeface="Times New Roman"/>
                        <a:cs typeface="Times New Roman"/>
                      </a:endParaRPr>
                    </a:p>
                    <a:p>
                      <a:pPr marL="95885">
                        <a:lnSpc>
                          <a:spcPct val="100000"/>
                        </a:lnSpc>
                      </a:pPr>
                      <a:r>
                        <a:rPr sz="1100">
                          <a:latin typeface="Arial MT"/>
                          <a:cs typeface="Arial MT"/>
                        </a:rPr>
                        <a:t>11.08.2026</a:t>
                      </a:r>
                      <a:r>
                        <a:rPr sz="1100" spc="-35">
                          <a:latin typeface="Arial MT"/>
                          <a:cs typeface="Arial MT"/>
                        </a:rPr>
                        <a:t> </a:t>
                      </a:r>
                      <a:r>
                        <a:rPr sz="1100" spc="-50">
                          <a:latin typeface="Arial MT"/>
                          <a:cs typeface="Arial MT"/>
                        </a:rPr>
                        <a:t>-</a:t>
                      </a:r>
                      <a:endParaRPr sz="1100">
                        <a:latin typeface="Arial MT"/>
                        <a:cs typeface="Arial MT"/>
                      </a:endParaRPr>
                    </a:p>
                    <a:p>
                      <a:pPr marL="95885">
                        <a:lnSpc>
                          <a:spcPct val="100000"/>
                        </a:lnSpc>
                        <a:spcBef>
                          <a:spcPts val="120"/>
                        </a:spcBef>
                      </a:pPr>
                      <a:r>
                        <a:rPr sz="1100" spc="-10">
                          <a:latin typeface="Arial MT"/>
                          <a:cs typeface="Arial MT"/>
                        </a:rPr>
                        <a:t>20.08.2026</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405"/>
                        </a:spcBef>
                      </a:pPr>
                      <a:endParaRPr sz="1100">
                        <a:latin typeface="Times New Roman"/>
                        <a:cs typeface="Times New Roman"/>
                      </a:endParaRPr>
                    </a:p>
                    <a:p>
                      <a:pPr marL="95885">
                        <a:lnSpc>
                          <a:spcPct val="100000"/>
                        </a:lnSpc>
                      </a:pPr>
                      <a:r>
                        <a:rPr sz="1100">
                          <a:latin typeface="Arial MT"/>
                          <a:cs typeface="Arial MT"/>
                        </a:rPr>
                        <a:t>Muhammed</a:t>
                      </a:r>
                      <a:r>
                        <a:rPr sz="1100" spc="-35">
                          <a:latin typeface="Arial MT"/>
                          <a:cs typeface="Arial MT"/>
                        </a:rPr>
                        <a:t> </a:t>
                      </a:r>
                      <a:r>
                        <a:rPr sz="1100" spc="-25">
                          <a:latin typeface="Arial MT"/>
                          <a:cs typeface="Arial MT"/>
                        </a:rPr>
                        <a:t>Can</a:t>
                      </a:r>
                      <a:endParaRPr sz="1100">
                        <a:latin typeface="Arial MT"/>
                        <a:cs typeface="Arial MT"/>
                      </a:endParaRPr>
                    </a:p>
                    <a:p>
                      <a:pPr marL="95885">
                        <a:lnSpc>
                          <a:spcPct val="100000"/>
                        </a:lnSpc>
                        <a:spcBef>
                          <a:spcPts val="120"/>
                        </a:spcBef>
                      </a:pPr>
                      <a:r>
                        <a:rPr sz="1100" spc="-10">
                          <a:latin typeface="Arial MT"/>
                          <a:cs typeface="Arial MT"/>
                        </a:rPr>
                        <a:t>Akbaş</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5"/>
                        </a:spcBef>
                      </a:pPr>
                      <a:endParaRPr sz="1100">
                        <a:latin typeface="Times New Roman"/>
                        <a:cs typeface="Times New Roman"/>
                      </a:endParaRPr>
                    </a:p>
                    <a:p>
                      <a:pPr marL="95885" marR="177165">
                        <a:lnSpc>
                          <a:spcPct val="109800"/>
                        </a:lnSpc>
                      </a:pPr>
                      <a:r>
                        <a:rPr sz="1100">
                          <a:latin typeface="Arial MT"/>
                          <a:cs typeface="Arial MT"/>
                        </a:rPr>
                        <a:t>Jinja2</a:t>
                      </a:r>
                      <a:r>
                        <a:rPr sz="1100" spc="-45">
                          <a:latin typeface="Arial MT"/>
                          <a:cs typeface="Arial MT"/>
                        </a:rPr>
                        <a:t> </a:t>
                      </a:r>
                      <a:r>
                        <a:rPr sz="1100" spc="-50">
                          <a:latin typeface="Arial MT"/>
                          <a:cs typeface="Arial MT"/>
                        </a:rPr>
                        <a:t>şablonlarının </a:t>
                      </a:r>
                      <a:r>
                        <a:rPr sz="1100">
                          <a:latin typeface="Arial MT"/>
                          <a:cs typeface="Arial MT"/>
                        </a:rPr>
                        <a:t>kodlanması,</a:t>
                      </a:r>
                      <a:r>
                        <a:rPr sz="1100" spc="-50">
                          <a:latin typeface="Arial MT"/>
                          <a:cs typeface="Arial MT"/>
                        </a:rPr>
                        <a:t> </a:t>
                      </a:r>
                      <a:r>
                        <a:rPr sz="1100" spc="-20">
                          <a:latin typeface="Arial MT"/>
                          <a:cs typeface="Arial MT"/>
                        </a:rPr>
                        <a:t>resmi </a:t>
                      </a:r>
                      <a:r>
                        <a:rPr sz="1100">
                          <a:latin typeface="Arial MT"/>
                          <a:cs typeface="Arial MT"/>
                        </a:rPr>
                        <a:t>üslup</a:t>
                      </a:r>
                      <a:r>
                        <a:rPr sz="1100" spc="-40">
                          <a:latin typeface="Arial MT"/>
                          <a:cs typeface="Arial MT"/>
                        </a:rPr>
                        <a:t> </a:t>
                      </a:r>
                      <a:r>
                        <a:rPr sz="1100" spc="-10">
                          <a:latin typeface="Arial MT"/>
                          <a:cs typeface="Arial MT"/>
                        </a:rPr>
                        <a:t>denetleyicisi, slot-filling.</a:t>
                      </a:r>
                      <a:endParaRPr sz="1100">
                        <a:latin typeface="Arial MT"/>
                        <a:cs typeface="Arial MT"/>
                      </a:endParaRP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1310640">
                <a:tc>
                  <a:txBody>
                    <a:bodyPr/>
                    <a:lstStyle/>
                    <a:p>
                      <a:pPr>
                        <a:lnSpc>
                          <a:spcPct val="100000"/>
                        </a:lnSpc>
                      </a:pPr>
                      <a:endParaRPr sz="1100">
                        <a:latin typeface="Times New Roman"/>
                        <a:cs typeface="Times New Roman"/>
                      </a:endParaRPr>
                    </a:p>
                    <a:p>
                      <a:pPr>
                        <a:lnSpc>
                          <a:spcPct val="100000"/>
                        </a:lnSpc>
                        <a:spcBef>
                          <a:spcPts val="1000"/>
                        </a:spcBef>
                      </a:pPr>
                      <a:endParaRPr sz="1100">
                        <a:latin typeface="Times New Roman"/>
                        <a:cs typeface="Times New Roman"/>
                      </a:endParaRPr>
                    </a:p>
                    <a:p>
                      <a:pPr marL="95885" marR="122555">
                        <a:lnSpc>
                          <a:spcPct val="109100"/>
                        </a:lnSpc>
                      </a:pPr>
                      <a:r>
                        <a:rPr sz="1100" b="1">
                          <a:latin typeface="Arial"/>
                          <a:cs typeface="Arial"/>
                        </a:rPr>
                        <a:t>M05:</a:t>
                      </a:r>
                      <a:r>
                        <a:rPr sz="1100" b="1" spc="-15">
                          <a:latin typeface="Arial"/>
                          <a:cs typeface="Arial"/>
                        </a:rPr>
                        <a:t> </a:t>
                      </a:r>
                      <a:r>
                        <a:rPr sz="1100" b="1" spc="-10">
                          <a:latin typeface="Arial"/>
                          <a:cs typeface="Arial"/>
                        </a:rPr>
                        <a:t>Orkestrasyon </a:t>
                      </a:r>
                      <a:r>
                        <a:rPr sz="1100" b="1">
                          <a:latin typeface="Arial"/>
                          <a:cs typeface="Arial"/>
                        </a:rPr>
                        <a:t>&amp;</a:t>
                      </a:r>
                      <a:r>
                        <a:rPr sz="1100" b="1" spc="-20">
                          <a:latin typeface="Arial"/>
                          <a:cs typeface="Arial"/>
                        </a:rPr>
                        <a:t> </a:t>
                      </a:r>
                      <a:r>
                        <a:rPr sz="1100" b="1">
                          <a:latin typeface="Arial"/>
                          <a:cs typeface="Arial"/>
                        </a:rPr>
                        <a:t>UI</a:t>
                      </a:r>
                      <a:r>
                        <a:rPr sz="1100" b="1" spc="-20">
                          <a:latin typeface="Arial"/>
                          <a:cs typeface="Arial"/>
                        </a:rPr>
                        <a:t> </a:t>
                      </a:r>
                      <a:r>
                        <a:rPr sz="1100" b="1">
                          <a:latin typeface="Arial"/>
                          <a:cs typeface="Arial"/>
                        </a:rPr>
                        <a:t>(Agent</a:t>
                      </a:r>
                      <a:r>
                        <a:rPr sz="1100" b="1" spc="-10">
                          <a:latin typeface="Arial"/>
                          <a:cs typeface="Arial"/>
                        </a:rPr>
                        <a:t> </a:t>
                      </a:r>
                      <a:r>
                        <a:rPr sz="1100" b="1" spc="-25">
                          <a:latin typeface="Arial"/>
                          <a:cs typeface="Arial"/>
                        </a:rPr>
                        <a:t>4)</a:t>
                      </a:r>
                      <a:endParaRPr sz="1100">
                        <a:latin typeface="Arial"/>
                        <a:cs typeface="Arial"/>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1120"/>
                        </a:spcBef>
                      </a:pPr>
                      <a:endParaRPr sz="1100">
                        <a:latin typeface="Times New Roman"/>
                        <a:cs typeface="Times New Roman"/>
                      </a:endParaRPr>
                    </a:p>
                    <a:p>
                      <a:pPr marL="95885">
                        <a:lnSpc>
                          <a:spcPct val="100000"/>
                        </a:lnSpc>
                      </a:pPr>
                      <a:r>
                        <a:rPr sz="1100">
                          <a:latin typeface="Arial MT"/>
                          <a:cs typeface="Arial MT"/>
                        </a:rPr>
                        <a:t>21.08.2026</a:t>
                      </a:r>
                      <a:r>
                        <a:rPr sz="1100" spc="-35">
                          <a:latin typeface="Arial MT"/>
                          <a:cs typeface="Arial MT"/>
                        </a:rPr>
                        <a:t> </a:t>
                      </a:r>
                      <a:r>
                        <a:rPr sz="1100" spc="-50">
                          <a:latin typeface="Arial MT"/>
                          <a:cs typeface="Arial MT"/>
                        </a:rPr>
                        <a:t>-</a:t>
                      </a:r>
                      <a:endParaRPr sz="1100">
                        <a:latin typeface="Arial MT"/>
                        <a:cs typeface="Arial MT"/>
                      </a:endParaRPr>
                    </a:p>
                    <a:p>
                      <a:pPr marL="95885">
                        <a:lnSpc>
                          <a:spcPct val="100000"/>
                        </a:lnSpc>
                        <a:spcBef>
                          <a:spcPts val="120"/>
                        </a:spcBef>
                      </a:pPr>
                      <a:r>
                        <a:rPr sz="1100" spc="-10">
                          <a:latin typeface="Arial MT"/>
                          <a:cs typeface="Arial MT"/>
                        </a:rPr>
                        <a:t>31.08.2026</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575"/>
                        </a:spcBef>
                      </a:pPr>
                      <a:endParaRPr sz="1100">
                        <a:latin typeface="Times New Roman"/>
                        <a:cs typeface="Times New Roman"/>
                      </a:endParaRPr>
                    </a:p>
                    <a:p>
                      <a:pPr marL="95885">
                        <a:lnSpc>
                          <a:spcPct val="100000"/>
                        </a:lnSpc>
                      </a:pPr>
                      <a:r>
                        <a:rPr sz="1100">
                          <a:latin typeface="Arial MT"/>
                          <a:cs typeface="Arial MT"/>
                        </a:rPr>
                        <a:t>Yasin</a:t>
                      </a:r>
                      <a:r>
                        <a:rPr sz="1100" spc="-35">
                          <a:latin typeface="Arial MT"/>
                          <a:cs typeface="Arial MT"/>
                        </a:rPr>
                        <a:t> </a:t>
                      </a:r>
                      <a:r>
                        <a:rPr sz="1100">
                          <a:latin typeface="Arial MT"/>
                          <a:cs typeface="Arial MT"/>
                        </a:rPr>
                        <a:t>Taha</a:t>
                      </a:r>
                      <a:r>
                        <a:rPr sz="1100" spc="-30">
                          <a:latin typeface="Arial MT"/>
                          <a:cs typeface="Arial MT"/>
                        </a:rPr>
                        <a:t> </a:t>
                      </a:r>
                      <a:r>
                        <a:rPr sz="1100" spc="-20">
                          <a:latin typeface="Arial MT"/>
                          <a:cs typeface="Arial MT"/>
                        </a:rPr>
                        <a:t>İnal</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5"/>
                        </a:spcBef>
                      </a:pPr>
                      <a:endParaRPr sz="1100">
                        <a:latin typeface="Times New Roman"/>
                        <a:cs typeface="Times New Roman"/>
                      </a:endParaRPr>
                    </a:p>
                    <a:p>
                      <a:pPr marL="95885" marR="116205">
                        <a:lnSpc>
                          <a:spcPct val="109500"/>
                        </a:lnSpc>
                        <a:spcBef>
                          <a:spcPts val="5"/>
                        </a:spcBef>
                      </a:pPr>
                      <a:r>
                        <a:rPr sz="1100" spc="-10">
                          <a:latin typeface="Arial MT"/>
                          <a:cs typeface="Arial MT"/>
                        </a:rPr>
                        <a:t>LangGraph entegrasyonu, </a:t>
                      </a:r>
                      <a:r>
                        <a:rPr sz="1100">
                          <a:latin typeface="Arial MT"/>
                          <a:cs typeface="Arial MT"/>
                        </a:rPr>
                        <a:t>arayüz</a:t>
                      </a:r>
                      <a:r>
                        <a:rPr sz="1100" spc="-20">
                          <a:latin typeface="Arial MT"/>
                          <a:cs typeface="Arial MT"/>
                        </a:rPr>
                        <a:t> </a:t>
                      </a:r>
                      <a:r>
                        <a:rPr sz="1100">
                          <a:latin typeface="Arial MT"/>
                          <a:cs typeface="Arial MT"/>
                        </a:rPr>
                        <a:t>testleri,</a:t>
                      </a:r>
                      <a:r>
                        <a:rPr sz="1100" spc="-5">
                          <a:latin typeface="Arial MT"/>
                          <a:cs typeface="Arial MT"/>
                        </a:rPr>
                        <a:t> </a:t>
                      </a:r>
                      <a:r>
                        <a:rPr sz="1100" spc="-20">
                          <a:latin typeface="Arial MT"/>
                          <a:cs typeface="Arial MT"/>
                        </a:rPr>
                        <a:t>eksik </a:t>
                      </a:r>
                      <a:r>
                        <a:rPr sz="1100">
                          <a:latin typeface="Arial MT"/>
                          <a:cs typeface="Arial MT"/>
                        </a:rPr>
                        <a:t>bilgi</a:t>
                      </a:r>
                      <a:r>
                        <a:rPr sz="1100" spc="-60">
                          <a:latin typeface="Arial MT"/>
                          <a:cs typeface="Arial MT"/>
                        </a:rPr>
                        <a:t> </a:t>
                      </a:r>
                      <a:r>
                        <a:rPr sz="1100" spc="-10">
                          <a:latin typeface="Arial MT"/>
                          <a:cs typeface="Arial MT"/>
                        </a:rPr>
                        <a:t>kesinti mekanizması.</a:t>
                      </a:r>
                      <a:endParaRPr sz="1100">
                        <a:latin typeface="Arial MT"/>
                        <a:cs typeface="Arial MT"/>
                      </a:endParaRP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1127760">
                <a:tc>
                  <a:txBody>
                    <a:bodyPr/>
                    <a:lstStyle/>
                    <a:p>
                      <a:pPr>
                        <a:lnSpc>
                          <a:spcPct val="100000"/>
                        </a:lnSpc>
                      </a:pPr>
                      <a:endParaRPr sz="1100">
                        <a:latin typeface="Times New Roman"/>
                        <a:cs typeface="Times New Roman"/>
                      </a:endParaRPr>
                    </a:p>
                    <a:p>
                      <a:pPr>
                        <a:lnSpc>
                          <a:spcPct val="100000"/>
                        </a:lnSpc>
                        <a:spcBef>
                          <a:spcPts val="260"/>
                        </a:spcBef>
                      </a:pPr>
                      <a:endParaRPr sz="1100">
                        <a:latin typeface="Times New Roman"/>
                        <a:cs typeface="Times New Roman"/>
                      </a:endParaRPr>
                    </a:p>
                    <a:p>
                      <a:pPr marL="95885" marR="132080">
                        <a:lnSpc>
                          <a:spcPct val="110000"/>
                        </a:lnSpc>
                      </a:pPr>
                      <a:r>
                        <a:rPr sz="1100" b="1">
                          <a:latin typeface="Arial"/>
                          <a:cs typeface="Arial"/>
                        </a:rPr>
                        <a:t>M06:</a:t>
                      </a:r>
                      <a:r>
                        <a:rPr sz="1100" b="1" spc="-20">
                          <a:latin typeface="Arial"/>
                          <a:cs typeface="Arial"/>
                        </a:rPr>
                        <a:t> </a:t>
                      </a:r>
                      <a:r>
                        <a:rPr sz="1100" b="1">
                          <a:latin typeface="Arial"/>
                          <a:cs typeface="Arial"/>
                        </a:rPr>
                        <a:t>Demo</a:t>
                      </a:r>
                      <a:r>
                        <a:rPr sz="1100" b="1" spc="-10">
                          <a:latin typeface="Arial"/>
                          <a:cs typeface="Arial"/>
                        </a:rPr>
                        <a:t> </a:t>
                      </a:r>
                      <a:r>
                        <a:rPr sz="1100" b="1">
                          <a:latin typeface="Arial"/>
                          <a:cs typeface="Arial"/>
                        </a:rPr>
                        <a:t>&amp;</a:t>
                      </a:r>
                      <a:r>
                        <a:rPr sz="1100" b="1" spc="-20">
                          <a:latin typeface="Arial"/>
                          <a:cs typeface="Arial"/>
                        </a:rPr>
                        <a:t> Final </a:t>
                      </a:r>
                      <a:r>
                        <a:rPr sz="1100" b="1" spc="-10">
                          <a:latin typeface="Arial"/>
                          <a:cs typeface="Arial"/>
                        </a:rPr>
                        <a:t>Sunumu</a:t>
                      </a:r>
                      <a:endParaRPr sz="1100">
                        <a:latin typeface="Arial"/>
                        <a:cs typeface="Arial"/>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1120"/>
                        </a:spcBef>
                      </a:pPr>
                      <a:endParaRPr sz="1100">
                        <a:latin typeface="Times New Roman"/>
                        <a:cs typeface="Times New Roman"/>
                      </a:endParaRPr>
                    </a:p>
                    <a:p>
                      <a:pPr marL="95885">
                        <a:lnSpc>
                          <a:spcPct val="100000"/>
                        </a:lnSpc>
                        <a:spcBef>
                          <a:spcPts val="5"/>
                        </a:spcBef>
                      </a:pPr>
                      <a:r>
                        <a:rPr sz="1100">
                          <a:latin typeface="Arial MT"/>
                          <a:cs typeface="Arial MT"/>
                        </a:rPr>
                        <a:t>01.09.2026</a:t>
                      </a:r>
                      <a:r>
                        <a:rPr sz="1100" spc="-20">
                          <a:latin typeface="Arial MT"/>
                          <a:cs typeface="Arial MT"/>
                        </a:rPr>
                        <a:t> </a:t>
                      </a:r>
                      <a:r>
                        <a:rPr sz="1100">
                          <a:latin typeface="Arial MT"/>
                          <a:cs typeface="Arial MT"/>
                        </a:rPr>
                        <a:t>-</a:t>
                      </a:r>
                      <a:r>
                        <a:rPr sz="1100" spc="-15">
                          <a:latin typeface="Arial MT"/>
                          <a:cs typeface="Arial MT"/>
                        </a:rPr>
                        <a:t> </a:t>
                      </a:r>
                      <a:r>
                        <a:rPr sz="1100" spc="-10">
                          <a:latin typeface="Arial MT"/>
                          <a:cs typeface="Arial MT"/>
                        </a:rPr>
                        <a:t>Final</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100">
                        <a:latin typeface="Times New Roman"/>
                        <a:cs typeface="Times New Roman"/>
                      </a:endParaRPr>
                    </a:p>
                    <a:p>
                      <a:pPr>
                        <a:lnSpc>
                          <a:spcPct val="100000"/>
                        </a:lnSpc>
                        <a:spcBef>
                          <a:spcPts val="1120"/>
                        </a:spcBef>
                      </a:pPr>
                      <a:endParaRPr sz="1100">
                        <a:latin typeface="Times New Roman"/>
                        <a:cs typeface="Times New Roman"/>
                      </a:endParaRPr>
                    </a:p>
                    <a:p>
                      <a:pPr marL="95885">
                        <a:lnSpc>
                          <a:spcPct val="100000"/>
                        </a:lnSpc>
                        <a:spcBef>
                          <a:spcPts val="5"/>
                        </a:spcBef>
                      </a:pPr>
                      <a:r>
                        <a:rPr sz="1100">
                          <a:latin typeface="Arial MT"/>
                          <a:cs typeface="Arial MT"/>
                        </a:rPr>
                        <a:t>Tüm</a:t>
                      </a:r>
                      <a:r>
                        <a:rPr sz="1100" spc="-15">
                          <a:latin typeface="Arial MT"/>
                          <a:cs typeface="Arial MT"/>
                        </a:rPr>
                        <a:t> </a:t>
                      </a:r>
                      <a:r>
                        <a:rPr sz="1100" spc="-20">
                          <a:latin typeface="Arial MT"/>
                          <a:cs typeface="Arial MT"/>
                        </a:rPr>
                        <a:t>Ekip</a:t>
                      </a:r>
                      <a:endParaRPr sz="1100">
                        <a:latin typeface="Arial MT"/>
                        <a:cs typeface="Arial MT"/>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85"/>
                        </a:spcBef>
                      </a:pPr>
                      <a:endParaRPr sz="1100">
                        <a:latin typeface="Times New Roman"/>
                        <a:cs typeface="Times New Roman"/>
                      </a:endParaRPr>
                    </a:p>
                    <a:p>
                      <a:pPr marL="95885" marR="340995">
                        <a:lnSpc>
                          <a:spcPct val="109700"/>
                        </a:lnSpc>
                        <a:spcBef>
                          <a:spcPts val="5"/>
                        </a:spcBef>
                      </a:pPr>
                      <a:r>
                        <a:rPr sz="1100">
                          <a:latin typeface="Arial MT"/>
                          <a:cs typeface="Arial MT"/>
                        </a:rPr>
                        <a:t>Gerçek</a:t>
                      </a:r>
                      <a:r>
                        <a:rPr sz="1100" spc="-20">
                          <a:latin typeface="Arial MT"/>
                          <a:cs typeface="Arial MT"/>
                        </a:rPr>
                        <a:t> </a:t>
                      </a:r>
                      <a:r>
                        <a:rPr sz="1100" spc="-10">
                          <a:latin typeface="Arial MT"/>
                          <a:cs typeface="Arial MT"/>
                        </a:rPr>
                        <a:t>zamanlı </a:t>
                      </a:r>
                      <a:r>
                        <a:rPr sz="1100">
                          <a:latin typeface="Arial MT"/>
                          <a:cs typeface="Arial MT"/>
                        </a:rPr>
                        <a:t>stabilite</a:t>
                      </a:r>
                      <a:r>
                        <a:rPr sz="1100" spc="-45">
                          <a:latin typeface="Arial MT"/>
                          <a:cs typeface="Arial MT"/>
                        </a:rPr>
                        <a:t> </a:t>
                      </a:r>
                      <a:r>
                        <a:rPr sz="1100" spc="-10">
                          <a:latin typeface="Arial MT"/>
                          <a:cs typeface="Arial MT"/>
                        </a:rPr>
                        <a:t>testleri, </a:t>
                      </a:r>
                      <a:r>
                        <a:rPr sz="1100">
                          <a:latin typeface="Arial MT"/>
                          <a:cs typeface="Arial MT"/>
                        </a:rPr>
                        <a:t>GitHub</a:t>
                      </a:r>
                      <a:r>
                        <a:rPr sz="1100" spc="-35">
                          <a:latin typeface="Arial MT"/>
                          <a:cs typeface="Arial MT"/>
                        </a:rPr>
                        <a:t> </a:t>
                      </a:r>
                      <a:r>
                        <a:rPr sz="1100" spc="-20">
                          <a:latin typeface="Arial MT"/>
                          <a:cs typeface="Arial MT"/>
                        </a:rPr>
                        <a:t>repo </a:t>
                      </a:r>
                      <a:r>
                        <a:rPr sz="1100">
                          <a:latin typeface="Arial MT"/>
                          <a:cs typeface="Arial MT"/>
                        </a:rPr>
                        <a:t>aktarımı,</a:t>
                      </a:r>
                      <a:r>
                        <a:rPr sz="1100" spc="-10">
                          <a:latin typeface="Arial MT"/>
                          <a:cs typeface="Arial MT"/>
                        </a:rPr>
                        <a:t> sunum.</a:t>
                      </a:r>
                      <a:endParaRPr sz="1100">
                        <a:latin typeface="Arial MT"/>
                        <a:cs typeface="Arial MT"/>
                      </a:endParaRPr>
                    </a:p>
                  </a:txBody>
                  <a:tcPr marL="0" marR="0" marT="1079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bl>
          </a:graphicData>
        </a:graphic>
      </p:graphicFrame>
      <p:sp>
        <p:nvSpPr>
          <p:cNvPr id="3" name="object 3"/>
          <p:cNvSpPr txBox="1"/>
          <p:nvPr/>
        </p:nvSpPr>
        <p:spPr>
          <a:xfrm>
            <a:off x="1819401" y="6169533"/>
            <a:ext cx="4132579" cy="197490"/>
          </a:xfrm>
          <a:prstGeom prst="rect">
            <a:avLst/>
          </a:prstGeom>
        </p:spPr>
        <p:txBody>
          <a:bodyPr vert="horz" wrap="square" lIns="0" tIns="12700" rIns="0" bIns="0" rtlCol="0">
            <a:spAutoFit/>
          </a:bodyPr>
          <a:lstStyle/>
          <a:p>
            <a:pPr marL="12700">
              <a:lnSpc>
                <a:spcPct val="100000"/>
              </a:lnSpc>
              <a:spcBef>
                <a:spcPts val="100"/>
              </a:spcBef>
            </a:pPr>
            <a:r>
              <a:rPr sz="1200">
                <a:latin typeface="Arial MT"/>
                <a:cs typeface="Arial MT"/>
              </a:rPr>
              <a:t>Tablo 5.1: Proje Geliştirme Kilometre Taşları ve Zaman Planı</a:t>
            </a:r>
          </a:p>
        </p:txBody>
      </p:sp>
      <p:sp>
        <p:nvSpPr>
          <p:cNvPr id="4" name="object 4"/>
          <p:cNvSpPr txBox="1"/>
          <p:nvPr/>
        </p:nvSpPr>
        <p:spPr>
          <a:xfrm>
            <a:off x="902004" y="7255002"/>
            <a:ext cx="5971540" cy="1818005"/>
          </a:xfrm>
          <a:prstGeom prst="rect">
            <a:avLst/>
          </a:prstGeom>
        </p:spPr>
        <p:txBody>
          <a:bodyPr vert="horz" wrap="square" lIns="0" tIns="12700" rIns="0" bIns="0" rtlCol="0">
            <a:spAutoFit/>
          </a:bodyPr>
          <a:lstStyle/>
          <a:p>
            <a:pPr marL="12700">
              <a:lnSpc>
                <a:spcPct val="100000"/>
              </a:lnSpc>
              <a:spcBef>
                <a:spcPts val="100"/>
              </a:spcBef>
            </a:pPr>
            <a:r>
              <a:rPr sz="1400">
                <a:latin typeface="Arial Black"/>
                <a:cs typeface="Arial Black"/>
              </a:rPr>
              <a:t>6. SONUÇLAR VE İNCELEME</a:t>
            </a:r>
          </a:p>
          <a:p>
            <a:pPr marL="12700" marR="5080" algn="just">
              <a:lnSpc>
                <a:spcPct val="109900"/>
              </a:lnSpc>
              <a:spcBef>
                <a:spcPts val="1355"/>
              </a:spcBef>
            </a:pPr>
            <a:r>
              <a:rPr sz="1200">
                <a:latin typeface="Arial MT"/>
                <a:cs typeface="Arial MT"/>
              </a:rPr>
              <a:t>Proje şu an ön tasarım aşamasında olduğundan, elde edilen ilk deneysel sonuçlar Agent 1'in veri üretim hattı ve OCR prototipi üzerinedir. Geliştirilen sentetik veri üretim scripti aracılığıyla 165 adet kurgusal resmi evrak (Dilekçe ve Üst Yazı varyasyonları) yapay olarak üretilmiştir. Bu belgeler üzerine OpenCV ile adaptif eşikleme uygulanmış ve Tesseract 5.3 motoruyla metin okuma testleri gerçekleştirilmiştir. Yapılan ilk testler sonucunda Karakter Hata Oranı (Character Error Rate - CER) %4.7, Sözcük Hata Oranı (Word Error Rate - WER) ise %11.2 olarak ölçülmüştür. Bu sonuçlar, temizlenmiş metin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874521"/>
            <a:ext cx="5974080" cy="2377440"/>
          </a:xfrm>
          <a:prstGeom prst="rect">
            <a:avLst/>
          </a:prstGeom>
        </p:spPr>
        <p:txBody>
          <a:bodyPr vert="horz" wrap="square" lIns="0" tIns="12700" rIns="0" bIns="0" rtlCol="0">
            <a:spAutoFit/>
          </a:bodyPr>
          <a:lstStyle/>
          <a:p>
            <a:pPr marL="12700" marR="13970" algn="just">
              <a:lnSpc>
                <a:spcPct val="110000"/>
              </a:lnSpc>
              <a:spcBef>
                <a:spcPts val="100"/>
              </a:spcBef>
            </a:pPr>
            <a:r>
              <a:rPr sz="1200">
                <a:latin typeface="Arial MT"/>
                <a:cs typeface="Arial MT"/>
              </a:rPr>
              <a:t>katmanının Agent 2'deki anlamsal NER modellerini besleyebilecek olgunlukta olduğunu göstermektedir.</a:t>
            </a:r>
          </a:p>
          <a:p>
            <a:pPr marL="12700" marR="5080" algn="just">
              <a:lnSpc>
                <a:spcPct val="109800"/>
              </a:lnSpc>
              <a:spcBef>
                <a:spcPts val="1115"/>
              </a:spcBef>
            </a:pPr>
            <a:r>
              <a:rPr sz="1200">
                <a:latin typeface="Arial MT"/>
                <a:cs typeface="Arial MT"/>
              </a:rPr>
              <a:t>Sınıflandırma modülünde TF-IDF + SGD Classifier kombinasyonu ile yapılan ilk kurgusal çapraz doğrulama (cross-validation) testlerinde, 11 evrak türü arasında %92'lik bir F1-Skoru elde edilmiştir. Geliştirme sürecinde yaşanan en büyük sorun, taranmış görüntülerdeki  katlanma  veya  tarayıcı  gürültülerinin  OCR  güven  skorunu  aniden düşürmesidir. Bu sorunun üstesinden gelebilmek adına OpenCV'nin Gauss Bulanıklığı (Gaussian Blur) ve morfolojik açma (morphological opening) filtreleri boru hattına eklenerek CER oranı aşağı çekilmiştir. Edinilen en büyük tecrübe, veri sözleşmelerindeki tiplerin katı tutulmasının, ajanlar entegre edilirken oluşabilecek veri tipi uyuşmazlıklarını (Type Error) sıfırladığı gerçeğidir.</a:t>
            </a:r>
          </a:p>
        </p:txBody>
      </p:sp>
      <p:sp>
        <p:nvSpPr>
          <p:cNvPr id="3" name="object 3"/>
          <p:cNvSpPr txBox="1"/>
          <p:nvPr/>
        </p:nvSpPr>
        <p:spPr>
          <a:xfrm>
            <a:off x="902004" y="4043298"/>
            <a:ext cx="5970905" cy="4633595"/>
          </a:xfrm>
          <a:prstGeom prst="rect">
            <a:avLst/>
          </a:prstGeom>
        </p:spPr>
        <p:txBody>
          <a:bodyPr vert="horz" wrap="square" lIns="0" tIns="13335" rIns="0" bIns="0" rtlCol="0">
            <a:spAutoFit/>
          </a:bodyPr>
          <a:lstStyle/>
          <a:p>
            <a:pPr marL="12700">
              <a:lnSpc>
                <a:spcPct val="100000"/>
              </a:lnSpc>
              <a:spcBef>
                <a:spcPts val="105"/>
              </a:spcBef>
            </a:pPr>
            <a:r>
              <a:rPr sz="1400">
                <a:latin typeface="Arial Black"/>
                <a:cs typeface="Arial Black"/>
              </a:rPr>
              <a:t>7. KAYNAKÇA</a:t>
            </a:r>
          </a:p>
          <a:p>
            <a:pPr marL="12700" marR="8890" indent="283210">
              <a:lnSpc>
                <a:spcPct val="110000"/>
              </a:lnSpc>
              <a:spcBef>
                <a:spcPts val="1350"/>
              </a:spcBef>
              <a:buAutoNum type="arabicPlain"/>
              <a:tabLst>
                <a:tab pos="295910" algn="l"/>
              </a:tabLst>
            </a:pPr>
            <a:r>
              <a:rPr sz="1200">
                <a:latin typeface="Arial MT"/>
                <a:cs typeface="Arial MT"/>
              </a:rPr>
              <a:t>T.C. Cumhurbaşkanlığı, «Resmî Yazışmalarda Uygulanacak Usul ve Esaslar Hakkında Yönetmelik,» T.C. Resmî Gazete, Sayı: 31151, 2020.</a:t>
            </a:r>
          </a:p>
          <a:p>
            <a:pPr marL="12700" marR="12065" indent="238125">
              <a:lnSpc>
                <a:spcPct val="109200"/>
              </a:lnSpc>
              <a:spcBef>
                <a:spcPts val="10"/>
              </a:spcBef>
              <a:buAutoNum type="arabicPlain"/>
              <a:tabLst>
                <a:tab pos="250825" algn="l"/>
              </a:tabLst>
            </a:pPr>
            <a:r>
              <a:rPr sz="1200">
                <a:latin typeface="Arial MT"/>
                <a:cs typeface="Arial MT"/>
              </a:rPr>
              <a:t>LangChain Authors, «LangGraph: Building Language Agents as Graphs,» GitHub Repository, </a:t>
            </a:r>
            <a:r>
              <a:rPr sz="1200">
                <a:latin typeface="Arial MT"/>
                <a:cs typeface="Arial MT"/>
                <a:hlinkClick r:id="rId2"/>
              </a:rPr>
              <a:t>https://github.com/langchain-ai/langgraph</a:t>
            </a:r>
            <a:r>
              <a:rPr sz="1200">
                <a:latin typeface="Arial MT"/>
                <a:cs typeface="Arial MT"/>
              </a:rPr>
              <a:t>, 2024.</a:t>
            </a:r>
          </a:p>
          <a:p>
            <a:pPr marL="12700" marR="12700" indent="215265">
              <a:lnSpc>
                <a:spcPct val="110000"/>
              </a:lnSpc>
              <a:spcBef>
                <a:spcPts val="5"/>
              </a:spcBef>
              <a:buAutoNum type="arabicPlain"/>
              <a:tabLst>
                <a:tab pos="227965" algn="l"/>
              </a:tabLst>
            </a:pPr>
            <a:r>
              <a:rPr sz="1200">
                <a:latin typeface="Arial MT"/>
                <a:cs typeface="Arial MT"/>
              </a:rPr>
              <a:t>Google AI, «Gemma 2: Open Models for Language Understanding and Generation,» Google Developer Docs, 2024.</a:t>
            </a:r>
          </a:p>
          <a:p>
            <a:pPr marL="12700" marR="9525" indent="226060">
              <a:lnSpc>
                <a:spcPct val="109200"/>
              </a:lnSpc>
              <a:spcBef>
                <a:spcPts val="10"/>
              </a:spcBef>
              <a:buAutoNum type="arabicPlain"/>
              <a:tabLst>
                <a:tab pos="238760" algn="l"/>
              </a:tabLst>
            </a:pPr>
            <a:r>
              <a:rPr sz="1200">
                <a:latin typeface="Arial MT"/>
                <a:cs typeface="Arial MT"/>
              </a:rPr>
              <a:t>J. Smith, Optical Character Recognition and Preprocessing Techniques, New York: Academic Press, 2018.</a:t>
            </a:r>
          </a:p>
          <a:p>
            <a:pPr marL="12700" marR="12065" indent="222885">
              <a:lnSpc>
                <a:spcPct val="110000"/>
              </a:lnSpc>
              <a:buAutoNum type="arabicPlain"/>
              <a:tabLst>
                <a:tab pos="235585" algn="l"/>
              </a:tabLst>
            </a:pPr>
            <a:r>
              <a:rPr sz="1200">
                <a:latin typeface="Arial MT"/>
                <a:cs typeface="Arial MT"/>
              </a:rPr>
              <a:t>L. Wang, et al., «A Survey on Large Language Model based Autonomous Agents,» arXiv:2308.11432, 2024.</a:t>
            </a:r>
          </a:p>
          <a:p>
            <a:pPr marL="12700" marR="6985" indent="232410">
              <a:lnSpc>
                <a:spcPct val="110000"/>
              </a:lnSpc>
              <a:buAutoNum type="arabicPlain"/>
              <a:tabLst>
                <a:tab pos="245110" algn="l"/>
              </a:tabLst>
            </a:pPr>
            <a:r>
              <a:rPr sz="1200">
                <a:latin typeface="Arial MT"/>
                <a:cs typeface="Arial MT"/>
              </a:rPr>
              <a:t>T. Brown, et al., «Language Models are Few-Shot Learners,» Advances in Neural Information Processing Systems (NeurIPS), 2020.</a:t>
            </a:r>
          </a:p>
          <a:p>
            <a:pPr marL="12700" marR="5080" indent="256540">
              <a:lnSpc>
                <a:spcPts val="1580"/>
              </a:lnSpc>
              <a:spcBef>
                <a:spcPts val="70"/>
              </a:spcBef>
              <a:buAutoNum type="arabicPlain"/>
              <a:tabLst>
                <a:tab pos="269240" algn="l"/>
              </a:tabLst>
            </a:pPr>
            <a:r>
              <a:rPr sz="1200">
                <a:latin typeface="Arial MT"/>
                <a:cs typeface="Arial MT"/>
              </a:rPr>
              <a:t>Q. Wu, et al., «AutoGen: Enabling Next-Gen LLM Applications via Multi-Agent Conversation,» arXiv:2308.08155, 2023.</a:t>
            </a:r>
          </a:p>
          <a:p>
            <a:pPr marL="12700" marR="10160" indent="286385">
              <a:lnSpc>
                <a:spcPts val="1580"/>
              </a:lnSpc>
              <a:spcBef>
                <a:spcPts val="10"/>
              </a:spcBef>
              <a:buAutoNum type="arabicPlain"/>
              <a:tabLst>
                <a:tab pos="299085" algn="l"/>
              </a:tabLst>
            </a:pPr>
            <a:r>
              <a:rPr sz="1200">
                <a:latin typeface="Arial MT"/>
                <a:cs typeface="Arial MT"/>
              </a:rPr>
              <a:t>Ollama,  «Structured  Outputs  (JSON  Mode)  Documentation,»  Ollama  GitHub Repository, 2024.</a:t>
            </a:r>
          </a:p>
          <a:p>
            <a:pPr marL="248285" indent="-235585">
              <a:lnSpc>
                <a:spcPct val="100000"/>
              </a:lnSpc>
              <a:spcBef>
                <a:spcPts val="70"/>
              </a:spcBef>
              <a:buAutoNum type="arabicPlain"/>
              <a:tabLst>
                <a:tab pos="248285" algn="l"/>
              </a:tabLst>
            </a:pPr>
            <a:r>
              <a:rPr sz="1200">
                <a:latin typeface="Arial MT"/>
                <a:cs typeface="Arial MT"/>
              </a:rPr>
              <a:t>V. Kotte, «PromptPort: A Reliability Layer for Cross-Model Structured Extraction,»</a:t>
            </a:r>
          </a:p>
          <a:p>
            <a:pPr marL="12700">
              <a:lnSpc>
                <a:spcPct val="100000"/>
              </a:lnSpc>
              <a:spcBef>
                <a:spcPts val="155"/>
              </a:spcBef>
            </a:pPr>
            <a:r>
              <a:rPr sz="1200">
                <a:latin typeface="Arial MT"/>
                <a:cs typeface="Arial MT"/>
              </a:rPr>
              <a:t>arXiv:2601.06151, 2026.</a:t>
            </a:r>
          </a:p>
          <a:p>
            <a:pPr marL="12700" marR="5080" indent="294005" algn="just">
              <a:lnSpc>
                <a:spcPct val="110000"/>
              </a:lnSpc>
              <a:buAutoNum type="arabicPlain" startAt="10"/>
              <a:tabLst>
                <a:tab pos="306705" algn="l"/>
              </a:tabLst>
            </a:pPr>
            <a:r>
              <a:rPr sz="1200">
                <a:latin typeface="Arial MT"/>
                <a:cs typeface="Arial MT"/>
              </a:rPr>
              <a:t>E. Musumeci, M. Brienza, V. Suriani, D. Nardi, D. D. Bloisi, «LLM Based Multi-Agent Generation of Semi-structured Documents from Semantic Templates in the Public Administration Domain,» arXiv:2402.14871, 2024.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874521"/>
            <a:ext cx="5971540" cy="2209800"/>
          </a:xfrm>
          <a:prstGeom prst="rect">
            <a:avLst/>
          </a:prstGeom>
        </p:spPr>
        <p:txBody>
          <a:bodyPr vert="horz" wrap="square" lIns="0" tIns="12700" rIns="0" bIns="0" rtlCol="0">
            <a:spAutoFit/>
          </a:bodyPr>
          <a:lstStyle/>
          <a:p>
            <a:pPr marL="12700" marR="8255" indent="298450">
              <a:lnSpc>
                <a:spcPct val="110000"/>
              </a:lnSpc>
              <a:spcBef>
                <a:spcPts val="100"/>
              </a:spcBef>
              <a:buAutoNum type="arabicPlain" startAt="11"/>
              <a:tabLst>
                <a:tab pos="311150" algn="l"/>
              </a:tabLst>
            </a:pPr>
            <a:r>
              <a:rPr sz="1200">
                <a:latin typeface="Arial MT"/>
                <a:cs typeface="Arial MT"/>
              </a:rPr>
              <a:t>D.</a:t>
            </a:r>
            <a:r>
              <a:rPr sz="1200" spc="-5">
                <a:latin typeface="Arial MT"/>
                <a:cs typeface="Arial MT"/>
              </a:rPr>
              <a:t> </a:t>
            </a:r>
            <a:r>
              <a:rPr sz="1200">
                <a:latin typeface="Arial MT"/>
                <a:cs typeface="Arial MT"/>
              </a:rPr>
              <a:t>Küçük,</a:t>
            </a:r>
            <a:r>
              <a:rPr sz="1200" spc="15">
                <a:latin typeface="Arial MT"/>
                <a:cs typeface="Arial MT"/>
              </a:rPr>
              <a:t> </a:t>
            </a:r>
            <a:r>
              <a:rPr sz="1200">
                <a:latin typeface="Arial MT"/>
                <a:cs typeface="Arial MT"/>
              </a:rPr>
              <a:t>D.</a:t>
            </a:r>
            <a:r>
              <a:rPr sz="1200" spc="-5">
                <a:latin typeface="Arial MT"/>
                <a:cs typeface="Arial MT"/>
              </a:rPr>
              <a:t> </a:t>
            </a:r>
            <a:r>
              <a:rPr sz="1200">
                <a:latin typeface="Arial MT"/>
                <a:cs typeface="Arial MT"/>
              </a:rPr>
              <a:t>Türkmen</a:t>
            </a:r>
            <a:r>
              <a:rPr sz="1200" spc="5">
                <a:latin typeface="Arial MT"/>
                <a:cs typeface="Arial MT"/>
              </a:rPr>
              <a:t> </a:t>
            </a:r>
            <a:r>
              <a:rPr sz="1200">
                <a:latin typeface="Arial MT"/>
                <a:cs typeface="Arial MT"/>
              </a:rPr>
              <a:t>ve</a:t>
            </a:r>
            <a:r>
              <a:rPr sz="1200" spc="5">
                <a:latin typeface="Arial MT"/>
                <a:cs typeface="Arial MT"/>
              </a:rPr>
              <a:t> </a:t>
            </a:r>
            <a:r>
              <a:rPr sz="1200">
                <a:latin typeface="Arial MT"/>
                <a:cs typeface="Arial MT"/>
              </a:rPr>
              <a:t>A. Koç,</a:t>
            </a:r>
            <a:r>
              <a:rPr sz="1200" spc="5">
                <a:latin typeface="Arial MT"/>
                <a:cs typeface="Arial MT"/>
              </a:rPr>
              <a:t> </a:t>
            </a:r>
            <a:r>
              <a:rPr sz="1200" spc="-10">
                <a:latin typeface="Arial MT"/>
                <a:cs typeface="Arial MT"/>
              </a:rPr>
              <a:t>«Named-</a:t>
            </a:r>
            <a:r>
              <a:rPr sz="1200">
                <a:latin typeface="Arial MT"/>
                <a:cs typeface="Arial MT"/>
              </a:rPr>
              <a:t>entity</a:t>
            </a:r>
            <a:r>
              <a:rPr sz="1200" spc="5">
                <a:latin typeface="Arial MT"/>
                <a:cs typeface="Arial MT"/>
              </a:rPr>
              <a:t> </a:t>
            </a:r>
            <a:r>
              <a:rPr sz="1200">
                <a:latin typeface="Arial MT"/>
                <a:cs typeface="Arial MT"/>
              </a:rPr>
              <a:t>recognition</a:t>
            </a:r>
            <a:r>
              <a:rPr sz="1200" spc="10">
                <a:latin typeface="Arial MT"/>
                <a:cs typeface="Arial MT"/>
              </a:rPr>
              <a:t> </a:t>
            </a:r>
            <a:r>
              <a:rPr sz="1200">
                <a:latin typeface="Arial MT"/>
                <a:cs typeface="Arial MT"/>
              </a:rPr>
              <a:t>in</a:t>
            </a:r>
            <a:r>
              <a:rPr sz="1200" spc="5">
                <a:latin typeface="Arial MT"/>
                <a:cs typeface="Arial MT"/>
              </a:rPr>
              <a:t> </a:t>
            </a:r>
            <a:r>
              <a:rPr sz="1200">
                <a:latin typeface="Arial MT"/>
                <a:cs typeface="Arial MT"/>
              </a:rPr>
              <a:t>Turkish</a:t>
            </a:r>
            <a:r>
              <a:rPr sz="1200" spc="10">
                <a:latin typeface="Arial MT"/>
                <a:cs typeface="Arial MT"/>
              </a:rPr>
              <a:t> </a:t>
            </a:r>
            <a:r>
              <a:rPr sz="1200">
                <a:latin typeface="Arial MT"/>
                <a:cs typeface="Arial MT"/>
              </a:rPr>
              <a:t>legal </a:t>
            </a:r>
            <a:r>
              <a:rPr sz="1200" spc="-10">
                <a:latin typeface="Arial MT"/>
                <a:cs typeface="Arial MT"/>
              </a:rPr>
              <a:t>texts,» </a:t>
            </a:r>
            <a:r>
              <a:rPr sz="1200">
                <a:latin typeface="Arial MT"/>
                <a:cs typeface="Arial MT"/>
              </a:rPr>
              <a:t>Natural</a:t>
            </a:r>
            <a:r>
              <a:rPr sz="1200" spc="-35">
                <a:latin typeface="Arial MT"/>
                <a:cs typeface="Arial MT"/>
              </a:rPr>
              <a:t> </a:t>
            </a:r>
            <a:r>
              <a:rPr sz="1200">
                <a:latin typeface="Arial MT"/>
                <a:cs typeface="Arial MT"/>
              </a:rPr>
              <a:t>Language</a:t>
            </a:r>
            <a:r>
              <a:rPr sz="1200" spc="-30">
                <a:latin typeface="Arial MT"/>
                <a:cs typeface="Arial MT"/>
              </a:rPr>
              <a:t> </a:t>
            </a:r>
            <a:r>
              <a:rPr sz="1200">
                <a:latin typeface="Arial MT"/>
                <a:cs typeface="Arial MT"/>
              </a:rPr>
              <a:t>Engineering,</a:t>
            </a:r>
            <a:r>
              <a:rPr sz="1200" spc="-35">
                <a:latin typeface="Arial MT"/>
                <a:cs typeface="Arial MT"/>
              </a:rPr>
              <a:t> </a:t>
            </a:r>
            <a:r>
              <a:rPr sz="1200">
                <a:latin typeface="Arial MT"/>
                <a:cs typeface="Arial MT"/>
              </a:rPr>
              <a:t>Cambridge</a:t>
            </a:r>
            <a:r>
              <a:rPr sz="1200" spc="-30">
                <a:latin typeface="Arial MT"/>
                <a:cs typeface="Arial MT"/>
              </a:rPr>
              <a:t> </a:t>
            </a:r>
            <a:r>
              <a:rPr sz="1200">
                <a:latin typeface="Arial MT"/>
                <a:cs typeface="Arial MT"/>
              </a:rPr>
              <a:t>University</a:t>
            </a:r>
            <a:r>
              <a:rPr sz="1200" spc="-35">
                <a:latin typeface="Arial MT"/>
                <a:cs typeface="Arial MT"/>
              </a:rPr>
              <a:t> </a:t>
            </a:r>
            <a:r>
              <a:rPr sz="1200">
                <a:latin typeface="Arial MT"/>
                <a:cs typeface="Arial MT"/>
              </a:rPr>
              <a:t>Press,</a:t>
            </a:r>
            <a:r>
              <a:rPr sz="1200" spc="-40">
                <a:latin typeface="Arial MT"/>
                <a:cs typeface="Arial MT"/>
              </a:rPr>
              <a:t> </a:t>
            </a:r>
            <a:r>
              <a:rPr sz="1200" spc="-10">
                <a:latin typeface="Arial MT"/>
                <a:cs typeface="Arial MT"/>
              </a:rPr>
              <a:t>2022.</a:t>
            </a:r>
            <a:endParaRPr sz="1200">
              <a:latin typeface="Arial MT"/>
              <a:cs typeface="Arial MT"/>
            </a:endParaRPr>
          </a:p>
          <a:p>
            <a:pPr>
              <a:lnSpc>
                <a:spcPct val="100000"/>
              </a:lnSpc>
              <a:spcBef>
                <a:spcPts val="1019"/>
              </a:spcBef>
              <a:buFont typeface="Arial MT"/>
              <a:buAutoNum type="arabicPlain" startAt="11"/>
            </a:pPr>
            <a:endParaRPr sz="1200">
              <a:latin typeface="Arial MT"/>
              <a:cs typeface="Arial MT"/>
            </a:endParaRPr>
          </a:p>
          <a:p>
            <a:pPr marL="302260" indent="-289560">
              <a:lnSpc>
                <a:spcPct val="100000"/>
              </a:lnSpc>
              <a:buAutoNum type="arabicPlain" startAt="11"/>
              <a:tabLst>
                <a:tab pos="302260" algn="l"/>
              </a:tabLst>
            </a:pPr>
            <a:r>
              <a:rPr sz="1200">
                <a:latin typeface="Arial MT"/>
                <a:cs typeface="Arial MT"/>
              </a:rPr>
              <a:t>P.</a:t>
            </a:r>
            <a:r>
              <a:rPr sz="1200" spc="-70">
                <a:latin typeface="Arial MT"/>
                <a:cs typeface="Arial MT"/>
              </a:rPr>
              <a:t> </a:t>
            </a:r>
            <a:r>
              <a:rPr sz="1200">
                <a:latin typeface="Arial MT"/>
                <a:cs typeface="Arial MT"/>
              </a:rPr>
              <a:t>Lewis,</a:t>
            </a:r>
            <a:r>
              <a:rPr sz="1200" spc="-70">
                <a:latin typeface="Arial MT"/>
                <a:cs typeface="Arial MT"/>
              </a:rPr>
              <a:t> </a:t>
            </a:r>
            <a:r>
              <a:rPr sz="1200">
                <a:latin typeface="Arial MT"/>
                <a:cs typeface="Arial MT"/>
              </a:rPr>
              <a:t>E.</a:t>
            </a:r>
            <a:r>
              <a:rPr sz="1200" spc="-70">
                <a:latin typeface="Arial MT"/>
                <a:cs typeface="Arial MT"/>
              </a:rPr>
              <a:t> </a:t>
            </a:r>
            <a:r>
              <a:rPr sz="1200">
                <a:latin typeface="Arial MT"/>
                <a:cs typeface="Arial MT"/>
              </a:rPr>
              <a:t>Perez,</a:t>
            </a:r>
            <a:r>
              <a:rPr sz="1200" spc="-80">
                <a:latin typeface="Arial MT"/>
                <a:cs typeface="Arial MT"/>
              </a:rPr>
              <a:t> </a:t>
            </a:r>
            <a:r>
              <a:rPr sz="1200">
                <a:latin typeface="Arial MT"/>
                <a:cs typeface="Arial MT"/>
              </a:rPr>
              <a:t>A.</a:t>
            </a:r>
            <a:r>
              <a:rPr sz="1200" spc="-70">
                <a:latin typeface="Arial MT"/>
                <a:cs typeface="Arial MT"/>
              </a:rPr>
              <a:t> </a:t>
            </a:r>
            <a:r>
              <a:rPr sz="1200">
                <a:latin typeface="Arial MT"/>
                <a:cs typeface="Arial MT"/>
              </a:rPr>
              <a:t>Piktus,</a:t>
            </a:r>
            <a:r>
              <a:rPr sz="1200" spc="-70">
                <a:latin typeface="Arial MT"/>
                <a:cs typeface="Arial MT"/>
              </a:rPr>
              <a:t> </a:t>
            </a:r>
            <a:r>
              <a:rPr sz="1200">
                <a:latin typeface="Arial MT"/>
                <a:cs typeface="Arial MT"/>
              </a:rPr>
              <a:t>F.</a:t>
            </a:r>
            <a:r>
              <a:rPr sz="1200" spc="-75">
                <a:latin typeface="Arial MT"/>
                <a:cs typeface="Arial MT"/>
              </a:rPr>
              <a:t> </a:t>
            </a:r>
            <a:r>
              <a:rPr sz="1200">
                <a:latin typeface="Arial MT"/>
                <a:cs typeface="Arial MT"/>
              </a:rPr>
              <a:t>Petroni,</a:t>
            </a:r>
            <a:r>
              <a:rPr sz="1200" spc="-75">
                <a:latin typeface="Arial MT"/>
                <a:cs typeface="Arial MT"/>
              </a:rPr>
              <a:t> </a:t>
            </a:r>
            <a:r>
              <a:rPr sz="1200">
                <a:latin typeface="Arial MT"/>
                <a:cs typeface="Arial MT"/>
              </a:rPr>
              <a:t>V.</a:t>
            </a:r>
            <a:r>
              <a:rPr sz="1200" spc="-65">
                <a:latin typeface="Arial MT"/>
                <a:cs typeface="Arial MT"/>
              </a:rPr>
              <a:t> </a:t>
            </a:r>
            <a:r>
              <a:rPr sz="1200">
                <a:latin typeface="Arial MT"/>
                <a:cs typeface="Arial MT"/>
              </a:rPr>
              <a:t>Karpukhin,</a:t>
            </a:r>
            <a:r>
              <a:rPr sz="1200" spc="-70">
                <a:latin typeface="Arial MT"/>
                <a:cs typeface="Arial MT"/>
              </a:rPr>
              <a:t> </a:t>
            </a:r>
            <a:r>
              <a:rPr sz="1200">
                <a:latin typeface="Arial MT"/>
                <a:cs typeface="Arial MT"/>
              </a:rPr>
              <a:t>N.</a:t>
            </a:r>
            <a:r>
              <a:rPr sz="1200" spc="-75">
                <a:latin typeface="Arial MT"/>
                <a:cs typeface="Arial MT"/>
              </a:rPr>
              <a:t> </a:t>
            </a:r>
            <a:r>
              <a:rPr sz="1200">
                <a:latin typeface="Arial MT"/>
                <a:cs typeface="Arial MT"/>
              </a:rPr>
              <a:t>Goyal,</a:t>
            </a:r>
            <a:r>
              <a:rPr sz="1200" spc="-75">
                <a:latin typeface="Arial MT"/>
                <a:cs typeface="Arial MT"/>
              </a:rPr>
              <a:t> </a:t>
            </a:r>
            <a:r>
              <a:rPr sz="1200">
                <a:latin typeface="Arial MT"/>
                <a:cs typeface="Arial MT"/>
              </a:rPr>
              <a:t>H.</a:t>
            </a:r>
            <a:r>
              <a:rPr sz="1200" spc="-70">
                <a:latin typeface="Arial MT"/>
                <a:cs typeface="Arial MT"/>
              </a:rPr>
              <a:t> </a:t>
            </a:r>
            <a:r>
              <a:rPr sz="1200">
                <a:latin typeface="Arial MT"/>
                <a:cs typeface="Arial MT"/>
              </a:rPr>
              <a:t>Küttler,</a:t>
            </a:r>
            <a:r>
              <a:rPr sz="1200" spc="-75">
                <a:latin typeface="Arial MT"/>
                <a:cs typeface="Arial MT"/>
              </a:rPr>
              <a:t> </a:t>
            </a:r>
            <a:r>
              <a:rPr sz="1200">
                <a:latin typeface="Arial MT"/>
                <a:cs typeface="Arial MT"/>
              </a:rPr>
              <a:t>M.</a:t>
            </a:r>
            <a:r>
              <a:rPr sz="1200" spc="-70">
                <a:latin typeface="Arial MT"/>
                <a:cs typeface="Arial MT"/>
              </a:rPr>
              <a:t> </a:t>
            </a:r>
            <a:r>
              <a:rPr sz="1200" spc="-10">
                <a:latin typeface="Arial MT"/>
                <a:cs typeface="Arial MT"/>
              </a:rPr>
              <a:t>Lewis,</a:t>
            </a:r>
            <a:endParaRPr sz="1200">
              <a:latin typeface="Arial MT"/>
              <a:cs typeface="Arial MT"/>
            </a:endParaRPr>
          </a:p>
          <a:p>
            <a:pPr marL="12700" marR="5080">
              <a:lnSpc>
                <a:spcPct val="110000"/>
              </a:lnSpc>
            </a:pPr>
            <a:r>
              <a:rPr sz="1200">
                <a:latin typeface="Arial MT"/>
                <a:cs typeface="Arial MT"/>
              </a:rPr>
              <a:t>W.</a:t>
            </a:r>
            <a:r>
              <a:rPr sz="1200" spc="-15">
                <a:latin typeface="Arial MT"/>
                <a:cs typeface="Arial MT"/>
              </a:rPr>
              <a:t> </a:t>
            </a:r>
            <a:r>
              <a:rPr sz="1200">
                <a:latin typeface="Arial MT"/>
                <a:cs typeface="Arial MT"/>
              </a:rPr>
              <a:t>Tau</a:t>
            </a:r>
            <a:r>
              <a:rPr sz="1200" spc="-15">
                <a:latin typeface="Arial MT"/>
                <a:cs typeface="Arial MT"/>
              </a:rPr>
              <a:t> </a:t>
            </a:r>
            <a:r>
              <a:rPr sz="1200">
                <a:latin typeface="Arial MT"/>
                <a:cs typeface="Arial MT"/>
              </a:rPr>
              <a:t>Yih,</a:t>
            </a:r>
            <a:r>
              <a:rPr sz="1200" spc="-10">
                <a:latin typeface="Arial MT"/>
                <a:cs typeface="Arial MT"/>
              </a:rPr>
              <a:t> </a:t>
            </a:r>
            <a:r>
              <a:rPr sz="1200">
                <a:latin typeface="Arial MT"/>
                <a:cs typeface="Arial MT"/>
              </a:rPr>
              <a:t>T.</a:t>
            </a:r>
            <a:r>
              <a:rPr sz="1200" spc="-20">
                <a:latin typeface="Arial MT"/>
                <a:cs typeface="Arial MT"/>
              </a:rPr>
              <a:t> </a:t>
            </a:r>
            <a:r>
              <a:rPr sz="1200">
                <a:latin typeface="Arial MT"/>
                <a:cs typeface="Arial MT"/>
              </a:rPr>
              <a:t>Rocktäschel,</a:t>
            </a:r>
            <a:r>
              <a:rPr sz="1200" spc="-10">
                <a:latin typeface="Arial MT"/>
                <a:cs typeface="Arial MT"/>
              </a:rPr>
              <a:t> </a:t>
            </a:r>
            <a:r>
              <a:rPr sz="1200">
                <a:latin typeface="Arial MT"/>
                <a:cs typeface="Arial MT"/>
              </a:rPr>
              <a:t>S.</a:t>
            </a:r>
            <a:r>
              <a:rPr sz="1200" spc="-10">
                <a:latin typeface="Arial MT"/>
                <a:cs typeface="Arial MT"/>
              </a:rPr>
              <a:t> </a:t>
            </a:r>
            <a:r>
              <a:rPr sz="1200">
                <a:latin typeface="Arial MT"/>
                <a:cs typeface="Arial MT"/>
              </a:rPr>
              <a:t>Riedel</a:t>
            </a:r>
            <a:r>
              <a:rPr sz="1200" spc="-15">
                <a:latin typeface="Arial MT"/>
                <a:cs typeface="Arial MT"/>
              </a:rPr>
              <a:t> </a:t>
            </a:r>
            <a:r>
              <a:rPr sz="1200">
                <a:latin typeface="Arial MT"/>
                <a:cs typeface="Arial MT"/>
              </a:rPr>
              <a:t>ve</a:t>
            </a:r>
            <a:r>
              <a:rPr sz="1200" spc="-15">
                <a:latin typeface="Arial MT"/>
                <a:cs typeface="Arial MT"/>
              </a:rPr>
              <a:t> </a:t>
            </a:r>
            <a:r>
              <a:rPr sz="1200">
                <a:latin typeface="Arial MT"/>
                <a:cs typeface="Arial MT"/>
              </a:rPr>
              <a:t>D.</a:t>
            </a:r>
            <a:r>
              <a:rPr sz="1200" spc="-20">
                <a:latin typeface="Arial MT"/>
                <a:cs typeface="Arial MT"/>
              </a:rPr>
              <a:t> </a:t>
            </a:r>
            <a:r>
              <a:rPr sz="1200">
                <a:latin typeface="Arial MT"/>
                <a:cs typeface="Arial MT"/>
              </a:rPr>
              <a:t>Kiela,</a:t>
            </a:r>
            <a:r>
              <a:rPr sz="1200" spc="-20">
                <a:latin typeface="Arial MT"/>
                <a:cs typeface="Arial MT"/>
              </a:rPr>
              <a:t> </a:t>
            </a:r>
            <a:r>
              <a:rPr sz="1200" spc="-10">
                <a:latin typeface="Arial MT"/>
                <a:cs typeface="Arial MT"/>
              </a:rPr>
              <a:t>«Retrieval-</a:t>
            </a:r>
            <a:r>
              <a:rPr sz="1200">
                <a:latin typeface="Arial MT"/>
                <a:cs typeface="Arial MT"/>
              </a:rPr>
              <a:t>Augmented</a:t>
            </a:r>
            <a:r>
              <a:rPr sz="1200" spc="-10">
                <a:latin typeface="Arial MT"/>
                <a:cs typeface="Arial MT"/>
              </a:rPr>
              <a:t> </a:t>
            </a:r>
            <a:r>
              <a:rPr sz="1200">
                <a:latin typeface="Arial MT"/>
                <a:cs typeface="Arial MT"/>
              </a:rPr>
              <a:t>Generation</a:t>
            </a:r>
            <a:r>
              <a:rPr sz="1200" spc="-20">
                <a:latin typeface="Arial MT"/>
                <a:cs typeface="Arial MT"/>
              </a:rPr>
              <a:t> </a:t>
            </a:r>
            <a:r>
              <a:rPr sz="1200" spc="-25">
                <a:latin typeface="Arial MT"/>
                <a:cs typeface="Arial MT"/>
              </a:rPr>
              <a:t>for </a:t>
            </a:r>
            <a:r>
              <a:rPr sz="1200" spc="-10">
                <a:latin typeface="Arial MT"/>
                <a:cs typeface="Arial MT"/>
              </a:rPr>
              <a:t>Knowledge-</a:t>
            </a:r>
            <a:r>
              <a:rPr sz="1200">
                <a:latin typeface="Arial MT"/>
                <a:cs typeface="Arial MT"/>
              </a:rPr>
              <a:t>Intensive</a:t>
            </a:r>
            <a:r>
              <a:rPr sz="1200" spc="-5">
                <a:latin typeface="Arial MT"/>
                <a:cs typeface="Arial MT"/>
              </a:rPr>
              <a:t> </a:t>
            </a:r>
            <a:r>
              <a:rPr sz="1200">
                <a:latin typeface="Arial MT"/>
                <a:cs typeface="Arial MT"/>
              </a:rPr>
              <a:t>NLP</a:t>
            </a:r>
            <a:r>
              <a:rPr sz="1200" spc="15">
                <a:latin typeface="Arial MT"/>
                <a:cs typeface="Arial MT"/>
              </a:rPr>
              <a:t> </a:t>
            </a:r>
            <a:r>
              <a:rPr sz="1200">
                <a:latin typeface="Arial MT"/>
                <a:cs typeface="Arial MT"/>
              </a:rPr>
              <a:t>Tasks,»</a:t>
            </a:r>
            <a:r>
              <a:rPr sz="1200" spc="10">
                <a:latin typeface="Arial MT"/>
                <a:cs typeface="Arial MT"/>
              </a:rPr>
              <a:t> </a:t>
            </a:r>
            <a:r>
              <a:rPr sz="1200">
                <a:latin typeface="Arial MT"/>
                <a:cs typeface="Arial MT"/>
              </a:rPr>
              <a:t>Advances</a:t>
            </a:r>
            <a:r>
              <a:rPr sz="1200" spc="5">
                <a:latin typeface="Arial MT"/>
                <a:cs typeface="Arial MT"/>
              </a:rPr>
              <a:t> </a:t>
            </a:r>
            <a:r>
              <a:rPr sz="1200">
                <a:latin typeface="Arial MT"/>
                <a:cs typeface="Arial MT"/>
              </a:rPr>
              <a:t>in</a:t>
            </a:r>
            <a:r>
              <a:rPr sz="1200" spc="10">
                <a:latin typeface="Arial MT"/>
                <a:cs typeface="Arial MT"/>
              </a:rPr>
              <a:t> </a:t>
            </a:r>
            <a:r>
              <a:rPr sz="1200">
                <a:latin typeface="Arial MT"/>
                <a:cs typeface="Arial MT"/>
              </a:rPr>
              <a:t>Neural</a:t>
            </a:r>
            <a:r>
              <a:rPr sz="1200" spc="-5">
                <a:latin typeface="Arial MT"/>
                <a:cs typeface="Arial MT"/>
              </a:rPr>
              <a:t> </a:t>
            </a:r>
            <a:r>
              <a:rPr sz="1200">
                <a:latin typeface="Arial MT"/>
                <a:cs typeface="Arial MT"/>
              </a:rPr>
              <a:t>Information Processing</a:t>
            </a:r>
            <a:r>
              <a:rPr sz="1200" spc="5">
                <a:latin typeface="Arial MT"/>
                <a:cs typeface="Arial MT"/>
              </a:rPr>
              <a:t> </a:t>
            </a:r>
            <a:r>
              <a:rPr sz="1200" spc="-10">
                <a:latin typeface="Arial MT"/>
                <a:cs typeface="Arial MT"/>
              </a:rPr>
              <a:t>Systems</a:t>
            </a:r>
            <a:endParaRPr sz="1200">
              <a:latin typeface="Arial MT"/>
              <a:cs typeface="Arial MT"/>
            </a:endParaRPr>
          </a:p>
          <a:p>
            <a:pPr marL="12700">
              <a:lnSpc>
                <a:spcPct val="100000"/>
              </a:lnSpc>
              <a:spcBef>
                <a:spcPts val="155"/>
              </a:spcBef>
            </a:pPr>
            <a:r>
              <a:rPr sz="1200">
                <a:latin typeface="Arial MT"/>
                <a:cs typeface="Arial MT"/>
              </a:rPr>
              <a:t>(NeurIPS),</a:t>
            </a:r>
            <a:r>
              <a:rPr sz="1200" spc="-50">
                <a:latin typeface="Arial MT"/>
                <a:cs typeface="Arial MT"/>
              </a:rPr>
              <a:t> </a:t>
            </a:r>
            <a:r>
              <a:rPr sz="1200" spc="-20">
                <a:latin typeface="Arial MT"/>
                <a:cs typeface="Arial MT"/>
              </a:rPr>
              <a:t>2020.</a:t>
            </a:r>
            <a:endParaRPr sz="1200">
              <a:latin typeface="Arial MT"/>
              <a:cs typeface="Arial MT"/>
            </a:endParaRPr>
          </a:p>
          <a:p>
            <a:pPr>
              <a:lnSpc>
                <a:spcPct val="100000"/>
              </a:lnSpc>
              <a:spcBef>
                <a:spcPts val="850"/>
              </a:spcBef>
            </a:pPr>
            <a:endParaRPr sz="1200">
              <a:latin typeface="Arial MT"/>
              <a:cs typeface="Arial MT"/>
            </a:endParaRPr>
          </a:p>
          <a:p>
            <a:pPr marL="12700" marR="6350">
              <a:lnSpc>
                <a:spcPct val="110800"/>
              </a:lnSpc>
            </a:pPr>
            <a:r>
              <a:rPr sz="1200">
                <a:latin typeface="Arial MT"/>
                <a:cs typeface="Arial MT"/>
              </a:rPr>
              <a:t>[13]</a:t>
            </a:r>
            <a:r>
              <a:rPr sz="1200" spc="-55">
                <a:latin typeface="Arial MT"/>
                <a:cs typeface="Arial MT"/>
              </a:rPr>
              <a:t> </a:t>
            </a:r>
            <a:r>
              <a:rPr sz="1200">
                <a:latin typeface="Arial MT"/>
                <a:cs typeface="Arial MT"/>
              </a:rPr>
              <a:t>Y.</a:t>
            </a:r>
            <a:r>
              <a:rPr sz="1200" spc="-40">
                <a:latin typeface="Arial MT"/>
                <a:cs typeface="Arial MT"/>
              </a:rPr>
              <a:t> </a:t>
            </a:r>
            <a:r>
              <a:rPr sz="1200">
                <a:latin typeface="Arial MT"/>
                <a:cs typeface="Arial MT"/>
              </a:rPr>
              <a:t>Hu</a:t>
            </a:r>
            <a:r>
              <a:rPr sz="1200" spc="-40">
                <a:latin typeface="Arial MT"/>
                <a:cs typeface="Arial MT"/>
              </a:rPr>
              <a:t> </a:t>
            </a:r>
            <a:r>
              <a:rPr sz="1200">
                <a:latin typeface="Arial MT"/>
                <a:cs typeface="Arial MT"/>
              </a:rPr>
              <a:t>ve</a:t>
            </a:r>
            <a:r>
              <a:rPr sz="1200" spc="-35">
                <a:latin typeface="Arial MT"/>
                <a:cs typeface="Arial MT"/>
              </a:rPr>
              <a:t> </a:t>
            </a:r>
            <a:r>
              <a:rPr sz="1200">
                <a:latin typeface="Arial MT"/>
                <a:cs typeface="Arial MT"/>
              </a:rPr>
              <a:t>Y.</a:t>
            </a:r>
            <a:r>
              <a:rPr sz="1200" spc="-50">
                <a:latin typeface="Arial MT"/>
                <a:cs typeface="Arial MT"/>
              </a:rPr>
              <a:t> </a:t>
            </a:r>
            <a:r>
              <a:rPr sz="1200">
                <a:latin typeface="Arial MT"/>
                <a:cs typeface="Arial MT"/>
              </a:rPr>
              <a:t>Lu,</a:t>
            </a:r>
            <a:r>
              <a:rPr sz="1200" spc="-50">
                <a:latin typeface="Arial MT"/>
                <a:cs typeface="Arial MT"/>
              </a:rPr>
              <a:t> </a:t>
            </a:r>
            <a:r>
              <a:rPr sz="1200">
                <a:latin typeface="Arial MT"/>
                <a:cs typeface="Arial MT"/>
              </a:rPr>
              <a:t>«RAG</a:t>
            </a:r>
            <a:r>
              <a:rPr sz="1200" spc="-40">
                <a:latin typeface="Arial MT"/>
                <a:cs typeface="Arial MT"/>
              </a:rPr>
              <a:t> </a:t>
            </a:r>
            <a:r>
              <a:rPr sz="1200">
                <a:latin typeface="Arial MT"/>
                <a:cs typeface="Arial MT"/>
              </a:rPr>
              <a:t>and</a:t>
            </a:r>
            <a:r>
              <a:rPr sz="1200" spc="-35">
                <a:latin typeface="Arial MT"/>
                <a:cs typeface="Arial MT"/>
              </a:rPr>
              <a:t> </a:t>
            </a:r>
            <a:r>
              <a:rPr sz="1200">
                <a:latin typeface="Arial MT"/>
                <a:cs typeface="Arial MT"/>
              </a:rPr>
              <a:t>RAU:</a:t>
            </a:r>
            <a:r>
              <a:rPr sz="1200" spc="-40">
                <a:latin typeface="Arial MT"/>
                <a:cs typeface="Arial MT"/>
              </a:rPr>
              <a:t> </a:t>
            </a:r>
            <a:r>
              <a:rPr sz="1200">
                <a:latin typeface="Arial MT"/>
                <a:cs typeface="Arial MT"/>
              </a:rPr>
              <a:t>A</a:t>
            </a:r>
            <a:r>
              <a:rPr sz="1200" spc="-55">
                <a:latin typeface="Arial MT"/>
                <a:cs typeface="Arial MT"/>
              </a:rPr>
              <a:t> </a:t>
            </a:r>
            <a:r>
              <a:rPr sz="1200">
                <a:latin typeface="Arial MT"/>
                <a:cs typeface="Arial MT"/>
              </a:rPr>
              <a:t>Survey</a:t>
            </a:r>
            <a:r>
              <a:rPr sz="1200" spc="-40">
                <a:latin typeface="Arial MT"/>
                <a:cs typeface="Arial MT"/>
              </a:rPr>
              <a:t> </a:t>
            </a:r>
            <a:r>
              <a:rPr sz="1200">
                <a:latin typeface="Arial MT"/>
                <a:cs typeface="Arial MT"/>
              </a:rPr>
              <a:t>on</a:t>
            </a:r>
            <a:r>
              <a:rPr sz="1200" spc="-35">
                <a:latin typeface="Arial MT"/>
                <a:cs typeface="Arial MT"/>
              </a:rPr>
              <a:t> </a:t>
            </a:r>
            <a:r>
              <a:rPr sz="1200" spc="-10">
                <a:latin typeface="Arial MT"/>
                <a:cs typeface="Arial MT"/>
              </a:rPr>
              <a:t>Retrieval-</a:t>
            </a:r>
            <a:r>
              <a:rPr sz="1200">
                <a:latin typeface="Arial MT"/>
                <a:cs typeface="Arial MT"/>
              </a:rPr>
              <a:t>Augmented</a:t>
            </a:r>
            <a:r>
              <a:rPr sz="1200" spc="-50">
                <a:latin typeface="Arial MT"/>
                <a:cs typeface="Arial MT"/>
              </a:rPr>
              <a:t> </a:t>
            </a:r>
            <a:r>
              <a:rPr sz="1200">
                <a:latin typeface="Arial MT"/>
                <a:cs typeface="Arial MT"/>
              </a:rPr>
              <a:t>Language</a:t>
            </a:r>
            <a:r>
              <a:rPr sz="1200" spc="-35">
                <a:latin typeface="Arial MT"/>
                <a:cs typeface="Arial MT"/>
              </a:rPr>
              <a:t> </a:t>
            </a:r>
            <a:r>
              <a:rPr sz="1200" spc="-10">
                <a:latin typeface="Arial MT"/>
                <a:cs typeface="Arial MT"/>
              </a:rPr>
              <a:t>Model </a:t>
            </a:r>
            <a:r>
              <a:rPr sz="1200">
                <a:latin typeface="Arial MT"/>
                <a:cs typeface="Arial MT"/>
              </a:rPr>
              <a:t>in</a:t>
            </a:r>
            <a:r>
              <a:rPr sz="1200" spc="-30">
                <a:latin typeface="Arial MT"/>
                <a:cs typeface="Arial MT"/>
              </a:rPr>
              <a:t> </a:t>
            </a:r>
            <a:r>
              <a:rPr sz="1200">
                <a:latin typeface="Arial MT"/>
                <a:cs typeface="Arial MT"/>
              </a:rPr>
              <a:t>Natural</a:t>
            </a:r>
            <a:r>
              <a:rPr sz="1200" spc="-45">
                <a:latin typeface="Arial MT"/>
                <a:cs typeface="Arial MT"/>
              </a:rPr>
              <a:t> </a:t>
            </a:r>
            <a:r>
              <a:rPr sz="1200">
                <a:latin typeface="Arial MT"/>
                <a:cs typeface="Arial MT"/>
              </a:rPr>
              <a:t>Language</a:t>
            </a:r>
            <a:r>
              <a:rPr sz="1200" spc="-35">
                <a:latin typeface="Arial MT"/>
                <a:cs typeface="Arial MT"/>
              </a:rPr>
              <a:t> </a:t>
            </a:r>
            <a:r>
              <a:rPr sz="1200">
                <a:latin typeface="Arial MT"/>
                <a:cs typeface="Arial MT"/>
              </a:rPr>
              <a:t>Processing,»</a:t>
            </a:r>
            <a:r>
              <a:rPr sz="1200" spc="-30">
                <a:latin typeface="Arial MT"/>
                <a:cs typeface="Arial MT"/>
              </a:rPr>
              <a:t> </a:t>
            </a:r>
            <a:r>
              <a:rPr sz="1200">
                <a:latin typeface="Arial MT"/>
                <a:cs typeface="Arial MT"/>
              </a:rPr>
              <a:t>arXiv:2404.19543,</a:t>
            </a:r>
            <a:r>
              <a:rPr sz="1200" spc="-35">
                <a:latin typeface="Arial MT"/>
                <a:cs typeface="Arial MT"/>
              </a:rPr>
              <a:t> </a:t>
            </a:r>
            <a:r>
              <a:rPr sz="1200" spc="-10">
                <a:latin typeface="Arial MT"/>
                <a:cs typeface="Arial MT"/>
              </a:rPr>
              <a:t>2024.</a:t>
            </a:r>
            <a:endParaRPr sz="12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2756</Words>
  <Application>Microsoft Office PowerPoint</Application>
  <PresentationFormat>Özel</PresentationFormat>
  <Paragraphs>267</Paragraphs>
  <Slides>14</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14</vt:i4>
      </vt:variant>
    </vt:vector>
  </HeadingPairs>
  <TitlesOfParts>
    <vt:vector size="20" baseType="lpstr">
      <vt:lpstr>Arial</vt:lpstr>
      <vt:lpstr>Arial Black</vt:lpstr>
      <vt:lpstr>Arial MT</vt:lpstr>
      <vt:lpstr>Calibri</vt:lpstr>
      <vt:lpstr>Times New Roman</vt:lpstr>
      <vt:lpstr>Office Theme</vt:lpstr>
      <vt:lpstr>TÜRKÇE YAPAY ZEKA DİL AJANLARI YARIŞMASI PROJESİ ÖN SUNUŞ RAPORU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Melisa Küçükkaya</cp:lastModifiedBy>
  <cp:revision>1</cp:revision>
  <dcterms:created xsi:type="dcterms:W3CDTF">2026-07-12T18:05:50Z</dcterms:created>
  <dcterms:modified xsi:type="dcterms:W3CDTF">2026-07-12T18:30:03Z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2026-07-12T00:00:00Z</vt:filetime>
  </property>
  <property fmtid="{D5CDD505-2E9C-101B-9397-08002B2CF9AE}" pid="4" name="Creator">
    <vt:lpwstr>Microsoft® Word 2024</vt:lpwstr>
  </property>
  <property fmtid="{D5CDD505-2E9C-101B-9397-08002B2CF9AE}" pid="5" name="LastSaved">
    <vt:filetime>2026-07-12T00:00:00Z</vt:filetime>
  </property>
  <property fmtid="{D5CDD505-2E9C-101B-9397-08002B2CF9AE}" pid="6" name="Producer">
    <vt:lpwstr>Microsoft® Word 2024</vt:lpwstr>
  </property>
</Properties>
</file>